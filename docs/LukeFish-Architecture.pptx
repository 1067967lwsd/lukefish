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LukeFish: from classes to a chess engine
Start with responsibilities rather than algorithms. LukeFish has fifteen top-level production types. The model knows chess rules; the engine chooses moves; Swing makes the system interactive. The engine is original classical search, not a wrapper around Stockfish. The Java application has no third-party dependencies. This deck uses editable native PowerPoint shapes and text.
Source files:
src\chess\Main.java
src\chess\model\Piece.java
src\chess\model\Square.java
src\chess\model\Move.java
src\chess\model\Position.java
src\chess\model\Game.java
src\chess\engine\Engine.java
src\chess\engine\EngineSettings.java
src\chess\engine\Evaluator.java
src\chess\engine\TranspositionTable.java
src\chess\engine\SearchInfo.java
src\chess\engine\SearchResult.java
src\chess\ui\BoardPanel.java
src\chess\ui\SettingsPanel.java
src\chess\ui\ChessFrame.java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package boundaries
Main configures appearance and constructs ChessFrame on the Swing event dispatch thread. The ui package imports model and engine types. The engine package uses model types but has no Swing dependency. The model uses standard Java types, not engine or UI classes. The arrows show dependencies, not a claim that every listed type calls every other type.
Source files:
src\chess\Main.java
src\chess\model\Piece.java
src\chess\model\Square.java
src\chess\model\Move.java
src\chess\model\Position.java
src\chess\model\Game.java
src\chess\engine\Engine.java
src\chess\engine\EngineSettings.java
src\chess\engine\Evaluator.java
src\chess\engine\TranspositionTable.java
src\chess\engine\SearchInfo.java
src\chess\engine\SearchResult.java
src\chess\ui\BoardPanel.java
src\chess\ui\SettingsPanel.java
src\chess\ui\ChessFrame.java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values, state, and history
Game constructs its own Position copy and maintains histories. Position generates Move values and uses Piece and Square utility methods. Position.makeMove produces an Undo record; Game stores Undo records and search uses them transiently. Move and Undo are immutable records whose components are immutable values here. Position is mutable. Game.position exposes the live position read-only by convention; callers should use Game.play and Game.undo for live-game changes.
Source files:
src\chess\model\Game.java
src\chess\model\Position.java
src\chess\model\Move.java
src\chess\model\Piece.java
src\chess\model\Square.java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 Undo: fast, reversible state
Position.makeMove accepts generated moves and returns a record of changed state. Game.play validates user-level input first. unmakeMove must restore all rule state, not only piece locations. Castling moves a rook too; en passant removes a pawn off the destination square. The Zobrist key and king locations are restored along with counters and rights. Reversibility is checked using both FEN and hash restoration tests.
Source files:
src\chess\model\Position.java
src\chess\model\Game.java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turns a position into a played game
Game.play rejects moves after the game ends and requires membership in Position.legalMoves. It computes algebraic notation, applies the move, saves Undo and position keys, updates the result, and appends a PlayedMove. undo reverses the last ply and recomputes the result. Outcome and PlayedMove are nested records; EndReason is an enum. Checkmate is detected before automatic draw claims. FEN stores a position and counters, not game history.
Source files:
src\chess\model\Game.java
src\chess\model\Position.java
src\chess\model\Move.java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one search, explicit collaborators
ChessFrame creates a new Engine for each search request. Engine.search copies its input Position and creates a new bounded transposition table when enabled. EngineSettings is immutable. Evaluator is a static calculation utility. The engine publishes SearchInfo through Consumer&lt;SearchInfo&gt; and returns SearchResult. Both message records defensively copy their principal-variation lists. AtomicBoolean and interruption carry stop requests; no Swing types are needed.
Source files:
src\chess\engine\Engine.java
src\chess\engine\EngineSettings.java
src\chess\engine\Evaluator.java
src\chess\engine\TranspositionTable.java
src\chess\engine\SearchInfo.java
src\chess\engine\SearchResult.java
src\chess\model\Position.java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is a stack of small contracts
search performs iterative deepening. searchRoot compares root candidates. negamax recursively explores alternating sides with alpha-beta bounds and principal-variation searches. At the horizon, quiescence searches captures/promotions and mandatory check evasions before static evaluation. The negamax and quiescence methods recurse; these boxes show call relationships, not a one-way execution pipeline. makeMove/unmakeMove and history push/pop are paired by finally so cancellation restores state. Only completed iterations replace the current result.
Source files:
src\chess\engine\Engine.java
src\chess\model\Position.java
src\chess\engine\Evaluator.java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is explainable and configurable
SettingsPanel produces a validated EngineSettings record containing EvaluationWeights. Evaluator.explain returns Breakdown in White's favor. Evaluator.evaluate converts that total to the side-to-move perspective and clamps ordinary scores outside the mate range. Middlegame/endgame values are blended by phase. SearchInfo.format converts internal scores back to White's perspective. Preset is an enum that constructs immutable settings, not a measured Elo rating.
Source files:
src\chess\engine\EngineSettings.java
src\chess\engine\Evaluator.java
src\chess\ui\SettingsPanel.java
src\chess\engine\SearchInfo.java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cache entry includes its validity context
The table has 2^18 Entry slots and checks the full position key because multiple keys can map to a slot. Engine also requires sufficient stored depth, equal halfmove clock, and an equal repetition-history fingerprint before reusing a score. Bound distinguishes exact values from lower/upper bounds produced by pruning. A cached best move can still order moves when the draw context differs. Hashes and fingerprints have a small theoretical collision risk; they are not mathematical proofs of identity.
Source files:
src\chess\engine\TranspositionTable.java
src\chess\engine\Engine.java
src\chess\model\Position.java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Swing composition and callback boundaries
ChessFrame extends JFrame and owns Game, BoardPanel, and SettingsPanel. Main constructs it on the EDT. Both panels extend JPanel. BoardPanel stores its own Position copy and legal Move list for rendering/input; it calls a BiConsumer&lt;Integer,Integer&gt; injected as this::requestBoardMove. It cannot play moves itself. SettingsPanel builds EngineSettings and invokes a Runnable on change. Gold return arrows show callbacks, not direct panel dependencies on ChessFrame.
Source files:
src\chess\Main.java
src\chess\ui\ChessFrame.java
src\chess\ui\BoardPanel.java
src\chess\ui\SettingsPanel.java
src\chess\model\Game.java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Thread ownership keeps the interface responsive
Main and Swing event handlers run on the EDT. ChessFrame.startSearch copies the position, snapshots game history and settings, and creates an anonymous SwingWorker&lt;SearchResult,SearchInfo&gt;. Engine.search copies its source again for exclusive mutable ownership. doInBackground computes; publish/process moves progress onto the EDT; done handles completion on the EDT. get is safe in done because the worker has finished. AtomicBoolean supports cooperative cancellation. Undo/new game/settings changes also increment the revision so stale work is rejected.
Source files:
src\chess\ui\ChessFrame.java
src\chess\engine\Engine.java
src\chess\ui\BoardPanel.java
src\chess\engine\EngineSettings.java
src\chess\engine\SearchInfo.java
src\chess\engine\SearchResult.java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move, end to end
A board request reports from/to squares; coordinate entry follows a parallel requestTypedMove path. ChessFrame resolves a legal Move, including promotion choice when needed. Game.play validates again, applies the move through Position, and records notation, Undo, and repetition keys. ChessFrame refreshes the UI and starts the computer only when appropriate. The worker invokes Engine.search. Its done method checks the revision before applying SearchResult.bestMove. Arrows omit repeated legality/outcome queries and some return values for readability. Game, not Position, owns played-game history.
Source files:
src\chess\ui\BoardPanel.java
src\chess\ui\ChessFrame.java
src\chess\model\Game.java
src\chess\model\Position.java
src\chess\engine\Engine.java
src\chess\engine\SearchResult.java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Contracts make the architecture testable
The tests are executable explanations and need no external test framework. ChessTests covers coordinates, FEN, perft, reversible state, special moves, draws, evaluation settings, reference search, self-play, and cancellation. UiSmokeTest drives real Swing handlers and dialogs. Perft counts legal move sequences without search pruning or draw adjudication. The starting counts through four plies are 20, 400, 8902, and 197281. Use build.ps1 -Test and the optional desktop -UiSmoke check. Test source files: test\chess\ChessTests.java and test\chess\UiSmokeTest.java.
Source files:
src\chess\model\Square.java
src\chess\model\Position.java
src\chess\model\Game.java
src\chess\engine\Engine.java
src\chess\ui\ChessFrame.java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one boundary at a time
Use this as a reading checklist. Start at Main and the controller, then understand values and Position before opening the deepest recursion. EngineSettings and Evaluator make good first experiments. SearchInfo and SearchResult define the messages crossing the background/UI boundary. Read docs\LEARNING_GUIDE.md and the narrated video for detailed Java explanations. For a change, identify the owner of the affected state, preserve its invariants, add a focused test, and then play the result.
Source files:
src\chess\Main.java
src\chess\model\Piece.java
src\chess\model\Square.java
src\chess\model\Move.java
src\chess\model\Position.java
src\chess\model\Game.java
src\chess\engine\Engine.java
src\chess\engine\EngineSettings.java
src\chess\engine\Evaluator.java
src\chess\engine\TranspositionTable.java
src\chess\engine\SearchInfo.java
src\chess\engine\SearchResult.java
src\chess\ui\BoardPanel.java
src\chess\ui\SettingsPanel.java
src\chess\ui\ChessFrame.java
Diagrams summarize actual source relationships. Solid green relationships denote ownership or returned data; blue arrows denote calls/dependencies unless labeled otherwise. Gold arrows denote callbacks. Nested records and enums are explicitly named. The diagram is not an exhaustive UML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LukeFish: from classes to a chess engine</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An architectural map of the Java 17+ desktop application.</a:t>
            </a:r>
            <a:endParaRPr lang="en-US" sz="1410" dirty="0"/>
          </a:p>
        </p:txBody>
      </p:sp>
      <p:sp>
        <p:nvSpPr>
          <p:cNvPr id="6" name="Text 3"/>
          <p:cNvSpPr/>
          <p:nvPr/>
        </p:nvSpPr>
        <p:spPr>
          <a:xfrm>
            <a:off x="594360" y="1847088"/>
            <a:ext cx="6035040" cy="2066544"/>
          </a:xfrm>
          <a:prstGeom prst="rect">
            <a:avLst/>
          </a:prstGeom>
          <a:noFill/>
          <a:ln/>
        </p:spPr>
        <p:txBody>
          <a:bodyPr wrap="square" lIns="0" tIns="0" rIns="0" bIns="0" rtlCol="0" anchor="t"/>
          <a:lstStyle/>
          <a:p>
            <a:pPr indent="0" marL="0">
              <a:lnSpc>
                <a:spcPct val="110000"/>
              </a:lnSpc>
              <a:buNone/>
            </a:pPr>
            <a:r>
              <a:rPr lang="en-US" sz="4000" b="1" dirty="0">
                <a:solidFill>
                  <a:srgbClr val="F3F7FD"/>
                </a:solidFill>
                <a:latin typeface="Segoe UI" pitchFamily="34" charset="0"/>
                <a:ea typeface="Segoe UI" pitchFamily="34" charset="-122"/>
                <a:cs typeface="Segoe UI" pitchFamily="34" charset="-120"/>
              </a:rPr>
              <a:t>State.</a:t>
            </a:r>
            <a:endParaRPr lang="en-US" sz="4000" dirty="0"/>
          </a:p>
          <a:p>
            <a:pPr indent="0" marL="0">
              <a:lnSpc>
                <a:spcPct val="110000"/>
              </a:lnSpc>
              <a:buNone/>
            </a:pPr>
            <a:r>
              <a:rPr lang="en-US" sz="4000" b="1" dirty="0">
                <a:solidFill>
                  <a:srgbClr val="F3F7FD"/>
                </a:solidFill>
                <a:latin typeface="Segoe UI" pitchFamily="34" charset="0"/>
                <a:ea typeface="Segoe UI" pitchFamily="34" charset="-122"/>
                <a:cs typeface="Segoe UI" pitchFamily="34" charset="-120"/>
              </a:rPr>
              <a:t>Decisions.</a:t>
            </a:r>
            <a:endParaRPr lang="en-US" sz="4000" dirty="0"/>
          </a:p>
          <a:p>
            <a:pPr indent="0" marL="0">
              <a:lnSpc>
                <a:spcPct val="110000"/>
              </a:lnSpc>
              <a:buNone/>
            </a:pPr>
            <a:r>
              <a:rPr lang="en-US" sz="4000" b="1" dirty="0">
                <a:solidFill>
                  <a:srgbClr val="F3F7FD"/>
                </a:solidFill>
                <a:latin typeface="Segoe UI" pitchFamily="34" charset="0"/>
                <a:ea typeface="Segoe UI" pitchFamily="34" charset="-122"/>
                <a:cs typeface="Segoe UI" pitchFamily="34" charset="-120"/>
              </a:rPr>
              <a:t>Interaction.</a:t>
            </a:r>
            <a:endParaRPr lang="en-US" sz="4000" dirty="0"/>
          </a:p>
        </p:txBody>
      </p:sp>
      <p:sp>
        <p:nvSpPr>
          <p:cNvPr id="7" name="Text 4"/>
          <p:cNvSpPr/>
          <p:nvPr/>
        </p:nvSpPr>
        <p:spPr>
          <a:xfrm>
            <a:off x="630936" y="4343400"/>
            <a:ext cx="5852160" cy="822960"/>
          </a:xfrm>
          <a:prstGeom prst="rect">
            <a:avLst/>
          </a:prstGeom>
          <a:noFill/>
          <a:ln/>
        </p:spPr>
        <p:txBody>
          <a:bodyPr wrap="square" lIns="0" tIns="0" rIns="0" bIns="0" rtlCol="0" anchor="t"/>
          <a:lstStyle/>
          <a:p>
            <a:pPr indent="0" marL="0">
              <a:lnSpc>
                <a:spcPct val="100000"/>
              </a:lnSpc>
              <a:buNone/>
            </a:pPr>
            <a:r>
              <a:rPr lang="en-US" sz="2100" dirty="0">
                <a:solidFill>
                  <a:srgbClr val="A7B6CC"/>
                </a:solidFill>
                <a:latin typeface="Segoe UI" pitchFamily="34" charset="0"/>
                <a:ea typeface="Segoe UI" pitchFamily="34" charset="-122"/>
                <a:cs typeface="Segoe UI" pitchFamily="34" charset="-120"/>
              </a:rPr>
              <a:t>15 top-level types, small data records,</a:t>
            </a:r>
            <a:endParaRPr lang="en-US" sz="2100" dirty="0"/>
          </a:p>
          <a:p>
            <a:pPr indent="0" marL="0">
              <a:lnSpc>
                <a:spcPct val="100000"/>
              </a:lnSpc>
              <a:buNone/>
            </a:pPr>
            <a:r>
              <a:rPr lang="en-US" sz="2100" dirty="0">
                <a:solidFill>
                  <a:srgbClr val="A7B6CC"/>
                </a:solidFill>
                <a:latin typeface="Segoe UI" pitchFamily="34" charset="0"/>
                <a:ea typeface="Segoe UI" pitchFamily="34" charset="-122"/>
                <a:cs typeface="Segoe UI" pitchFamily="34" charset="-120"/>
              </a:rPr>
              <a:t>and explicit ownership boundaries.</a:t>
            </a:r>
            <a:endParaRPr lang="en-US" sz="2100" dirty="0"/>
          </a:p>
        </p:txBody>
      </p:sp>
      <p:sp>
        <p:nvSpPr>
          <p:cNvPr id="8" name="Shape 5"/>
          <p:cNvSpPr/>
          <p:nvPr/>
        </p:nvSpPr>
        <p:spPr>
          <a:xfrm>
            <a:off x="7461504" y="1865376"/>
            <a:ext cx="4114800" cy="1005840"/>
          </a:xfrm>
          <a:prstGeom prst="roundRect">
            <a:avLst>
              <a:gd name="adj" fmla="val 12727"/>
            </a:avLst>
          </a:prstGeom>
          <a:solidFill>
            <a:srgbClr val="16283B"/>
          </a:solidFill>
          <a:ln w="13970">
            <a:solidFill>
              <a:srgbClr val="69E3B5"/>
            </a:solidFill>
            <a:prstDash val="solid"/>
          </a:ln>
        </p:spPr>
      </p:sp>
      <p:sp>
        <p:nvSpPr>
          <p:cNvPr id="9" name="Text 6"/>
          <p:cNvSpPr/>
          <p:nvPr/>
        </p:nvSpPr>
        <p:spPr>
          <a:xfrm>
            <a:off x="7607808" y="1956816"/>
            <a:ext cx="3822192" cy="274320"/>
          </a:xfrm>
          <a:prstGeom prst="rect">
            <a:avLst/>
          </a:prstGeom>
          <a:noFill/>
          <a:ln/>
        </p:spPr>
        <p:txBody>
          <a:bodyPr wrap="square" lIns="0" tIns="0" rIns="0" bIns="0" rtlCol="0" anchor="t"/>
          <a:lstStyle/>
          <a:p>
            <a:pPr indent="0" marL="0">
              <a:lnSpc>
                <a:spcPct val="100000"/>
              </a:lnSpc>
              <a:buNone/>
            </a:pPr>
            <a:r>
              <a:rPr lang="en-US" sz="1750" b="1" dirty="0">
                <a:solidFill>
                  <a:srgbClr val="69E3B5"/>
                </a:solidFill>
                <a:latin typeface="Segoe UI" pitchFamily="34" charset="0"/>
                <a:ea typeface="Segoe UI" pitchFamily="34" charset="-122"/>
                <a:cs typeface="Segoe UI" pitchFamily="34" charset="-120"/>
              </a:rPr>
              <a:t>MODEL</a:t>
            </a:r>
            <a:endParaRPr lang="en-US" sz="1750" dirty="0"/>
          </a:p>
        </p:txBody>
      </p:sp>
      <p:sp>
        <p:nvSpPr>
          <p:cNvPr id="10" name="Text 7"/>
          <p:cNvSpPr/>
          <p:nvPr/>
        </p:nvSpPr>
        <p:spPr>
          <a:xfrm>
            <a:off x="7607808" y="2313432"/>
            <a:ext cx="3822192" cy="502920"/>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Pieces, legal moves, board state, game history</a:t>
            </a:r>
            <a:endParaRPr lang="en-US" sz="1360" dirty="0"/>
          </a:p>
        </p:txBody>
      </p:sp>
      <p:sp>
        <p:nvSpPr>
          <p:cNvPr id="11" name="Shape 8"/>
          <p:cNvSpPr/>
          <p:nvPr/>
        </p:nvSpPr>
        <p:spPr>
          <a:xfrm>
            <a:off x="7461504" y="3310128"/>
            <a:ext cx="4114800" cy="1005840"/>
          </a:xfrm>
          <a:prstGeom prst="roundRect">
            <a:avLst>
              <a:gd name="adj" fmla="val 12727"/>
            </a:avLst>
          </a:prstGeom>
          <a:solidFill>
            <a:srgbClr val="16283B"/>
          </a:solidFill>
          <a:ln w="13970">
            <a:solidFill>
              <a:srgbClr val="79CAFF"/>
            </a:solidFill>
            <a:prstDash val="solid"/>
          </a:ln>
        </p:spPr>
      </p:sp>
      <p:sp>
        <p:nvSpPr>
          <p:cNvPr id="12" name="Text 9"/>
          <p:cNvSpPr/>
          <p:nvPr/>
        </p:nvSpPr>
        <p:spPr>
          <a:xfrm>
            <a:off x="7607808" y="3401568"/>
            <a:ext cx="3822192" cy="274320"/>
          </a:xfrm>
          <a:prstGeom prst="rect">
            <a:avLst/>
          </a:prstGeom>
          <a:noFill/>
          <a:ln/>
        </p:spPr>
        <p:txBody>
          <a:bodyPr wrap="square" lIns="0" tIns="0" rIns="0" bIns="0" rtlCol="0" anchor="t"/>
          <a:lstStyle/>
          <a:p>
            <a:pPr indent="0" marL="0">
              <a:lnSpc>
                <a:spcPct val="100000"/>
              </a:lnSpc>
              <a:buNone/>
            </a:pPr>
            <a:r>
              <a:rPr lang="en-US" sz="1750" b="1" dirty="0">
                <a:solidFill>
                  <a:srgbClr val="79CAFF"/>
                </a:solidFill>
                <a:latin typeface="Segoe UI" pitchFamily="34" charset="0"/>
                <a:ea typeface="Segoe UI" pitchFamily="34" charset="-122"/>
                <a:cs typeface="Segoe UI" pitchFamily="34" charset="-120"/>
              </a:rPr>
              <a:t>ENGINE</a:t>
            </a:r>
            <a:endParaRPr lang="en-US" sz="1750" dirty="0"/>
          </a:p>
        </p:txBody>
      </p:sp>
      <p:sp>
        <p:nvSpPr>
          <p:cNvPr id="13" name="Text 10"/>
          <p:cNvSpPr/>
          <p:nvPr/>
        </p:nvSpPr>
        <p:spPr>
          <a:xfrm>
            <a:off x="7607808" y="3758184"/>
            <a:ext cx="3822192" cy="502920"/>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Evaluation, recursive search, bounded caching</a:t>
            </a:r>
            <a:endParaRPr lang="en-US" sz="1360" dirty="0"/>
          </a:p>
        </p:txBody>
      </p:sp>
      <p:sp>
        <p:nvSpPr>
          <p:cNvPr id="14" name="Shape 11"/>
          <p:cNvSpPr/>
          <p:nvPr/>
        </p:nvSpPr>
        <p:spPr>
          <a:xfrm>
            <a:off x="7461504" y="4754880"/>
            <a:ext cx="4114800" cy="1005840"/>
          </a:xfrm>
          <a:prstGeom prst="roundRect">
            <a:avLst>
              <a:gd name="adj" fmla="val 12727"/>
            </a:avLst>
          </a:prstGeom>
          <a:solidFill>
            <a:srgbClr val="16283B"/>
          </a:solidFill>
          <a:ln w="13970">
            <a:solidFill>
              <a:srgbClr val="F6CD86"/>
            </a:solidFill>
            <a:prstDash val="solid"/>
          </a:ln>
        </p:spPr>
      </p:sp>
      <p:sp>
        <p:nvSpPr>
          <p:cNvPr id="15" name="Text 12"/>
          <p:cNvSpPr/>
          <p:nvPr/>
        </p:nvSpPr>
        <p:spPr>
          <a:xfrm>
            <a:off x="7607808" y="4846320"/>
            <a:ext cx="3822192" cy="274320"/>
          </a:xfrm>
          <a:prstGeom prst="rect">
            <a:avLst/>
          </a:prstGeom>
          <a:noFill/>
          <a:ln/>
        </p:spPr>
        <p:txBody>
          <a:bodyPr wrap="square" lIns="0" tIns="0" rIns="0" bIns="0" rtlCol="0" anchor="t"/>
          <a:lstStyle/>
          <a:p>
            <a:pPr indent="0" marL="0">
              <a:lnSpc>
                <a:spcPct val="100000"/>
              </a:lnSpc>
              <a:buNone/>
            </a:pPr>
            <a:r>
              <a:rPr lang="en-US" sz="1750" b="1" dirty="0">
                <a:solidFill>
                  <a:srgbClr val="F6CD86"/>
                </a:solidFill>
                <a:latin typeface="Segoe UI" pitchFamily="34" charset="0"/>
                <a:ea typeface="Segoe UI" pitchFamily="34" charset="-122"/>
                <a:cs typeface="Segoe UI" pitchFamily="34" charset="-120"/>
              </a:rPr>
              <a:t>UI</a:t>
            </a:r>
            <a:endParaRPr lang="en-US" sz="1750" dirty="0"/>
          </a:p>
        </p:txBody>
      </p:sp>
      <p:sp>
        <p:nvSpPr>
          <p:cNvPr id="16" name="Text 13"/>
          <p:cNvSpPr/>
          <p:nvPr/>
        </p:nvSpPr>
        <p:spPr>
          <a:xfrm>
            <a:off x="7607808" y="5202936"/>
            <a:ext cx="3822192" cy="502920"/>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Swing components, callbacks, worker lifecycle</a:t>
            </a:r>
            <a:endParaRPr lang="en-US" sz="1360" dirty="0"/>
          </a:p>
        </p:txBody>
      </p:sp>
      <p:sp>
        <p:nvSpPr>
          <p:cNvPr id="17" name="Shape 14"/>
          <p:cNvSpPr/>
          <p:nvPr/>
        </p:nvSpPr>
        <p:spPr>
          <a:xfrm>
            <a:off x="420624" y="6455664"/>
            <a:ext cx="11356848" cy="914"/>
          </a:xfrm>
          <a:prstGeom prst="line">
            <a:avLst/>
          </a:prstGeom>
          <a:noFill/>
          <a:ln w="20320">
            <a:solidFill>
              <a:srgbClr val="2A3A51"/>
            </a:solidFill>
            <a:prstDash val="solid"/>
          </a:ln>
        </p:spPr>
      </p:sp>
      <p:sp>
        <p:nvSpPr>
          <p:cNvPr id="18" name="Text 15"/>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19" name="Text 16"/>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20" name="Text 17"/>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01 / 14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The package boundaries</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Main starts the application; UI depends on the engine and model; the model stays independent.</a:t>
            </a:r>
            <a:endParaRPr lang="en-US" sz="1410" dirty="0"/>
          </a:p>
        </p:txBody>
      </p:sp>
      <p:sp>
        <p:nvSpPr>
          <p:cNvPr id="6" name="Shape 3"/>
          <p:cNvSpPr/>
          <p:nvPr/>
        </p:nvSpPr>
        <p:spPr>
          <a:xfrm>
            <a:off x="1069848" y="1664208"/>
            <a:ext cx="2103120" cy="484632"/>
          </a:xfrm>
          <a:prstGeom prst="roundRect">
            <a:avLst>
              <a:gd name="adj" fmla="val 26415"/>
            </a:avLst>
          </a:prstGeom>
          <a:solidFill>
            <a:srgbClr val="16283B"/>
          </a:solidFill>
          <a:ln w="13970">
            <a:solidFill>
              <a:srgbClr val="69E3B5"/>
            </a:solidFill>
            <a:prstDash val="solid"/>
          </a:ln>
        </p:spPr>
      </p:sp>
      <p:sp>
        <p:nvSpPr>
          <p:cNvPr id="7" name="Text 4"/>
          <p:cNvSpPr/>
          <p:nvPr/>
        </p:nvSpPr>
        <p:spPr>
          <a:xfrm>
            <a:off x="1216152" y="1755648"/>
            <a:ext cx="1810512" cy="274320"/>
          </a:xfrm>
          <a:prstGeom prst="rect">
            <a:avLst/>
          </a:prstGeom>
          <a:noFill/>
          <a:ln/>
        </p:spPr>
        <p:txBody>
          <a:bodyPr wrap="square" lIns="0" tIns="0" rIns="0" bIns="0" rtlCol="0" anchor="t"/>
          <a:lstStyle/>
          <a:p>
            <a:pPr indent="0" marL="0">
              <a:lnSpc>
                <a:spcPct val="100000"/>
              </a:lnSpc>
              <a:buNone/>
            </a:pPr>
            <a:r>
              <a:rPr lang="en-US" sz="1750" b="1" dirty="0">
                <a:solidFill>
                  <a:srgbClr val="69E3B5"/>
                </a:solidFill>
                <a:latin typeface="Segoe UI" pitchFamily="34" charset="0"/>
                <a:ea typeface="Segoe UI" pitchFamily="34" charset="-122"/>
                <a:cs typeface="Segoe UI" pitchFamily="34" charset="-120"/>
              </a:rPr>
              <a:t>Main</a:t>
            </a:r>
            <a:endParaRPr lang="en-US" sz="1750" dirty="0"/>
          </a:p>
        </p:txBody>
      </p:sp>
      <p:sp>
        <p:nvSpPr>
          <p:cNvPr id="8" name="Shape 5"/>
          <p:cNvSpPr/>
          <p:nvPr/>
        </p:nvSpPr>
        <p:spPr>
          <a:xfrm>
            <a:off x="2121408" y="2148840"/>
            <a:ext cx="914" cy="493776"/>
          </a:xfrm>
          <a:prstGeom prst="line">
            <a:avLst/>
          </a:prstGeom>
          <a:noFill/>
          <a:ln w="20320">
            <a:solidFill>
              <a:srgbClr val="69E3B5"/>
            </a:solidFill>
            <a:prstDash val="solid"/>
            <a:tailEnd type="triangle"/>
          </a:ln>
        </p:spPr>
      </p:sp>
      <p:sp>
        <p:nvSpPr>
          <p:cNvPr id="9" name="Text 6"/>
          <p:cNvSpPr/>
          <p:nvPr/>
        </p:nvSpPr>
        <p:spPr>
          <a:xfrm>
            <a:off x="2377440" y="2258568"/>
            <a:ext cx="1508760"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creates ChessFrame</a:t>
            </a:r>
            <a:endParaRPr lang="en-US" sz="1150" dirty="0"/>
          </a:p>
        </p:txBody>
      </p:sp>
      <p:sp>
        <p:nvSpPr>
          <p:cNvPr id="10" name="Text 7"/>
          <p:cNvSpPr/>
          <p:nvPr/>
        </p:nvSpPr>
        <p:spPr>
          <a:xfrm>
            <a:off x="4572000" y="1719072"/>
            <a:ext cx="6858000" cy="649224"/>
          </a:xfrm>
          <a:prstGeom prst="rect">
            <a:avLst/>
          </a:prstGeom>
          <a:noFill/>
          <a:ln/>
        </p:spPr>
        <p:txBody>
          <a:bodyPr wrap="square" lIns="0" tIns="0" rIns="0" bIns="0" rtlCol="0" anchor="t"/>
          <a:lstStyle/>
          <a:p>
            <a:pPr indent="0" marL="0">
              <a:lnSpc>
                <a:spcPct val="100000"/>
              </a:lnSpc>
              <a:buNone/>
            </a:pPr>
            <a:r>
              <a:rPr lang="en-US" sz="1720" dirty="0">
                <a:solidFill>
                  <a:srgbClr val="A7B6CC"/>
                </a:solidFill>
                <a:latin typeface="Segoe UI" pitchFamily="34" charset="0"/>
                <a:ea typeface="Segoe UI" pitchFamily="34" charset="-122"/>
                <a:cs typeface="Segoe UI" pitchFamily="34" charset="-120"/>
              </a:rPr>
              <a:t>Engine has no Swing dependency.</a:t>
            </a:r>
            <a:endParaRPr lang="en-US" sz="1720" dirty="0"/>
          </a:p>
          <a:p>
            <a:pPr indent="0" marL="0">
              <a:lnSpc>
                <a:spcPct val="100000"/>
              </a:lnSpc>
              <a:buNone/>
            </a:pPr>
            <a:r>
              <a:rPr lang="en-US" sz="1720" dirty="0">
                <a:solidFill>
                  <a:srgbClr val="A7B6CC"/>
                </a:solidFill>
                <a:latin typeface="Segoe UI" pitchFamily="34" charset="0"/>
                <a:ea typeface="Segoe UI" pitchFamily="34" charset="-122"/>
                <a:cs typeface="Segoe UI" pitchFamily="34" charset="-120"/>
              </a:rPr>
              <a:t>Model has no UI or search dependency.</a:t>
            </a:r>
            <a:endParaRPr lang="en-US" sz="1720" dirty="0"/>
          </a:p>
        </p:txBody>
      </p:sp>
      <p:sp>
        <p:nvSpPr>
          <p:cNvPr id="11" name="Shape 8"/>
          <p:cNvSpPr/>
          <p:nvPr/>
        </p:nvSpPr>
        <p:spPr>
          <a:xfrm>
            <a:off x="457200" y="2651760"/>
            <a:ext cx="3291840" cy="2560320"/>
          </a:xfrm>
          <a:prstGeom prst="roundRect">
            <a:avLst>
              <a:gd name="adj" fmla="val 5000"/>
            </a:avLst>
          </a:prstGeom>
          <a:solidFill>
            <a:srgbClr val="111E31"/>
          </a:solidFill>
          <a:ln w="13970">
            <a:solidFill>
              <a:srgbClr val="F6CD86"/>
            </a:solidFill>
            <a:prstDash val="solid"/>
          </a:ln>
        </p:spPr>
      </p:sp>
      <p:sp>
        <p:nvSpPr>
          <p:cNvPr id="12" name="Text 9"/>
          <p:cNvSpPr/>
          <p:nvPr/>
        </p:nvSpPr>
        <p:spPr>
          <a:xfrm>
            <a:off x="603504" y="2761488"/>
            <a:ext cx="299923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F6CD86"/>
                </a:solidFill>
                <a:latin typeface="Segoe UI" pitchFamily="34" charset="0"/>
                <a:ea typeface="Segoe UI" pitchFamily="34" charset="-122"/>
                <a:cs typeface="Segoe UI" pitchFamily="34" charset="-120"/>
              </a:rPr>
              <a:t>3 TOP-LEVEL CLASSES</a:t>
            </a:r>
            <a:endParaRPr lang="en-US" sz="950" dirty="0"/>
          </a:p>
        </p:txBody>
      </p:sp>
      <p:sp>
        <p:nvSpPr>
          <p:cNvPr id="13" name="Text 10"/>
          <p:cNvSpPr/>
          <p:nvPr/>
        </p:nvSpPr>
        <p:spPr>
          <a:xfrm>
            <a:off x="603504" y="2999232"/>
            <a:ext cx="299923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chess.ui</a:t>
            </a:r>
            <a:endParaRPr lang="en-US" sz="1900" dirty="0"/>
          </a:p>
        </p:txBody>
      </p:sp>
      <p:sp>
        <p:nvSpPr>
          <p:cNvPr id="14" name="Shape 11"/>
          <p:cNvSpPr/>
          <p:nvPr/>
        </p:nvSpPr>
        <p:spPr>
          <a:xfrm>
            <a:off x="603504" y="3438144"/>
            <a:ext cx="2999232" cy="914"/>
          </a:xfrm>
          <a:prstGeom prst="line">
            <a:avLst/>
          </a:prstGeom>
          <a:noFill/>
          <a:ln w="20320">
            <a:solidFill>
              <a:srgbClr val="2A3A51"/>
            </a:solidFill>
            <a:prstDash val="solid"/>
          </a:ln>
        </p:spPr>
      </p:sp>
      <p:sp>
        <p:nvSpPr>
          <p:cNvPr id="15" name="Text 12"/>
          <p:cNvSpPr/>
          <p:nvPr/>
        </p:nvSpPr>
        <p:spPr>
          <a:xfrm>
            <a:off x="603504" y="3584448"/>
            <a:ext cx="2999232" cy="150876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ChessFrame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BoardPanel</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SettingsPanel</a:t>
            </a:r>
            <a:endParaRPr lang="en-US" sz="1410" dirty="0"/>
          </a:p>
        </p:txBody>
      </p:sp>
      <p:sp>
        <p:nvSpPr>
          <p:cNvPr id="16" name="Shape 13"/>
          <p:cNvSpPr/>
          <p:nvPr/>
        </p:nvSpPr>
        <p:spPr>
          <a:xfrm>
            <a:off x="4443984" y="2651760"/>
            <a:ext cx="3291840" cy="2560320"/>
          </a:xfrm>
          <a:prstGeom prst="roundRect">
            <a:avLst>
              <a:gd name="adj" fmla="val 5000"/>
            </a:avLst>
          </a:prstGeom>
          <a:solidFill>
            <a:srgbClr val="111E31"/>
          </a:solidFill>
          <a:ln w="13970">
            <a:solidFill>
              <a:srgbClr val="79CAFF"/>
            </a:solidFill>
            <a:prstDash val="solid"/>
          </a:ln>
        </p:spPr>
      </p:sp>
      <p:sp>
        <p:nvSpPr>
          <p:cNvPr id="17" name="Text 14"/>
          <p:cNvSpPr/>
          <p:nvPr/>
        </p:nvSpPr>
        <p:spPr>
          <a:xfrm>
            <a:off x="4590288" y="2761488"/>
            <a:ext cx="299923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79CAFF"/>
                </a:solidFill>
                <a:latin typeface="Segoe UI" pitchFamily="34" charset="0"/>
                <a:ea typeface="Segoe UI" pitchFamily="34" charset="-122"/>
                <a:cs typeface="Segoe UI" pitchFamily="34" charset="-120"/>
              </a:rPr>
              <a:t>6 TOP-LEVEL TYPES</a:t>
            </a:r>
            <a:endParaRPr lang="en-US" sz="950" dirty="0"/>
          </a:p>
        </p:txBody>
      </p:sp>
      <p:sp>
        <p:nvSpPr>
          <p:cNvPr id="18" name="Text 15"/>
          <p:cNvSpPr/>
          <p:nvPr/>
        </p:nvSpPr>
        <p:spPr>
          <a:xfrm>
            <a:off x="4590288" y="2999232"/>
            <a:ext cx="299923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chess.engine</a:t>
            </a:r>
            <a:endParaRPr lang="en-US" sz="1900" dirty="0"/>
          </a:p>
        </p:txBody>
      </p:sp>
      <p:sp>
        <p:nvSpPr>
          <p:cNvPr id="19" name="Shape 16"/>
          <p:cNvSpPr/>
          <p:nvPr/>
        </p:nvSpPr>
        <p:spPr>
          <a:xfrm>
            <a:off x="4590288" y="3438144"/>
            <a:ext cx="2999232" cy="914"/>
          </a:xfrm>
          <a:prstGeom prst="line">
            <a:avLst/>
          </a:prstGeom>
          <a:noFill/>
          <a:ln w="20320">
            <a:solidFill>
              <a:srgbClr val="2A3A51"/>
            </a:solidFill>
            <a:prstDash val="solid"/>
          </a:ln>
        </p:spPr>
      </p:sp>
      <p:sp>
        <p:nvSpPr>
          <p:cNvPr id="20" name="Text 17"/>
          <p:cNvSpPr/>
          <p:nvPr/>
        </p:nvSpPr>
        <p:spPr>
          <a:xfrm>
            <a:off x="4590288" y="3584448"/>
            <a:ext cx="2999232" cy="150876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Engine / Evaluator</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EngineSettings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TranspositionTable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SearchInfo / SearchResult</a:t>
            </a:r>
            <a:endParaRPr lang="en-US" sz="1410" dirty="0"/>
          </a:p>
        </p:txBody>
      </p:sp>
      <p:sp>
        <p:nvSpPr>
          <p:cNvPr id="21" name="Shape 18"/>
          <p:cNvSpPr/>
          <p:nvPr/>
        </p:nvSpPr>
        <p:spPr>
          <a:xfrm>
            <a:off x="8439912" y="2651760"/>
            <a:ext cx="3291840" cy="2560320"/>
          </a:xfrm>
          <a:prstGeom prst="roundRect">
            <a:avLst>
              <a:gd name="adj" fmla="val 5000"/>
            </a:avLst>
          </a:prstGeom>
          <a:solidFill>
            <a:srgbClr val="111E31"/>
          </a:solidFill>
          <a:ln w="13970">
            <a:solidFill>
              <a:srgbClr val="69E3B5"/>
            </a:solidFill>
            <a:prstDash val="solid"/>
          </a:ln>
        </p:spPr>
      </p:sp>
      <p:sp>
        <p:nvSpPr>
          <p:cNvPr id="22" name="Text 19"/>
          <p:cNvSpPr/>
          <p:nvPr/>
        </p:nvSpPr>
        <p:spPr>
          <a:xfrm>
            <a:off x="8586216" y="2761488"/>
            <a:ext cx="299923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5 TOP-LEVEL TYPES</a:t>
            </a:r>
            <a:endParaRPr lang="en-US" sz="950" dirty="0"/>
          </a:p>
        </p:txBody>
      </p:sp>
      <p:sp>
        <p:nvSpPr>
          <p:cNvPr id="23" name="Text 20"/>
          <p:cNvSpPr/>
          <p:nvPr/>
        </p:nvSpPr>
        <p:spPr>
          <a:xfrm>
            <a:off x="8586216" y="2999232"/>
            <a:ext cx="299923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chess.model</a:t>
            </a:r>
            <a:endParaRPr lang="en-US" sz="1900" dirty="0"/>
          </a:p>
        </p:txBody>
      </p:sp>
      <p:sp>
        <p:nvSpPr>
          <p:cNvPr id="24" name="Shape 21"/>
          <p:cNvSpPr/>
          <p:nvPr/>
        </p:nvSpPr>
        <p:spPr>
          <a:xfrm>
            <a:off x="8586216" y="3438144"/>
            <a:ext cx="2999232" cy="914"/>
          </a:xfrm>
          <a:prstGeom prst="line">
            <a:avLst/>
          </a:prstGeom>
          <a:noFill/>
          <a:ln w="20320">
            <a:solidFill>
              <a:srgbClr val="2A3A51"/>
            </a:solidFill>
            <a:prstDash val="solid"/>
          </a:ln>
        </p:spPr>
      </p:sp>
      <p:sp>
        <p:nvSpPr>
          <p:cNvPr id="25" name="Text 22"/>
          <p:cNvSpPr/>
          <p:nvPr/>
        </p:nvSpPr>
        <p:spPr>
          <a:xfrm>
            <a:off x="8586216" y="3584448"/>
            <a:ext cx="2999232" cy="150876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Piece / Square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Move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Position</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Game</a:t>
            </a:r>
            <a:endParaRPr lang="en-US" sz="1410" dirty="0"/>
          </a:p>
        </p:txBody>
      </p:sp>
      <p:sp>
        <p:nvSpPr>
          <p:cNvPr id="26" name="Shape 23"/>
          <p:cNvSpPr/>
          <p:nvPr/>
        </p:nvSpPr>
        <p:spPr>
          <a:xfrm>
            <a:off x="3749040" y="3813048"/>
            <a:ext cx="694944" cy="914"/>
          </a:xfrm>
          <a:prstGeom prst="line">
            <a:avLst/>
          </a:prstGeom>
          <a:noFill/>
          <a:ln w="20320">
            <a:solidFill>
              <a:srgbClr val="79CAFF"/>
            </a:solidFill>
            <a:prstDash val="solid"/>
            <a:tailEnd type="triangle"/>
          </a:ln>
        </p:spPr>
      </p:sp>
      <p:sp>
        <p:nvSpPr>
          <p:cNvPr id="27" name="Text 24"/>
          <p:cNvSpPr/>
          <p:nvPr/>
        </p:nvSpPr>
        <p:spPr>
          <a:xfrm>
            <a:off x="3758184" y="3493008"/>
            <a:ext cx="658368"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search</a:t>
            </a:r>
            <a:endParaRPr lang="en-US" sz="1150" dirty="0"/>
          </a:p>
        </p:txBody>
      </p:sp>
      <p:sp>
        <p:nvSpPr>
          <p:cNvPr id="28" name="Shape 25"/>
          <p:cNvSpPr/>
          <p:nvPr/>
        </p:nvSpPr>
        <p:spPr>
          <a:xfrm>
            <a:off x="7735824" y="3813048"/>
            <a:ext cx="704088" cy="914"/>
          </a:xfrm>
          <a:prstGeom prst="line">
            <a:avLst/>
          </a:prstGeom>
          <a:noFill/>
          <a:ln w="20320">
            <a:solidFill>
              <a:srgbClr val="79CAFF"/>
            </a:solidFill>
            <a:prstDash val="solid"/>
            <a:tailEnd type="triangle"/>
          </a:ln>
        </p:spPr>
      </p:sp>
      <p:sp>
        <p:nvSpPr>
          <p:cNvPr id="29" name="Text 26"/>
          <p:cNvSpPr/>
          <p:nvPr/>
        </p:nvSpPr>
        <p:spPr>
          <a:xfrm>
            <a:off x="7754112" y="3493008"/>
            <a:ext cx="658368"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rules</a:t>
            </a:r>
            <a:endParaRPr lang="en-US" sz="1150" dirty="0"/>
          </a:p>
        </p:txBody>
      </p:sp>
      <p:sp>
        <p:nvSpPr>
          <p:cNvPr id="30" name="Shape 27"/>
          <p:cNvSpPr/>
          <p:nvPr/>
        </p:nvSpPr>
        <p:spPr>
          <a:xfrm>
            <a:off x="2103120" y="5212080"/>
            <a:ext cx="914" cy="356616"/>
          </a:xfrm>
          <a:prstGeom prst="line">
            <a:avLst/>
          </a:prstGeom>
          <a:noFill/>
          <a:ln w="20320">
            <a:solidFill>
              <a:srgbClr val="79CAFF"/>
            </a:solidFill>
            <a:prstDash val="solid"/>
          </a:ln>
        </p:spPr>
      </p:sp>
      <p:sp>
        <p:nvSpPr>
          <p:cNvPr id="31" name="Shape 28"/>
          <p:cNvSpPr/>
          <p:nvPr/>
        </p:nvSpPr>
        <p:spPr>
          <a:xfrm>
            <a:off x="2103120" y="5568696"/>
            <a:ext cx="7982712" cy="914"/>
          </a:xfrm>
          <a:prstGeom prst="line">
            <a:avLst/>
          </a:prstGeom>
          <a:noFill/>
          <a:ln w="20320">
            <a:solidFill>
              <a:srgbClr val="79CAFF"/>
            </a:solidFill>
            <a:prstDash val="solid"/>
          </a:ln>
        </p:spPr>
      </p:sp>
      <p:sp>
        <p:nvSpPr>
          <p:cNvPr id="32" name="Shape 29"/>
          <p:cNvSpPr/>
          <p:nvPr/>
        </p:nvSpPr>
        <p:spPr>
          <a:xfrm>
            <a:off x="10085832" y="5212080"/>
            <a:ext cx="914" cy="356616"/>
          </a:xfrm>
          <a:prstGeom prst="line">
            <a:avLst/>
          </a:prstGeom>
          <a:noFill/>
          <a:ln w="20320">
            <a:solidFill>
              <a:srgbClr val="79CAFF"/>
            </a:solidFill>
            <a:prstDash val="solid"/>
            <a:headEnd type="triangle"/>
          </a:ln>
        </p:spPr>
      </p:sp>
      <p:sp>
        <p:nvSpPr>
          <p:cNvPr id="33" name="Text 30"/>
          <p:cNvSpPr/>
          <p:nvPr/>
        </p:nvSpPr>
        <p:spPr>
          <a:xfrm>
            <a:off x="3886200" y="5349240"/>
            <a:ext cx="5440680"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UI also uses the live game, rules, and move values</a:t>
            </a:r>
            <a:endParaRPr lang="en-US" sz="1150" dirty="0"/>
          </a:p>
        </p:txBody>
      </p:sp>
      <p:sp>
        <p:nvSpPr>
          <p:cNvPr id="34" name="Shape 31"/>
          <p:cNvSpPr/>
          <p:nvPr/>
        </p:nvSpPr>
        <p:spPr>
          <a:xfrm>
            <a:off x="457200" y="5925312"/>
            <a:ext cx="11274552" cy="393192"/>
          </a:xfrm>
          <a:prstGeom prst="roundRect">
            <a:avLst>
              <a:gd name="adj" fmla="val 32558"/>
            </a:avLst>
          </a:prstGeom>
          <a:solidFill>
            <a:srgbClr val="17322F"/>
          </a:solidFill>
          <a:ln w="13970">
            <a:solidFill>
              <a:srgbClr val="315D51"/>
            </a:solidFill>
            <a:prstDash val="solid"/>
          </a:ln>
        </p:spPr>
      </p:sp>
      <p:sp>
        <p:nvSpPr>
          <p:cNvPr id="35" name="Text 32"/>
          <p:cNvSpPr/>
          <p:nvPr/>
        </p:nvSpPr>
        <p:spPr>
          <a:xfrm>
            <a:off x="621792" y="6007608"/>
            <a:ext cx="10945368" cy="256032"/>
          </a:xfrm>
          <a:prstGeom prst="rect">
            <a:avLst/>
          </a:prstGeom>
          <a:noFill/>
          <a:ln/>
        </p:spPr>
        <p:txBody>
          <a:bodyPr wrap="square" lIns="0" tIns="0" rIns="0" bIns="0" rtlCol="0" anchor="t"/>
          <a:lstStyle/>
          <a:p>
            <a:pPr indent="0" marL="0">
              <a:lnSpc>
                <a:spcPct val="100000"/>
              </a:lnSpc>
              <a:buNone/>
            </a:pPr>
            <a:r>
              <a:rPr lang="en-US" sz="1510" dirty="0">
                <a:solidFill>
                  <a:srgbClr val="69E3B5"/>
                </a:solidFill>
                <a:latin typeface="Segoe UI" pitchFamily="34" charset="0"/>
                <a:ea typeface="Segoe UI" pitchFamily="34" charset="-122"/>
                <a:cs typeface="Segoe UI" pitchFamily="34" charset="-120"/>
              </a:rPr>
              <a:t>Dependencies point toward reusable rules. Rendering a piece must not decide whether a move is legal.</a:t>
            </a:r>
            <a:endParaRPr lang="en-US" sz="1510" dirty="0"/>
          </a:p>
        </p:txBody>
      </p:sp>
      <p:sp>
        <p:nvSpPr>
          <p:cNvPr id="36" name="Shape 33"/>
          <p:cNvSpPr/>
          <p:nvPr/>
        </p:nvSpPr>
        <p:spPr>
          <a:xfrm>
            <a:off x="420624" y="6455664"/>
            <a:ext cx="11356848" cy="914"/>
          </a:xfrm>
          <a:prstGeom prst="line">
            <a:avLst/>
          </a:prstGeom>
          <a:noFill/>
          <a:ln w="20320">
            <a:solidFill>
              <a:srgbClr val="2A3A51"/>
            </a:solidFill>
            <a:prstDash val="solid"/>
          </a:ln>
        </p:spPr>
      </p:sp>
      <p:sp>
        <p:nvSpPr>
          <p:cNvPr id="37" name="Text 34"/>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38" name="Text 35"/>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39" name="Text 36"/>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02 / 14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Model: values, state, and history</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Game owns the played game; Position supplies reversible rules; small value types connect them.</a:t>
            </a:r>
            <a:endParaRPr lang="en-US" sz="1410" dirty="0"/>
          </a:p>
        </p:txBody>
      </p:sp>
      <p:sp>
        <p:nvSpPr>
          <p:cNvPr id="6" name="Shape 3"/>
          <p:cNvSpPr/>
          <p:nvPr/>
        </p:nvSpPr>
        <p:spPr>
          <a:xfrm>
            <a:off x="457200" y="2029968"/>
            <a:ext cx="2880360" cy="2194560"/>
          </a:xfrm>
          <a:prstGeom prst="roundRect">
            <a:avLst>
              <a:gd name="adj" fmla="val 5833"/>
            </a:avLst>
          </a:prstGeom>
          <a:solidFill>
            <a:srgbClr val="111E31"/>
          </a:solidFill>
          <a:ln w="13970">
            <a:solidFill>
              <a:srgbClr val="69E3B5"/>
            </a:solidFill>
            <a:prstDash val="solid"/>
          </a:ln>
        </p:spPr>
      </p:sp>
      <p:sp>
        <p:nvSpPr>
          <p:cNvPr id="7" name="Text 4"/>
          <p:cNvSpPr/>
          <p:nvPr/>
        </p:nvSpPr>
        <p:spPr>
          <a:xfrm>
            <a:off x="603504" y="2139696"/>
            <a:ext cx="258775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LIVE-GAME OWNER</a:t>
            </a:r>
            <a:endParaRPr lang="en-US" sz="950" dirty="0"/>
          </a:p>
        </p:txBody>
      </p:sp>
      <p:sp>
        <p:nvSpPr>
          <p:cNvPr id="8" name="Text 5"/>
          <p:cNvSpPr/>
          <p:nvPr/>
        </p:nvSpPr>
        <p:spPr>
          <a:xfrm>
            <a:off x="603504" y="2377440"/>
            <a:ext cx="258775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Game</a:t>
            </a:r>
            <a:endParaRPr lang="en-US" sz="1900" dirty="0"/>
          </a:p>
        </p:txBody>
      </p:sp>
      <p:sp>
        <p:nvSpPr>
          <p:cNvPr id="9" name="Shape 6"/>
          <p:cNvSpPr/>
          <p:nvPr/>
        </p:nvSpPr>
        <p:spPr>
          <a:xfrm>
            <a:off x="603504" y="2816352"/>
            <a:ext cx="2587752" cy="914"/>
          </a:xfrm>
          <a:prstGeom prst="line">
            <a:avLst/>
          </a:prstGeom>
          <a:noFill/>
          <a:ln w="20320">
            <a:solidFill>
              <a:srgbClr val="2A3A51"/>
            </a:solidFill>
            <a:prstDash val="solid"/>
          </a:ln>
        </p:spPr>
      </p:sp>
      <p:sp>
        <p:nvSpPr>
          <p:cNvPr id="10" name="Text 7"/>
          <p:cNvSpPr/>
          <p:nvPr/>
        </p:nvSpPr>
        <p:spPr>
          <a:xfrm>
            <a:off x="603504" y="2962656"/>
            <a:ext cx="2587752" cy="114300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position: Position</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undo / move / key lists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play() / undo()</a:t>
            </a:r>
            <a:endParaRPr lang="en-US" sz="1410" dirty="0"/>
          </a:p>
        </p:txBody>
      </p:sp>
      <p:sp>
        <p:nvSpPr>
          <p:cNvPr id="11" name="Shape 8"/>
          <p:cNvSpPr/>
          <p:nvPr/>
        </p:nvSpPr>
        <p:spPr>
          <a:xfrm>
            <a:off x="4572000" y="2029968"/>
            <a:ext cx="3474720" cy="2194560"/>
          </a:xfrm>
          <a:prstGeom prst="roundRect">
            <a:avLst>
              <a:gd name="adj" fmla="val 5833"/>
            </a:avLst>
          </a:prstGeom>
          <a:solidFill>
            <a:srgbClr val="111E31"/>
          </a:solidFill>
          <a:ln w="13970">
            <a:solidFill>
              <a:srgbClr val="69E3B5"/>
            </a:solidFill>
            <a:prstDash val="solid"/>
          </a:ln>
        </p:spPr>
      </p:sp>
      <p:sp>
        <p:nvSpPr>
          <p:cNvPr id="12" name="Text 9"/>
          <p:cNvSpPr/>
          <p:nvPr/>
        </p:nvSpPr>
        <p:spPr>
          <a:xfrm>
            <a:off x="4718304" y="2139696"/>
            <a:ext cx="318211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MUTABLE RULE STATE</a:t>
            </a:r>
            <a:endParaRPr lang="en-US" sz="950" dirty="0"/>
          </a:p>
        </p:txBody>
      </p:sp>
      <p:sp>
        <p:nvSpPr>
          <p:cNvPr id="13" name="Text 10"/>
          <p:cNvSpPr/>
          <p:nvPr/>
        </p:nvSpPr>
        <p:spPr>
          <a:xfrm>
            <a:off x="4718304" y="2377440"/>
            <a:ext cx="318211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Position</a:t>
            </a:r>
            <a:endParaRPr lang="en-US" sz="1900" dirty="0"/>
          </a:p>
        </p:txBody>
      </p:sp>
      <p:sp>
        <p:nvSpPr>
          <p:cNvPr id="14" name="Shape 11"/>
          <p:cNvSpPr/>
          <p:nvPr/>
        </p:nvSpPr>
        <p:spPr>
          <a:xfrm>
            <a:off x="4718304" y="2816352"/>
            <a:ext cx="3182112" cy="914"/>
          </a:xfrm>
          <a:prstGeom prst="line">
            <a:avLst/>
          </a:prstGeom>
          <a:noFill/>
          <a:ln w="20320">
            <a:solidFill>
              <a:srgbClr val="2A3A51"/>
            </a:solidFill>
            <a:prstDash val="solid"/>
          </a:ln>
        </p:spPr>
      </p:sp>
      <p:sp>
        <p:nvSpPr>
          <p:cNvPr id="15" name="Text 12"/>
          <p:cNvSpPr/>
          <p:nvPr/>
        </p:nvSpPr>
        <p:spPr>
          <a:xfrm>
            <a:off x="4718304" y="2962656"/>
            <a:ext cx="3182112" cy="114300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board: int[64]</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turn / rights / counters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legalMoves() / makeMove()</a:t>
            </a:r>
            <a:endParaRPr lang="en-US" sz="1410" dirty="0"/>
          </a:p>
        </p:txBody>
      </p:sp>
      <p:sp>
        <p:nvSpPr>
          <p:cNvPr id="16" name="Shape 13"/>
          <p:cNvSpPr/>
          <p:nvPr/>
        </p:nvSpPr>
        <p:spPr>
          <a:xfrm>
            <a:off x="8915400" y="1691640"/>
            <a:ext cx="2697480" cy="1746504"/>
          </a:xfrm>
          <a:prstGeom prst="roundRect">
            <a:avLst>
              <a:gd name="adj" fmla="val 7330"/>
            </a:avLst>
          </a:prstGeom>
          <a:solidFill>
            <a:srgbClr val="111E31"/>
          </a:solidFill>
          <a:ln w="13970">
            <a:solidFill>
              <a:srgbClr val="79CAFF"/>
            </a:solidFill>
            <a:prstDash val="solid"/>
          </a:ln>
        </p:spPr>
      </p:sp>
      <p:sp>
        <p:nvSpPr>
          <p:cNvPr id="17" name="Text 14"/>
          <p:cNvSpPr/>
          <p:nvPr/>
        </p:nvSpPr>
        <p:spPr>
          <a:xfrm>
            <a:off x="9061704" y="1801368"/>
            <a:ext cx="240487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79CAFF"/>
                </a:solidFill>
                <a:latin typeface="Segoe UI" pitchFamily="34" charset="0"/>
                <a:ea typeface="Segoe UI" pitchFamily="34" charset="-122"/>
                <a:cs typeface="Segoe UI" pitchFamily="34" charset="-120"/>
              </a:rPr>
              <a:t>STATIC UTILITY</a:t>
            </a:r>
            <a:endParaRPr lang="en-US" sz="950" dirty="0"/>
          </a:p>
        </p:txBody>
      </p:sp>
      <p:sp>
        <p:nvSpPr>
          <p:cNvPr id="18" name="Text 15"/>
          <p:cNvSpPr/>
          <p:nvPr/>
        </p:nvSpPr>
        <p:spPr>
          <a:xfrm>
            <a:off x="9061704" y="2039112"/>
            <a:ext cx="240487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Piece</a:t>
            </a:r>
            <a:endParaRPr lang="en-US" sz="1900" dirty="0"/>
          </a:p>
        </p:txBody>
      </p:sp>
      <p:sp>
        <p:nvSpPr>
          <p:cNvPr id="19" name="Shape 16"/>
          <p:cNvSpPr/>
          <p:nvPr/>
        </p:nvSpPr>
        <p:spPr>
          <a:xfrm>
            <a:off x="9061704" y="2478024"/>
            <a:ext cx="2404872" cy="914"/>
          </a:xfrm>
          <a:prstGeom prst="line">
            <a:avLst/>
          </a:prstGeom>
          <a:noFill/>
          <a:ln w="20320">
            <a:solidFill>
              <a:srgbClr val="2A3A51"/>
            </a:solidFill>
            <a:prstDash val="solid"/>
          </a:ln>
        </p:spPr>
      </p:sp>
      <p:sp>
        <p:nvSpPr>
          <p:cNvPr id="20" name="Text 17"/>
          <p:cNvSpPr/>
          <p:nvPr/>
        </p:nvSpPr>
        <p:spPr>
          <a:xfrm>
            <a:off x="9061704" y="2624328"/>
            <a:ext cx="2404872" cy="694944"/>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piece kinds + colors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letter / FEN helpers</a:t>
            </a:r>
            <a:endParaRPr lang="en-US" sz="1410" dirty="0"/>
          </a:p>
        </p:txBody>
      </p:sp>
      <p:sp>
        <p:nvSpPr>
          <p:cNvPr id="21" name="Shape 18"/>
          <p:cNvSpPr/>
          <p:nvPr/>
        </p:nvSpPr>
        <p:spPr>
          <a:xfrm>
            <a:off x="8915400" y="3886200"/>
            <a:ext cx="2697480" cy="1746504"/>
          </a:xfrm>
          <a:prstGeom prst="roundRect">
            <a:avLst>
              <a:gd name="adj" fmla="val 7330"/>
            </a:avLst>
          </a:prstGeom>
          <a:solidFill>
            <a:srgbClr val="111E31"/>
          </a:solidFill>
          <a:ln w="13970">
            <a:solidFill>
              <a:srgbClr val="79CAFF"/>
            </a:solidFill>
            <a:prstDash val="solid"/>
          </a:ln>
        </p:spPr>
      </p:sp>
      <p:sp>
        <p:nvSpPr>
          <p:cNvPr id="22" name="Text 19"/>
          <p:cNvSpPr/>
          <p:nvPr/>
        </p:nvSpPr>
        <p:spPr>
          <a:xfrm>
            <a:off x="9061704" y="3995928"/>
            <a:ext cx="240487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79CAFF"/>
                </a:solidFill>
                <a:latin typeface="Segoe UI" pitchFamily="34" charset="0"/>
                <a:ea typeface="Segoe UI" pitchFamily="34" charset="-122"/>
                <a:cs typeface="Segoe UI" pitchFamily="34" charset="-120"/>
              </a:rPr>
              <a:t>STATIC UTILITY</a:t>
            </a:r>
            <a:endParaRPr lang="en-US" sz="950" dirty="0"/>
          </a:p>
        </p:txBody>
      </p:sp>
      <p:sp>
        <p:nvSpPr>
          <p:cNvPr id="23" name="Text 20"/>
          <p:cNvSpPr/>
          <p:nvPr/>
        </p:nvSpPr>
        <p:spPr>
          <a:xfrm>
            <a:off x="9061704" y="4233672"/>
            <a:ext cx="240487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Square</a:t>
            </a:r>
            <a:endParaRPr lang="en-US" sz="1900" dirty="0"/>
          </a:p>
        </p:txBody>
      </p:sp>
      <p:sp>
        <p:nvSpPr>
          <p:cNvPr id="24" name="Shape 21"/>
          <p:cNvSpPr/>
          <p:nvPr/>
        </p:nvSpPr>
        <p:spPr>
          <a:xfrm>
            <a:off x="9061704" y="4672584"/>
            <a:ext cx="2404872" cy="914"/>
          </a:xfrm>
          <a:prstGeom prst="line">
            <a:avLst/>
          </a:prstGeom>
          <a:noFill/>
          <a:ln w="20320">
            <a:solidFill>
              <a:srgbClr val="2A3A51"/>
            </a:solidFill>
            <a:prstDash val="solid"/>
          </a:ln>
        </p:spPr>
      </p:sp>
      <p:sp>
        <p:nvSpPr>
          <p:cNvPr id="25" name="Text 22"/>
          <p:cNvSpPr/>
          <p:nvPr/>
        </p:nvSpPr>
        <p:spPr>
          <a:xfrm>
            <a:off x="9061704" y="4818888"/>
            <a:ext cx="2404872" cy="694944"/>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index &lt;-&gt; file / rank</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parse() / name()</a:t>
            </a:r>
            <a:endParaRPr lang="en-US" sz="1410" dirty="0"/>
          </a:p>
        </p:txBody>
      </p:sp>
      <p:sp>
        <p:nvSpPr>
          <p:cNvPr id="26" name="Shape 23"/>
          <p:cNvSpPr/>
          <p:nvPr/>
        </p:nvSpPr>
        <p:spPr>
          <a:xfrm>
            <a:off x="457200" y="4773168"/>
            <a:ext cx="2880360" cy="932688"/>
          </a:xfrm>
          <a:prstGeom prst="roundRect">
            <a:avLst>
              <a:gd name="adj" fmla="val 13725"/>
            </a:avLst>
          </a:prstGeom>
          <a:solidFill>
            <a:srgbClr val="16283B"/>
          </a:solidFill>
          <a:ln w="13970">
            <a:solidFill>
              <a:srgbClr val="69E3B5"/>
            </a:solidFill>
            <a:prstDash val="solid"/>
          </a:ln>
        </p:spPr>
      </p:sp>
      <p:sp>
        <p:nvSpPr>
          <p:cNvPr id="27" name="Text 24"/>
          <p:cNvSpPr/>
          <p:nvPr/>
        </p:nvSpPr>
        <p:spPr>
          <a:xfrm>
            <a:off x="603504" y="4864608"/>
            <a:ext cx="2587752" cy="274320"/>
          </a:xfrm>
          <a:prstGeom prst="rect">
            <a:avLst/>
          </a:prstGeom>
          <a:noFill/>
          <a:ln/>
        </p:spPr>
        <p:txBody>
          <a:bodyPr wrap="square" lIns="0" tIns="0" rIns="0" bIns="0" rtlCol="0" anchor="t"/>
          <a:lstStyle/>
          <a:p>
            <a:pPr indent="0" marL="0">
              <a:lnSpc>
                <a:spcPct val="100000"/>
              </a:lnSpc>
              <a:buNone/>
            </a:pPr>
            <a:r>
              <a:rPr lang="en-US" sz="1750" b="1" dirty="0">
                <a:solidFill>
                  <a:srgbClr val="69E3B5"/>
                </a:solidFill>
                <a:latin typeface="Segoe UI" pitchFamily="34" charset="0"/>
                <a:ea typeface="Segoe UI" pitchFamily="34" charset="-122"/>
                <a:cs typeface="Segoe UI" pitchFamily="34" charset="-120"/>
              </a:rPr>
              <a:t>Position.Undo</a:t>
            </a:r>
            <a:endParaRPr lang="en-US" sz="1750" dirty="0"/>
          </a:p>
        </p:txBody>
      </p:sp>
      <p:sp>
        <p:nvSpPr>
          <p:cNvPr id="28" name="Text 25"/>
          <p:cNvSpPr/>
          <p:nvPr/>
        </p:nvSpPr>
        <p:spPr>
          <a:xfrm>
            <a:off x="603504" y="5221224"/>
            <a:ext cx="2587752" cy="429768"/>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Changed values needed to reverse a move</a:t>
            </a:r>
            <a:endParaRPr lang="en-US" sz="1360" dirty="0"/>
          </a:p>
        </p:txBody>
      </p:sp>
      <p:sp>
        <p:nvSpPr>
          <p:cNvPr id="29" name="Shape 26"/>
          <p:cNvSpPr/>
          <p:nvPr/>
        </p:nvSpPr>
        <p:spPr>
          <a:xfrm>
            <a:off x="4572000" y="4773168"/>
            <a:ext cx="3474720" cy="932688"/>
          </a:xfrm>
          <a:prstGeom prst="roundRect">
            <a:avLst>
              <a:gd name="adj" fmla="val 13725"/>
            </a:avLst>
          </a:prstGeom>
          <a:solidFill>
            <a:srgbClr val="16283B"/>
          </a:solidFill>
          <a:ln w="13970">
            <a:solidFill>
              <a:srgbClr val="69E3B5"/>
            </a:solidFill>
            <a:prstDash val="solid"/>
          </a:ln>
        </p:spPr>
      </p:sp>
      <p:sp>
        <p:nvSpPr>
          <p:cNvPr id="30" name="Text 27"/>
          <p:cNvSpPr/>
          <p:nvPr/>
        </p:nvSpPr>
        <p:spPr>
          <a:xfrm>
            <a:off x="4718304" y="4864608"/>
            <a:ext cx="3182112" cy="274320"/>
          </a:xfrm>
          <a:prstGeom prst="rect">
            <a:avLst/>
          </a:prstGeom>
          <a:noFill/>
          <a:ln/>
        </p:spPr>
        <p:txBody>
          <a:bodyPr wrap="square" lIns="0" tIns="0" rIns="0" bIns="0" rtlCol="0" anchor="t"/>
          <a:lstStyle/>
          <a:p>
            <a:pPr indent="0" marL="0">
              <a:lnSpc>
                <a:spcPct val="100000"/>
              </a:lnSpc>
              <a:buNone/>
            </a:pPr>
            <a:r>
              <a:rPr lang="en-US" sz="1750" b="1" dirty="0">
                <a:solidFill>
                  <a:srgbClr val="69E3B5"/>
                </a:solidFill>
                <a:latin typeface="Segoe UI" pitchFamily="34" charset="0"/>
                <a:ea typeface="Segoe UI" pitchFamily="34" charset="-122"/>
                <a:cs typeface="Segoe UI" pitchFamily="34" charset="-120"/>
              </a:rPr>
              <a:t>Move</a:t>
            </a:r>
            <a:endParaRPr lang="en-US" sz="1750" dirty="0"/>
          </a:p>
        </p:txBody>
      </p:sp>
      <p:sp>
        <p:nvSpPr>
          <p:cNvPr id="31" name="Text 28"/>
          <p:cNvSpPr/>
          <p:nvPr/>
        </p:nvSpPr>
        <p:spPr>
          <a:xfrm>
            <a:off x="4718304" y="5221224"/>
            <a:ext cx="3182112" cy="429768"/>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record: from / to / promotion / flags</a:t>
            </a:r>
            <a:endParaRPr lang="en-US" sz="1360" dirty="0"/>
          </a:p>
        </p:txBody>
      </p:sp>
      <p:sp>
        <p:nvSpPr>
          <p:cNvPr id="32" name="Shape 29"/>
          <p:cNvSpPr/>
          <p:nvPr/>
        </p:nvSpPr>
        <p:spPr>
          <a:xfrm>
            <a:off x="3337560" y="3090672"/>
            <a:ext cx="1234440" cy="914"/>
          </a:xfrm>
          <a:prstGeom prst="line">
            <a:avLst/>
          </a:prstGeom>
          <a:noFill/>
          <a:ln w="20320">
            <a:solidFill>
              <a:srgbClr val="69E3B5"/>
            </a:solidFill>
            <a:prstDash val="solid"/>
            <a:tailEnd type="triangle"/>
          </a:ln>
        </p:spPr>
      </p:sp>
      <p:sp>
        <p:nvSpPr>
          <p:cNvPr id="33" name="Text 30"/>
          <p:cNvSpPr/>
          <p:nvPr/>
        </p:nvSpPr>
        <p:spPr>
          <a:xfrm>
            <a:off x="3410712" y="2734056"/>
            <a:ext cx="1078992"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owns a copy</a:t>
            </a:r>
            <a:endParaRPr lang="en-US" sz="1150" dirty="0"/>
          </a:p>
        </p:txBody>
      </p:sp>
      <p:sp>
        <p:nvSpPr>
          <p:cNvPr id="34" name="Shape 31"/>
          <p:cNvSpPr/>
          <p:nvPr/>
        </p:nvSpPr>
        <p:spPr>
          <a:xfrm>
            <a:off x="8046720" y="2606040"/>
            <a:ext cx="868680" cy="914"/>
          </a:xfrm>
          <a:prstGeom prst="line">
            <a:avLst/>
          </a:prstGeom>
          <a:noFill/>
          <a:ln w="20320">
            <a:solidFill>
              <a:srgbClr val="79CAFF"/>
            </a:solidFill>
            <a:prstDash val="solid"/>
            <a:tailEnd type="triangle"/>
          </a:ln>
        </p:spPr>
      </p:sp>
      <p:sp>
        <p:nvSpPr>
          <p:cNvPr id="35" name="Shape 32"/>
          <p:cNvSpPr/>
          <p:nvPr/>
        </p:nvSpPr>
        <p:spPr>
          <a:xfrm>
            <a:off x="8046720" y="3749040"/>
            <a:ext cx="429768" cy="914"/>
          </a:xfrm>
          <a:prstGeom prst="line">
            <a:avLst/>
          </a:prstGeom>
          <a:noFill/>
          <a:ln w="20320">
            <a:solidFill>
              <a:srgbClr val="79CAFF"/>
            </a:solidFill>
            <a:prstDash val="solid"/>
          </a:ln>
        </p:spPr>
      </p:sp>
      <p:sp>
        <p:nvSpPr>
          <p:cNvPr id="36" name="Shape 33"/>
          <p:cNvSpPr/>
          <p:nvPr/>
        </p:nvSpPr>
        <p:spPr>
          <a:xfrm>
            <a:off x="8476488" y="3749040"/>
            <a:ext cx="914" cy="1005840"/>
          </a:xfrm>
          <a:prstGeom prst="line">
            <a:avLst/>
          </a:prstGeom>
          <a:noFill/>
          <a:ln w="20320">
            <a:solidFill>
              <a:srgbClr val="79CAFF"/>
            </a:solidFill>
            <a:prstDash val="solid"/>
          </a:ln>
        </p:spPr>
      </p:sp>
      <p:sp>
        <p:nvSpPr>
          <p:cNvPr id="37" name="Shape 34"/>
          <p:cNvSpPr/>
          <p:nvPr/>
        </p:nvSpPr>
        <p:spPr>
          <a:xfrm>
            <a:off x="8476488" y="4754880"/>
            <a:ext cx="438912" cy="914"/>
          </a:xfrm>
          <a:prstGeom prst="line">
            <a:avLst/>
          </a:prstGeom>
          <a:noFill/>
          <a:ln w="20320">
            <a:solidFill>
              <a:srgbClr val="79CAFF"/>
            </a:solidFill>
            <a:prstDash val="solid"/>
            <a:tailEnd type="triangle"/>
          </a:ln>
        </p:spPr>
      </p:sp>
      <p:sp>
        <p:nvSpPr>
          <p:cNvPr id="38" name="Shape 35"/>
          <p:cNvSpPr/>
          <p:nvPr/>
        </p:nvSpPr>
        <p:spPr>
          <a:xfrm>
            <a:off x="1892808" y="4224528"/>
            <a:ext cx="914" cy="548640"/>
          </a:xfrm>
          <a:prstGeom prst="line">
            <a:avLst/>
          </a:prstGeom>
          <a:noFill/>
          <a:ln w="20320">
            <a:solidFill>
              <a:srgbClr val="69E3B5"/>
            </a:solidFill>
            <a:prstDash val="solid"/>
            <a:tailEnd type="triangle"/>
          </a:ln>
        </p:spPr>
      </p:sp>
      <p:sp>
        <p:nvSpPr>
          <p:cNvPr id="39" name="Text 36"/>
          <p:cNvSpPr/>
          <p:nvPr/>
        </p:nvSpPr>
        <p:spPr>
          <a:xfrm>
            <a:off x="768096" y="4389120"/>
            <a:ext cx="841248"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stores</a:t>
            </a:r>
            <a:endParaRPr lang="en-US" sz="1150" dirty="0"/>
          </a:p>
        </p:txBody>
      </p:sp>
      <p:sp>
        <p:nvSpPr>
          <p:cNvPr id="40" name="Shape 37"/>
          <p:cNvSpPr/>
          <p:nvPr/>
        </p:nvSpPr>
        <p:spPr>
          <a:xfrm>
            <a:off x="6309360" y="4224528"/>
            <a:ext cx="914" cy="548640"/>
          </a:xfrm>
          <a:prstGeom prst="line">
            <a:avLst/>
          </a:prstGeom>
          <a:noFill/>
          <a:ln w="20320">
            <a:solidFill>
              <a:srgbClr val="69E3B5"/>
            </a:solidFill>
            <a:prstDash val="solid"/>
            <a:tailEnd type="triangle"/>
          </a:ln>
        </p:spPr>
      </p:sp>
      <p:sp>
        <p:nvSpPr>
          <p:cNvPr id="41" name="Text 38"/>
          <p:cNvSpPr/>
          <p:nvPr/>
        </p:nvSpPr>
        <p:spPr>
          <a:xfrm>
            <a:off x="6428232" y="4407408"/>
            <a:ext cx="1078992"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generates</a:t>
            </a:r>
            <a:endParaRPr lang="en-US" sz="1150" dirty="0"/>
          </a:p>
        </p:txBody>
      </p:sp>
      <p:sp>
        <p:nvSpPr>
          <p:cNvPr id="42" name="Shape 39"/>
          <p:cNvSpPr/>
          <p:nvPr/>
        </p:nvSpPr>
        <p:spPr>
          <a:xfrm>
            <a:off x="4846320" y="4224528"/>
            <a:ext cx="914" cy="301752"/>
          </a:xfrm>
          <a:prstGeom prst="line">
            <a:avLst/>
          </a:prstGeom>
          <a:noFill/>
          <a:ln w="20320">
            <a:solidFill>
              <a:srgbClr val="79CAFF"/>
            </a:solidFill>
            <a:prstDash val="dash"/>
          </a:ln>
        </p:spPr>
      </p:sp>
      <p:sp>
        <p:nvSpPr>
          <p:cNvPr id="43" name="Shape 40"/>
          <p:cNvSpPr/>
          <p:nvPr/>
        </p:nvSpPr>
        <p:spPr>
          <a:xfrm>
            <a:off x="2907792" y="4526280"/>
            <a:ext cx="1938528" cy="914"/>
          </a:xfrm>
          <a:prstGeom prst="line">
            <a:avLst/>
          </a:prstGeom>
          <a:noFill/>
          <a:ln w="20320">
            <a:solidFill>
              <a:srgbClr val="79CAFF"/>
            </a:solidFill>
            <a:prstDash val="dash"/>
          </a:ln>
        </p:spPr>
      </p:sp>
      <p:sp>
        <p:nvSpPr>
          <p:cNvPr id="44" name="Shape 41"/>
          <p:cNvSpPr/>
          <p:nvPr/>
        </p:nvSpPr>
        <p:spPr>
          <a:xfrm>
            <a:off x="2907792" y="4526280"/>
            <a:ext cx="914" cy="246888"/>
          </a:xfrm>
          <a:prstGeom prst="line">
            <a:avLst/>
          </a:prstGeom>
          <a:noFill/>
          <a:ln w="20320">
            <a:solidFill>
              <a:srgbClr val="79CAFF"/>
            </a:solidFill>
            <a:prstDash val="dash"/>
            <a:tailEnd type="triangle"/>
          </a:ln>
        </p:spPr>
      </p:sp>
      <p:sp>
        <p:nvSpPr>
          <p:cNvPr id="45" name="Shape 42"/>
          <p:cNvSpPr/>
          <p:nvPr/>
        </p:nvSpPr>
        <p:spPr>
          <a:xfrm>
            <a:off x="457200" y="5934456"/>
            <a:ext cx="11274552" cy="411480"/>
          </a:xfrm>
          <a:prstGeom prst="roundRect">
            <a:avLst>
              <a:gd name="adj" fmla="val 31111"/>
            </a:avLst>
          </a:prstGeom>
          <a:solidFill>
            <a:srgbClr val="17322F"/>
          </a:solidFill>
          <a:ln w="13970">
            <a:solidFill>
              <a:srgbClr val="315D51"/>
            </a:solidFill>
            <a:prstDash val="solid"/>
          </a:ln>
        </p:spPr>
      </p:sp>
      <p:sp>
        <p:nvSpPr>
          <p:cNvPr id="46" name="Text 43"/>
          <p:cNvSpPr/>
          <p:nvPr/>
        </p:nvSpPr>
        <p:spPr>
          <a:xfrm>
            <a:off x="621792" y="6016752"/>
            <a:ext cx="10945368" cy="274320"/>
          </a:xfrm>
          <a:prstGeom prst="rect">
            <a:avLst/>
          </a:prstGeom>
          <a:noFill/>
          <a:ln/>
        </p:spPr>
        <p:txBody>
          <a:bodyPr wrap="square" lIns="0" tIns="0" rIns="0" bIns="0" rtlCol="0" anchor="t"/>
          <a:lstStyle/>
          <a:p>
            <a:pPr indent="0" marL="0">
              <a:lnSpc>
                <a:spcPct val="100000"/>
              </a:lnSpc>
              <a:buNone/>
            </a:pPr>
            <a:r>
              <a:rPr lang="en-US" sz="1510" dirty="0">
                <a:solidFill>
                  <a:srgbClr val="69E3B5"/>
                </a:solidFill>
                <a:latin typeface="Segoe UI" pitchFamily="34" charset="0"/>
                <a:ea typeface="Segoe UI" pitchFamily="34" charset="-122"/>
                <a:cs typeface="Segoe UI" pitchFamily="34" charset="-120"/>
              </a:rPr>
              <a:t>Think in three categories: immutable values, a mutable position, and a game that remembers what happened.</a:t>
            </a:r>
            <a:endParaRPr lang="en-US" sz="1510" dirty="0"/>
          </a:p>
        </p:txBody>
      </p:sp>
      <p:sp>
        <p:nvSpPr>
          <p:cNvPr id="47" name="Shape 44"/>
          <p:cNvSpPr/>
          <p:nvPr/>
        </p:nvSpPr>
        <p:spPr>
          <a:xfrm>
            <a:off x="420624" y="6455664"/>
            <a:ext cx="11356848" cy="914"/>
          </a:xfrm>
          <a:prstGeom prst="line">
            <a:avLst/>
          </a:prstGeom>
          <a:noFill/>
          <a:ln w="20320">
            <a:solidFill>
              <a:srgbClr val="2A3A51"/>
            </a:solidFill>
            <a:prstDash val="solid"/>
          </a:ln>
        </p:spPr>
      </p:sp>
      <p:sp>
        <p:nvSpPr>
          <p:cNvPr id="48" name="Text 45"/>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49" name="Text 46"/>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50" name="Text 47"/>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03 / 14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Position + Undo: fast, reversible state</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Search can explore many candidates without copying all 64 squares at every node.</a:t>
            </a:r>
            <a:endParaRPr lang="en-US" sz="1410" dirty="0"/>
          </a:p>
        </p:txBody>
      </p:sp>
      <p:sp>
        <p:nvSpPr>
          <p:cNvPr id="6" name="Shape 3"/>
          <p:cNvSpPr/>
          <p:nvPr/>
        </p:nvSpPr>
        <p:spPr>
          <a:xfrm>
            <a:off x="457200" y="1874520"/>
            <a:ext cx="5303520" cy="3520440"/>
          </a:xfrm>
          <a:prstGeom prst="roundRect">
            <a:avLst>
              <a:gd name="adj" fmla="val 3636"/>
            </a:avLst>
          </a:prstGeom>
          <a:solidFill>
            <a:srgbClr val="111E31"/>
          </a:solidFill>
          <a:ln w="13970">
            <a:solidFill>
              <a:srgbClr val="69E3B5"/>
            </a:solidFill>
            <a:prstDash val="solid"/>
          </a:ln>
        </p:spPr>
      </p:sp>
      <p:sp>
        <p:nvSpPr>
          <p:cNvPr id="7" name="Text 4"/>
          <p:cNvSpPr/>
          <p:nvPr/>
        </p:nvSpPr>
        <p:spPr>
          <a:xfrm>
            <a:off x="603504" y="1984248"/>
            <a:ext cx="501091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MUTABLE OBJECT</a:t>
            </a:r>
            <a:endParaRPr lang="en-US" sz="950" dirty="0"/>
          </a:p>
        </p:txBody>
      </p:sp>
      <p:sp>
        <p:nvSpPr>
          <p:cNvPr id="8" name="Text 5"/>
          <p:cNvSpPr/>
          <p:nvPr/>
        </p:nvSpPr>
        <p:spPr>
          <a:xfrm>
            <a:off x="603504" y="2221992"/>
            <a:ext cx="501091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Position</a:t>
            </a:r>
            <a:endParaRPr lang="en-US" sz="1900" dirty="0"/>
          </a:p>
        </p:txBody>
      </p:sp>
      <p:sp>
        <p:nvSpPr>
          <p:cNvPr id="9" name="Shape 6"/>
          <p:cNvSpPr/>
          <p:nvPr/>
        </p:nvSpPr>
        <p:spPr>
          <a:xfrm>
            <a:off x="603504" y="2660904"/>
            <a:ext cx="5010912" cy="914"/>
          </a:xfrm>
          <a:prstGeom prst="line">
            <a:avLst/>
          </a:prstGeom>
          <a:noFill/>
          <a:ln w="20320">
            <a:solidFill>
              <a:srgbClr val="2A3A51"/>
            </a:solidFill>
            <a:prstDash val="solid"/>
          </a:ln>
        </p:spPr>
      </p:sp>
      <p:sp>
        <p:nvSpPr>
          <p:cNvPr id="10" name="Text 7"/>
          <p:cNvSpPr/>
          <p:nvPr/>
        </p:nvSpPr>
        <p:spPr>
          <a:xfrm>
            <a:off x="603504" y="2807208"/>
            <a:ext cx="5010912" cy="246888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board: int[64]</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sideToMove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castlingRights / enPassantSquare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halfmoveClock / fullmoveNumber</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whiteKing / blackKing</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key: long</a:t>
            </a:r>
            <a:endParaRPr lang="en-US" sz="1410" dirty="0"/>
          </a:p>
        </p:txBody>
      </p:sp>
      <p:sp>
        <p:nvSpPr>
          <p:cNvPr id="11" name="Shape 8"/>
          <p:cNvSpPr/>
          <p:nvPr/>
        </p:nvSpPr>
        <p:spPr>
          <a:xfrm>
            <a:off x="6766560" y="1874520"/>
            <a:ext cx="4965192" cy="3520440"/>
          </a:xfrm>
          <a:prstGeom prst="roundRect">
            <a:avLst>
              <a:gd name="adj" fmla="val 3636"/>
            </a:avLst>
          </a:prstGeom>
          <a:solidFill>
            <a:srgbClr val="111E31"/>
          </a:solidFill>
          <a:ln w="13970">
            <a:solidFill>
              <a:srgbClr val="79CAFF"/>
            </a:solidFill>
            <a:prstDash val="solid"/>
          </a:ln>
        </p:spPr>
      </p:sp>
      <p:sp>
        <p:nvSpPr>
          <p:cNvPr id="12" name="Text 9"/>
          <p:cNvSpPr/>
          <p:nvPr/>
        </p:nvSpPr>
        <p:spPr>
          <a:xfrm>
            <a:off x="6912864" y="1984248"/>
            <a:ext cx="4672584"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79CAFF"/>
                </a:solidFill>
                <a:latin typeface="Segoe UI" pitchFamily="34" charset="0"/>
                <a:ea typeface="Segoe UI" pitchFamily="34" charset="-122"/>
                <a:cs typeface="Segoe UI" pitchFamily="34" charset="-120"/>
              </a:rPr>
              <a:t>IMMUTABLE NESTED RECORD</a:t>
            </a:r>
            <a:endParaRPr lang="en-US" sz="950" dirty="0"/>
          </a:p>
        </p:txBody>
      </p:sp>
      <p:sp>
        <p:nvSpPr>
          <p:cNvPr id="13" name="Text 10"/>
          <p:cNvSpPr/>
          <p:nvPr/>
        </p:nvSpPr>
        <p:spPr>
          <a:xfrm>
            <a:off x="6912864" y="2221992"/>
            <a:ext cx="4672584"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Position.Undo</a:t>
            </a:r>
            <a:endParaRPr lang="en-US" sz="1900" dirty="0"/>
          </a:p>
        </p:txBody>
      </p:sp>
      <p:sp>
        <p:nvSpPr>
          <p:cNvPr id="14" name="Shape 11"/>
          <p:cNvSpPr/>
          <p:nvPr/>
        </p:nvSpPr>
        <p:spPr>
          <a:xfrm>
            <a:off x="6912864" y="2660904"/>
            <a:ext cx="4672584" cy="914"/>
          </a:xfrm>
          <a:prstGeom prst="line">
            <a:avLst/>
          </a:prstGeom>
          <a:noFill/>
          <a:ln w="20320">
            <a:solidFill>
              <a:srgbClr val="2A3A51"/>
            </a:solidFill>
            <a:prstDash val="solid"/>
          </a:ln>
        </p:spPr>
      </p:sp>
      <p:sp>
        <p:nvSpPr>
          <p:cNvPr id="15" name="Text 12"/>
          <p:cNvSpPr/>
          <p:nvPr/>
        </p:nvSpPr>
        <p:spPr>
          <a:xfrm>
            <a:off x="6912864" y="2807208"/>
            <a:ext cx="4672584" cy="246888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move / movedPiece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capturedPiece / capturedSquare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previous rights + en passant</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previous clocks + king squares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previous key</a:t>
            </a:r>
            <a:endParaRPr lang="en-US" sz="1410" dirty="0"/>
          </a:p>
        </p:txBody>
      </p:sp>
      <p:sp>
        <p:nvSpPr>
          <p:cNvPr id="16" name="Shape 13"/>
          <p:cNvSpPr/>
          <p:nvPr/>
        </p:nvSpPr>
        <p:spPr>
          <a:xfrm>
            <a:off x="5760720" y="2971800"/>
            <a:ext cx="1005840" cy="914"/>
          </a:xfrm>
          <a:prstGeom prst="line">
            <a:avLst/>
          </a:prstGeom>
          <a:noFill/>
          <a:ln w="20320">
            <a:solidFill>
              <a:srgbClr val="69E3B5"/>
            </a:solidFill>
            <a:prstDash val="solid"/>
            <a:tailEnd type="triangle"/>
          </a:ln>
        </p:spPr>
      </p:sp>
      <p:sp>
        <p:nvSpPr>
          <p:cNvPr id="17" name="Text 14"/>
          <p:cNvSpPr/>
          <p:nvPr/>
        </p:nvSpPr>
        <p:spPr>
          <a:xfrm>
            <a:off x="5779008" y="2587752"/>
            <a:ext cx="969264"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makeMove</a:t>
            </a:r>
            <a:endParaRPr lang="en-US" sz="1150" dirty="0"/>
          </a:p>
        </p:txBody>
      </p:sp>
      <p:sp>
        <p:nvSpPr>
          <p:cNvPr id="18" name="Shape 15"/>
          <p:cNvSpPr/>
          <p:nvPr/>
        </p:nvSpPr>
        <p:spPr>
          <a:xfrm>
            <a:off x="5760720" y="4343400"/>
            <a:ext cx="1005840" cy="914"/>
          </a:xfrm>
          <a:prstGeom prst="line">
            <a:avLst/>
          </a:prstGeom>
          <a:noFill/>
          <a:ln w="20320">
            <a:solidFill>
              <a:srgbClr val="79CAFF"/>
            </a:solidFill>
            <a:prstDash val="solid"/>
            <a:headEnd type="triangle"/>
          </a:ln>
        </p:spPr>
      </p:sp>
      <p:sp>
        <p:nvSpPr>
          <p:cNvPr id="19" name="Text 16"/>
          <p:cNvSpPr/>
          <p:nvPr/>
        </p:nvSpPr>
        <p:spPr>
          <a:xfrm>
            <a:off x="5769864" y="3913632"/>
            <a:ext cx="987552"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unmakeMove</a:t>
            </a:r>
            <a:endParaRPr lang="en-US" sz="1150" dirty="0"/>
          </a:p>
        </p:txBody>
      </p:sp>
      <p:sp>
        <p:nvSpPr>
          <p:cNvPr id="20" name="Shape 17"/>
          <p:cNvSpPr/>
          <p:nvPr/>
        </p:nvSpPr>
        <p:spPr>
          <a:xfrm>
            <a:off x="457200" y="5742432"/>
            <a:ext cx="11274552" cy="521208"/>
          </a:xfrm>
          <a:prstGeom prst="roundRect">
            <a:avLst>
              <a:gd name="adj" fmla="val 24561"/>
            </a:avLst>
          </a:prstGeom>
          <a:solidFill>
            <a:srgbClr val="17322F"/>
          </a:solidFill>
          <a:ln w="13970">
            <a:solidFill>
              <a:srgbClr val="315D51"/>
            </a:solidFill>
            <a:prstDash val="solid"/>
          </a:ln>
        </p:spPr>
      </p:sp>
      <p:sp>
        <p:nvSpPr>
          <p:cNvPr id="21" name="Text 18"/>
          <p:cNvSpPr/>
          <p:nvPr/>
        </p:nvSpPr>
        <p:spPr>
          <a:xfrm>
            <a:off x="621792" y="5824728"/>
            <a:ext cx="10945368" cy="384048"/>
          </a:xfrm>
          <a:prstGeom prst="rect">
            <a:avLst/>
          </a:prstGeom>
          <a:noFill/>
          <a:ln/>
        </p:spPr>
        <p:txBody>
          <a:bodyPr wrap="square" lIns="0" tIns="0" rIns="0" bIns="0" rtlCol="0" anchor="t"/>
          <a:lstStyle/>
          <a:p>
            <a:pPr indent="0" marL="0">
              <a:lnSpc>
                <a:spcPct val="100000"/>
              </a:lnSpc>
              <a:buNone/>
            </a:pPr>
            <a:r>
              <a:rPr lang="en-US" sz="1510" dirty="0">
                <a:solidFill>
                  <a:srgbClr val="69E3B5"/>
                </a:solidFill>
                <a:latin typeface="Segoe UI" pitchFamily="34" charset="0"/>
                <a:ea typeface="Segoe UI" pitchFamily="34" charset="-122"/>
                <a:cs typeface="Segoe UI" pitchFamily="34" charset="-120"/>
              </a:rPr>
              <a:t>Invariant: making and unmaking a move restores the original board, rule state, counters, and hash.</a:t>
            </a:r>
            <a:endParaRPr lang="en-US" sz="1510" dirty="0"/>
          </a:p>
        </p:txBody>
      </p:sp>
      <p:sp>
        <p:nvSpPr>
          <p:cNvPr id="22" name="Shape 19"/>
          <p:cNvSpPr/>
          <p:nvPr/>
        </p:nvSpPr>
        <p:spPr>
          <a:xfrm>
            <a:off x="420624" y="6455664"/>
            <a:ext cx="11356848" cy="914"/>
          </a:xfrm>
          <a:prstGeom prst="line">
            <a:avLst/>
          </a:prstGeom>
          <a:noFill/>
          <a:ln w="20320">
            <a:solidFill>
              <a:srgbClr val="2A3A51"/>
            </a:solidFill>
            <a:prstDash val="solid"/>
          </a:ln>
        </p:spPr>
      </p:sp>
      <p:sp>
        <p:nvSpPr>
          <p:cNvPr id="23" name="Text 20"/>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24" name="Text 21"/>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25" name="Text 22"/>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04 / 14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Game turns a position into a played game</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User-facing changes go through a validated domain operation.</a:t>
            </a:r>
            <a:endParaRPr lang="en-US" sz="1410" dirty="0"/>
          </a:p>
        </p:txBody>
      </p:sp>
      <p:sp>
        <p:nvSpPr>
          <p:cNvPr id="6" name="Shape 3"/>
          <p:cNvSpPr/>
          <p:nvPr/>
        </p:nvSpPr>
        <p:spPr>
          <a:xfrm>
            <a:off x="457200" y="1874520"/>
            <a:ext cx="4023360" cy="3822192"/>
          </a:xfrm>
          <a:prstGeom prst="roundRect">
            <a:avLst>
              <a:gd name="adj" fmla="val 3349"/>
            </a:avLst>
          </a:prstGeom>
          <a:solidFill>
            <a:srgbClr val="111E31"/>
          </a:solidFill>
          <a:ln w="13970">
            <a:solidFill>
              <a:srgbClr val="69E3B5"/>
            </a:solidFill>
            <a:prstDash val="solid"/>
          </a:ln>
        </p:spPr>
      </p:sp>
      <p:sp>
        <p:nvSpPr>
          <p:cNvPr id="7" name="Text 4"/>
          <p:cNvSpPr/>
          <p:nvPr/>
        </p:nvSpPr>
        <p:spPr>
          <a:xfrm>
            <a:off x="603504" y="1984248"/>
            <a:ext cx="373075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HISTORY + RESULTS</a:t>
            </a:r>
            <a:endParaRPr lang="en-US" sz="950" dirty="0"/>
          </a:p>
        </p:txBody>
      </p:sp>
      <p:sp>
        <p:nvSpPr>
          <p:cNvPr id="8" name="Text 5"/>
          <p:cNvSpPr/>
          <p:nvPr/>
        </p:nvSpPr>
        <p:spPr>
          <a:xfrm>
            <a:off x="603504" y="2221992"/>
            <a:ext cx="373075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Game</a:t>
            </a:r>
            <a:endParaRPr lang="en-US" sz="1900" dirty="0"/>
          </a:p>
        </p:txBody>
      </p:sp>
      <p:sp>
        <p:nvSpPr>
          <p:cNvPr id="9" name="Shape 6"/>
          <p:cNvSpPr/>
          <p:nvPr/>
        </p:nvSpPr>
        <p:spPr>
          <a:xfrm>
            <a:off x="603504" y="2660904"/>
            <a:ext cx="3730752" cy="914"/>
          </a:xfrm>
          <a:prstGeom prst="line">
            <a:avLst/>
          </a:prstGeom>
          <a:noFill/>
          <a:ln w="20320">
            <a:solidFill>
              <a:srgbClr val="2A3A51"/>
            </a:solidFill>
            <a:prstDash val="solid"/>
          </a:ln>
        </p:spPr>
      </p:sp>
      <p:sp>
        <p:nvSpPr>
          <p:cNvPr id="10" name="Text 7"/>
          <p:cNvSpPr/>
          <p:nvPr/>
        </p:nvSpPr>
        <p:spPr>
          <a:xfrm>
            <a:off x="603504" y="2807208"/>
            <a:ext cx="3730752" cy="2770632"/>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play(Move) -&gt; PlayedMove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undo()</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outcome() -&gt; Outcome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moves() / positionKeys()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position(): live Position</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  read-only by convention</a:t>
            </a:r>
            <a:endParaRPr lang="en-US" sz="1410" dirty="0"/>
          </a:p>
        </p:txBody>
      </p:sp>
      <p:sp>
        <p:nvSpPr>
          <p:cNvPr id="11" name="Shape 8"/>
          <p:cNvSpPr/>
          <p:nvPr/>
        </p:nvSpPr>
        <p:spPr>
          <a:xfrm>
            <a:off x="5212080" y="1874520"/>
            <a:ext cx="6510528" cy="1024128"/>
          </a:xfrm>
          <a:prstGeom prst="roundRect">
            <a:avLst>
              <a:gd name="adj" fmla="val 12500"/>
            </a:avLst>
          </a:prstGeom>
          <a:solidFill>
            <a:srgbClr val="16283B"/>
          </a:solidFill>
          <a:ln w="13970">
            <a:solidFill>
              <a:srgbClr val="69E3B5"/>
            </a:solidFill>
            <a:prstDash val="solid"/>
          </a:ln>
        </p:spPr>
      </p:sp>
      <p:sp>
        <p:nvSpPr>
          <p:cNvPr id="12" name="Text 9"/>
          <p:cNvSpPr/>
          <p:nvPr/>
        </p:nvSpPr>
        <p:spPr>
          <a:xfrm>
            <a:off x="5358384" y="1965960"/>
            <a:ext cx="6217920" cy="274320"/>
          </a:xfrm>
          <a:prstGeom prst="rect">
            <a:avLst/>
          </a:prstGeom>
          <a:noFill/>
          <a:ln/>
        </p:spPr>
        <p:txBody>
          <a:bodyPr wrap="square" lIns="0" tIns="0" rIns="0" bIns="0" rtlCol="0" anchor="t"/>
          <a:lstStyle/>
          <a:p>
            <a:pPr indent="0" marL="0">
              <a:lnSpc>
                <a:spcPct val="100000"/>
              </a:lnSpc>
              <a:buNone/>
            </a:pPr>
            <a:r>
              <a:rPr lang="en-US" sz="1750" b="1" dirty="0">
                <a:solidFill>
                  <a:srgbClr val="69E3B5"/>
                </a:solidFill>
                <a:latin typeface="Segoe UI" pitchFamily="34" charset="0"/>
                <a:ea typeface="Segoe UI" pitchFamily="34" charset="-122"/>
                <a:cs typeface="Segoe UI" pitchFamily="34" charset="-120"/>
              </a:rPr>
              <a:t>Position</a:t>
            </a:r>
            <a:endParaRPr lang="en-US" sz="1750" dirty="0"/>
          </a:p>
        </p:txBody>
      </p:sp>
      <p:sp>
        <p:nvSpPr>
          <p:cNvPr id="13" name="Text 10"/>
          <p:cNvSpPr/>
          <p:nvPr/>
        </p:nvSpPr>
        <p:spPr>
          <a:xfrm>
            <a:off x="5358384" y="2322576"/>
            <a:ext cx="6217920" cy="521208"/>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Current board, turn, special-move rights, and counters</a:t>
            </a:r>
            <a:endParaRPr lang="en-US" sz="1360" dirty="0"/>
          </a:p>
        </p:txBody>
      </p:sp>
      <p:sp>
        <p:nvSpPr>
          <p:cNvPr id="14" name="Shape 11"/>
          <p:cNvSpPr/>
          <p:nvPr/>
        </p:nvSpPr>
        <p:spPr>
          <a:xfrm>
            <a:off x="5212080" y="3236976"/>
            <a:ext cx="6510528" cy="1024128"/>
          </a:xfrm>
          <a:prstGeom prst="roundRect">
            <a:avLst>
              <a:gd name="adj" fmla="val 12500"/>
            </a:avLst>
          </a:prstGeom>
          <a:solidFill>
            <a:srgbClr val="16283B"/>
          </a:solidFill>
          <a:ln w="13970">
            <a:solidFill>
              <a:srgbClr val="79CAFF"/>
            </a:solidFill>
            <a:prstDash val="solid"/>
          </a:ln>
        </p:spPr>
      </p:sp>
      <p:sp>
        <p:nvSpPr>
          <p:cNvPr id="15" name="Text 12"/>
          <p:cNvSpPr/>
          <p:nvPr/>
        </p:nvSpPr>
        <p:spPr>
          <a:xfrm>
            <a:off x="5358384" y="3328416"/>
            <a:ext cx="6217920" cy="274320"/>
          </a:xfrm>
          <a:prstGeom prst="rect">
            <a:avLst/>
          </a:prstGeom>
          <a:noFill/>
          <a:ln/>
        </p:spPr>
        <p:txBody>
          <a:bodyPr wrap="square" lIns="0" tIns="0" rIns="0" bIns="0" rtlCol="0" anchor="t"/>
          <a:lstStyle/>
          <a:p>
            <a:pPr indent="0" marL="0">
              <a:lnSpc>
                <a:spcPct val="100000"/>
              </a:lnSpc>
              <a:buNone/>
            </a:pPr>
            <a:r>
              <a:rPr lang="en-US" sz="1750" b="1" dirty="0">
                <a:solidFill>
                  <a:srgbClr val="79CAFF"/>
                </a:solidFill>
                <a:latin typeface="Segoe UI" pitchFamily="34" charset="0"/>
                <a:ea typeface="Segoe UI" pitchFamily="34" charset="-122"/>
                <a:cs typeface="Segoe UI" pitchFamily="34" charset="-120"/>
              </a:rPr>
              <a:t>History lists</a:t>
            </a:r>
            <a:endParaRPr lang="en-US" sz="1750" dirty="0"/>
          </a:p>
        </p:txBody>
      </p:sp>
      <p:sp>
        <p:nvSpPr>
          <p:cNvPr id="16" name="Text 13"/>
          <p:cNvSpPr/>
          <p:nvPr/>
        </p:nvSpPr>
        <p:spPr>
          <a:xfrm>
            <a:off x="5358384" y="3685032"/>
            <a:ext cx="6217920" cy="521208"/>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Undo records; PlayedMove records; repetition position keys</a:t>
            </a:r>
            <a:endParaRPr lang="en-US" sz="1360" dirty="0"/>
          </a:p>
        </p:txBody>
      </p:sp>
      <p:sp>
        <p:nvSpPr>
          <p:cNvPr id="17" name="Shape 14"/>
          <p:cNvSpPr/>
          <p:nvPr/>
        </p:nvSpPr>
        <p:spPr>
          <a:xfrm>
            <a:off x="5212080" y="4599432"/>
            <a:ext cx="6510528" cy="1024128"/>
          </a:xfrm>
          <a:prstGeom prst="roundRect">
            <a:avLst>
              <a:gd name="adj" fmla="val 12500"/>
            </a:avLst>
          </a:prstGeom>
          <a:solidFill>
            <a:srgbClr val="16283B"/>
          </a:solidFill>
          <a:ln w="13970">
            <a:solidFill>
              <a:srgbClr val="F6CD86"/>
            </a:solidFill>
            <a:prstDash val="solid"/>
          </a:ln>
        </p:spPr>
      </p:sp>
      <p:sp>
        <p:nvSpPr>
          <p:cNvPr id="18" name="Text 15"/>
          <p:cNvSpPr/>
          <p:nvPr/>
        </p:nvSpPr>
        <p:spPr>
          <a:xfrm>
            <a:off x="5358384" y="4690872"/>
            <a:ext cx="6217920" cy="274320"/>
          </a:xfrm>
          <a:prstGeom prst="rect">
            <a:avLst/>
          </a:prstGeom>
          <a:noFill/>
          <a:ln/>
        </p:spPr>
        <p:txBody>
          <a:bodyPr wrap="square" lIns="0" tIns="0" rIns="0" bIns="0" rtlCol="0" anchor="t"/>
          <a:lstStyle/>
          <a:p>
            <a:pPr indent="0" marL="0">
              <a:lnSpc>
                <a:spcPct val="100000"/>
              </a:lnSpc>
              <a:buNone/>
            </a:pPr>
            <a:r>
              <a:rPr lang="en-US" sz="1750" b="1" dirty="0">
                <a:solidFill>
                  <a:srgbClr val="F6CD86"/>
                </a:solidFill>
                <a:latin typeface="Segoe UI" pitchFamily="34" charset="0"/>
                <a:ea typeface="Segoe UI" pitchFamily="34" charset="-122"/>
                <a:cs typeface="Segoe UI" pitchFamily="34" charset="-120"/>
              </a:rPr>
              <a:t>Outcome + EndReason</a:t>
            </a:r>
            <a:endParaRPr lang="en-US" sz="1750" dirty="0"/>
          </a:p>
        </p:txBody>
      </p:sp>
      <p:sp>
        <p:nvSpPr>
          <p:cNvPr id="19" name="Text 16"/>
          <p:cNvSpPr/>
          <p:nvPr/>
        </p:nvSpPr>
        <p:spPr>
          <a:xfrm>
            <a:off x="5358384" y="5047488"/>
            <a:ext cx="6217920" cy="521208"/>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Playing, mate, stalemate, or an automatically claimed draw</a:t>
            </a:r>
            <a:endParaRPr lang="en-US" sz="1360" dirty="0"/>
          </a:p>
        </p:txBody>
      </p:sp>
      <p:sp>
        <p:nvSpPr>
          <p:cNvPr id="20" name="Shape 17"/>
          <p:cNvSpPr/>
          <p:nvPr/>
        </p:nvSpPr>
        <p:spPr>
          <a:xfrm>
            <a:off x="4480560" y="2386584"/>
            <a:ext cx="731520" cy="914"/>
          </a:xfrm>
          <a:prstGeom prst="line">
            <a:avLst/>
          </a:prstGeom>
          <a:noFill/>
          <a:ln w="20320">
            <a:solidFill>
              <a:srgbClr val="69E3B5"/>
            </a:solidFill>
            <a:prstDash val="solid"/>
            <a:tailEnd type="triangle"/>
          </a:ln>
        </p:spPr>
      </p:sp>
      <p:sp>
        <p:nvSpPr>
          <p:cNvPr id="21" name="Shape 18"/>
          <p:cNvSpPr/>
          <p:nvPr/>
        </p:nvSpPr>
        <p:spPr>
          <a:xfrm>
            <a:off x="4480560" y="3749040"/>
            <a:ext cx="731520" cy="914"/>
          </a:xfrm>
          <a:prstGeom prst="line">
            <a:avLst/>
          </a:prstGeom>
          <a:noFill/>
          <a:ln w="20320">
            <a:solidFill>
              <a:srgbClr val="69E3B5"/>
            </a:solidFill>
            <a:prstDash val="solid"/>
            <a:tailEnd type="triangle"/>
          </a:ln>
        </p:spPr>
      </p:sp>
      <p:sp>
        <p:nvSpPr>
          <p:cNvPr id="22" name="Shape 19"/>
          <p:cNvSpPr/>
          <p:nvPr/>
        </p:nvSpPr>
        <p:spPr>
          <a:xfrm>
            <a:off x="4480560" y="5111496"/>
            <a:ext cx="731520" cy="914"/>
          </a:xfrm>
          <a:prstGeom prst="line">
            <a:avLst/>
          </a:prstGeom>
          <a:noFill/>
          <a:ln w="20320">
            <a:solidFill>
              <a:srgbClr val="69E3B5"/>
            </a:solidFill>
            <a:prstDash val="solid"/>
            <a:tailEnd type="triangle"/>
          </a:ln>
        </p:spPr>
      </p:sp>
      <p:sp>
        <p:nvSpPr>
          <p:cNvPr id="23" name="Shape 20"/>
          <p:cNvSpPr/>
          <p:nvPr/>
        </p:nvSpPr>
        <p:spPr>
          <a:xfrm>
            <a:off x="457200" y="5952744"/>
            <a:ext cx="11274552" cy="393192"/>
          </a:xfrm>
          <a:prstGeom prst="roundRect">
            <a:avLst>
              <a:gd name="adj" fmla="val 32558"/>
            </a:avLst>
          </a:prstGeom>
          <a:solidFill>
            <a:srgbClr val="17322F"/>
          </a:solidFill>
          <a:ln w="13970">
            <a:solidFill>
              <a:srgbClr val="315D51"/>
            </a:solidFill>
            <a:prstDash val="solid"/>
          </a:ln>
        </p:spPr>
      </p:sp>
      <p:sp>
        <p:nvSpPr>
          <p:cNvPr id="24" name="Text 21"/>
          <p:cNvSpPr/>
          <p:nvPr/>
        </p:nvSpPr>
        <p:spPr>
          <a:xfrm>
            <a:off x="621792" y="6035040"/>
            <a:ext cx="10945368" cy="256032"/>
          </a:xfrm>
          <a:prstGeom prst="rect">
            <a:avLst/>
          </a:prstGeom>
          <a:noFill/>
          <a:ln/>
        </p:spPr>
        <p:txBody>
          <a:bodyPr wrap="square" lIns="0" tIns="0" rIns="0" bIns="0" rtlCol="0" anchor="t"/>
          <a:lstStyle/>
          <a:p>
            <a:pPr indent="0" marL="0">
              <a:lnSpc>
                <a:spcPct val="100000"/>
              </a:lnSpc>
              <a:buNone/>
            </a:pPr>
            <a:r>
              <a:rPr lang="en-US" sz="1510" dirty="0">
                <a:solidFill>
                  <a:srgbClr val="69E3B5"/>
                </a:solidFill>
                <a:latin typeface="Segoe UI" pitchFamily="34" charset="0"/>
                <a:ea typeface="Segoe UI" pitchFamily="34" charset="-122"/>
                <a:cs typeface="Segoe UI" pitchFamily="34" charset="-120"/>
              </a:rPr>
              <a:t>FEN recreates a position. It cannot recreate earlier repetitions or a complete played game.</a:t>
            </a:r>
            <a:endParaRPr lang="en-US" sz="1510" dirty="0"/>
          </a:p>
        </p:txBody>
      </p:sp>
      <p:sp>
        <p:nvSpPr>
          <p:cNvPr id="25" name="Shape 22"/>
          <p:cNvSpPr/>
          <p:nvPr/>
        </p:nvSpPr>
        <p:spPr>
          <a:xfrm>
            <a:off x="420624" y="6455664"/>
            <a:ext cx="11356848" cy="914"/>
          </a:xfrm>
          <a:prstGeom prst="line">
            <a:avLst/>
          </a:prstGeom>
          <a:noFill/>
          <a:ln w="20320">
            <a:solidFill>
              <a:srgbClr val="2A3A51"/>
            </a:solidFill>
            <a:prstDash val="solid"/>
          </a:ln>
        </p:spPr>
      </p:sp>
      <p:sp>
        <p:nvSpPr>
          <p:cNvPr id="26" name="Text 23"/>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27" name="Text 24"/>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28" name="Text 25"/>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05 / 14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Engine: one search, explicit collaborators</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The search owns its working state and returns immutable messages, not UI mutations.</a:t>
            </a:r>
            <a:endParaRPr lang="en-US" sz="1410" dirty="0"/>
          </a:p>
        </p:txBody>
      </p:sp>
      <p:sp>
        <p:nvSpPr>
          <p:cNvPr id="6" name="Shape 3"/>
          <p:cNvSpPr/>
          <p:nvPr/>
        </p:nvSpPr>
        <p:spPr>
          <a:xfrm>
            <a:off x="457200" y="1773936"/>
            <a:ext cx="2971800" cy="1627632"/>
          </a:xfrm>
          <a:prstGeom prst="roundRect">
            <a:avLst>
              <a:gd name="adj" fmla="val 7865"/>
            </a:avLst>
          </a:prstGeom>
          <a:solidFill>
            <a:srgbClr val="111E31"/>
          </a:solidFill>
          <a:ln w="13970">
            <a:solidFill>
              <a:srgbClr val="79CAFF"/>
            </a:solidFill>
            <a:prstDash val="solid"/>
          </a:ln>
        </p:spPr>
      </p:sp>
      <p:sp>
        <p:nvSpPr>
          <p:cNvPr id="7" name="Text 4"/>
          <p:cNvSpPr/>
          <p:nvPr/>
        </p:nvSpPr>
        <p:spPr>
          <a:xfrm>
            <a:off x="603504" y="1883664"/>
            <a:ext cx="267919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79CAFF"/>
                </a:solidFill>
                <a:latin typeface="Segoe UI" pitchFamily="34" charset="0"/>
                <a:ea typeface="Segoe UI" pitchFamily="34" charset="-122"/>
                <a:cs typeface="Segoe UI" pitchFamily="34" charset="-120"/>
              </a:rPr>
              <a:t>IMMUTABLE INPUT</a:t>
            </a:r>
            <a:endParaRPr lang="en-US" sz="950" dirty="0"/>
          </a:p>
        </p:txBody>
      </p:sp>
      <p:sp>
        <p:nvSpPr>
          <p:cNvPr id="8" name="Text 5"/>
          <p:cNvSpPr/>
          <p:nvPr/>
        </p:nvSpPr>
        <p:spPr>
          <a:xfrm>
            <a:off x="603504" y="2121408"/>
            <a:ext cx="267919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EngineSettings</a:t>
            </a:r>
            <a:endParaRPr lang="en-US" sz="1900" dirty="0"/>
          </a:p>
        </p:txBody>
      </p:sp>
      <p:sp>
        <p:nvSpPr>
          <p:cNvPr id="9" name="Shape 6"/>
          <p:cNvSpPr/>
          <p:nvPr/>
        </p:nvSpPr>
        <p:spPr>
          <a:xfrm>
            <a:off x="603504" y="2560320"/>
            <a:ext cx="2679192" cy="914"/>
          </a:xfrm>
          <a:prstGeom prst="line">
            <a:avLst/>
          </a:prstGeom>
          <a:noFill/>
          <a:ln w="20320">
            <a:solidFill>
              <a:srgbClr val="2A3A51"/>
            </a:solidFill>
            <a:prstDash val="solid"/>
          </a:ln>
        </p:spPr>
      </p:sp>
      <p:sp>
        <p:nvSpPr>
          <p:cNvPr id="10" name="Text 7"/>
          <p:cNvSpPr/>
          <p:nvPr/>
        </p:nvSpPr>
        <p:spPr>
          <a:xfrm>
            <a:off x="603504" y="2706624"/>
            <a:ext cx="2679192" cy="576072"/>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limits / feature switches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EvaluationWeights</a:t>
            </a:r>
            <a:endParaRPr lang="en-US" sz="1410" dirty="0"/>
          </a:p>
        </p:txBody>
      </p:sp>
      <p:sp>
        <p:nvSpPr>
          <p:cNvPr id="11" name="Shape 8"/>
          <p:cNvSpPr/>
          <p:nvPr/>
        </p:nvSpPr>
        <p:spPr>
          <a:xfrm>
            <a:off x="457200" y="4142232"/>
            <a:ext cx="2971800" cy="1627632"/>
          </a:xfrm>
          <a:prstGeom prst="roundRect">
            <a:avLst>
              <a:gd name="adj" fmla="val 7865"/>
            </a:avLst>
          </a:prstGeom>
          <a:solidFill>
            <a:srgbClr val="111E31"/>
          </a:solidFill>
          <a:ln w="13970">
            <a:solidFill>
              <a:srgbClr val="69E3B5"/>
            </a:solidFill>
            <a:prstDash val="solid"/>
          </a:ln>
        </p:spPr>
      </p:sp>
      <p:sp>
        <p:nvSpPr>
          <p:cNvPr id="12" name="Text 9"/>
          <p:cNvSpPr/>
          <p:nvPr/>
        </p:nvSpPr>
        <p:spPr>
          <a:xfrm>
            <a:off x="603504" y="4251960"/>
            <a:ext cx="267919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PRIVATE WORKING COPY</a:t>
            </a:r>
            <a:endParaRPr lang="en-US" sz="950" dirty="0"/>
          </a:p>
        </p:txBody>
      </p:sp>
      <p:sp>
        <p:nvSpPr>
          <p:cNvPr id="13" name="Text 10"/>
          <p:cNvSpPr/>
          <p:nvPr/>
        </p:nvSpPr>
        <p:spPr>
          <a:xfrm>
            <a:off x="603504" y="4489704"/>
            <a:ext cx="267919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Position</a:t>
            </a:r>
            <a:endParaRPr lang="en-US" sz="1900" dirty="0"/>
          </a:p>
        </p:txBody>
      </p:sp>
      <p:sp>
        <p:nvSpPr>
          <p:cNvPr id="14" name="Shape 11"/>
          <p:cNvSpPr/>
          <p:nvPr/>
        </p:nvSpPr>
        <p:spPr>
          <a:xfrm>
            <a:off x="603504" y="4928616"/>
            <a:ext cx="2679192" cy="914"/>
          </a:xfrm>
          <a:prstGeom prst="line">
            <a:avLst/>
          </a:prstGeom>
          <a:noFill/>
          <a:ln w="20320">
            <a:solidFill>
              <a:srgbClr val="2A3A51"/>
            </a:solidFill>
            <a:prstDash val="solid"/>
          </a:ln>
        </p:spPr>
      </p:sp>
      <p:sp>
        <p:nvSpPr>
          <p:cNvPr id="15" name="Text 12"/>
          <p:cNvSpPr/>
          <p:nvPr/>
        </p:nvSpPr>
        <p:spPr>
          <a:xfrm>
            <a:off x="603504" y="5074920"/>
            <a:ext cx="2679192" cy="576072"/>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legalMoves()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makeMove() / unmakeMove()</a:t>
            </a:r>
            <a:endParaRPr lang="en-US" sz="1410" dirty="0"/>
          </a:p>
        </p:txBody>
      </p:sp>
      <p:sp>
        <p:nvSpPr>
          <p:cNvPr id="16" name="Shape 13"/>
          <p:cNvSpPr/>
          <p:nvPr/>
        </p:nvSpPr>
        <p:spPr>
          <a:xfrm>
            <a:off x="4297680" y="2880360"/>
            <a:ext cx="3566160" cy="2011680"/>
          </a:xfrm>
          <a:prstGeom prst="roundRect">
            <a:avLst>
              <a:gd name="adj" fmla="val 6364"/>
            </a:avLst>
          </a:prstGeom>
          <a:solidFill>
            <a:srgbClr val="111E31"/>
          </a:solidFill>
          <a:ln w="13970">
            <a:solidFill>
              <a:srgbClr val="69E3B5"/>
            </a:solidFill>
            <a:prstDash val="solid"/>
          </a:ln>
        </p:spPr>
      </p:sp>
      <p:sp>
        <p:nvSpPr>
          <p:cNvPr id="17" name="Text 14"/>
          <p:cNvSpPr/>
          <p:nvPr/>
        </p:nvSpPr>
        <p:spPr>
          <a:xfrm>
            <a:off x="4443984" y="2990088"/>
            <a:ext cx="327355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ONE INSTANCE PER REQUEST</a:t>
            </a:r>
            <a:endParaRPr lang="en-US" sz="950" dirty="0"/>
          </a:p>
        </p:txBody>
      </p:sp>
      <p:sp>
        <p:nvSpPr>
          <p:cNvPr id="18" name="Text 15"/>
          <p:cNvSpPr/>
          <p:nvPr/>
        </p:nvSpPr>
        <p:spPr>
          <a:xfrm>
            <a:off x="4443984" y="3227832"/>
            <a:ext cx="327355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Engine</a:t>
            </a:r>
            <a:endParaRPr lang="en-US" sz="1900" dirty="0"/>
          </a:p>
        </p:txBody>
      </p:sp>
      <p:sp>
        <p:nvSpPr>
          <p:cNvPr id="19" name="Shape 16"/>
          <p:cNvSpPr/>
          <p:nvPr/>
        </p:nvSpPr>
        <p:spPr>
          <a:xfrm>
            <a:off x="4443984" y="3666744"/>
            <a:ext cx="3273552" cy="914"/>
          </a:xfrm>
          <a:prstGeom prst="line">
            <a:avLst/>
          </a:prstGeom>
          <a:noFill/>
          <a:ln w="20320">
            <a:solidFill>
              <a:srgbClr val="2A3A51"/>
            </a:solidFill>
            <a:prstDash val="solid"/>
          </a:ln>
        </p:spPr>
      </p:sp>
      <p:sp>
        <p:nvSpPr>
          <p:cNvPr id="20" name="Text 17"/>
          <p:cNvSpPr/>
          <p:nvPr/>
        </p:nvSpPr>
        <p:spPr>
          <a:xfrm>
            <a:off x="4443984" y="3813048"/>
            <a:ext cx="3273552" cy="96012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position / settings / table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stop / listener / histories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search(...) -&gt; SearchResult</a:t>
            </a:r>
            <a:endParaRPr lang="en-US" sz="1410" dirty="0"/>
          </a:p>
        </p:txBody>
      </p:sp>
      <p:sp>
        <p:nvSpPr>
          <p:cNvPr id="21" name="Shape 18"/>
          <p:cNvSpPr/>
          <p:nvPr/>
        </p:nvSpPr>
        <p:spPr>
          <a:xfrm>
            <a:off x="8641080" y="1773936"/>
            <a:ext cx="3090672" cy="1627632"/>
          </a:xfrm>
          <a:prstGeom prst="roundRect">
            <a:avLst>
              <a:gd name="adj" fmla="val 7865"/>
            </a:avLst>
          </a:prstGeom>
          <a:solidFill>
            <a:srgbClr val="111E31"/>
          </a:solidFill>
          <a:ln w="13970">
            <a:solidFill>
              <a:srgbClr val="79CAFF"/>
            </a:solidFill>
            <a:prstDash val="solid"/>
          </a:ln>
        </p:spPr>
      </p:sp>
      <p:sp>
        <p:nvSpPr>
          <p:cNvPr id="22" name="Text 19"/>
          <p:cNvSpPr/>
          <p:nvPr/>
        </p:nvSpPr>
        <p:spPr>
          <a:xfrm>
            <a:off x="8787384" y="1883664"/>
            <a:ext cx="2798064"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79CAFF"/>
                </a:solidFill>
                <a:latin typeface="Segoe UI" pitchFamily="34" charset="0"/>
                <a:ea typeface="Segoe UI" pitchFamily="34" charset="-122"/>
                <a:cs typeface="Segoe UI" pitchFamily="34" charset="-120"/>
              </a:rPr>
              <a:t>STATIC CALCULATION</a:t>
            </a:r>
            <a:endParaRPr lang="en-US" sz="950" dirty="0"/>
          </a:p>
        </p:txBody>
      </p:sp>
      <p:sp>
        <p:nvSpPr>
          <p:cNvPr id="23" name="Text 20"/>
          <p:cNvSpPr/>
          <p:nvPr/>
        </p:nvSpPr>
        <p:spPr>
          <a:xfrm>
            <a:off x="8787384" y="2121408"/>
            <a:ext cx="2798064"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Evaluator</a:t>
            </a:r>
            <a:endParaRPr lang="en-US" sz="1900" dirty="0"/>
          </a:p>
        </p:txBody>
      </p:sp>
      <p:sp>
        <p:nvSpPr>
          <p:cNvPr id="24" name="Shape 21"/>
          <p:cNvSpPr/>
          <p:nvPr/>
        </p:nvSpPr>
        <p:spPr>
          <a:xfrm>
            <a:off x="8787384" y="2560320"/>
            <a:ext cx="2798064" cy="914"/>
          </a:xfrm>
          <a:prstGeom prst="line">
            <a:avLst/>
          </a:prstGeom>
          <a:noFill/>
          <a:ln w="20320">
            <a:solidFill>
              <a:srgbClr val="2A3A51"/>
            </a:solidFill>
            <a:prstDash val="solid"/>
          </a:ln>
        </p:spPr>
      </p:sp>
      <p:sp>
        <p:nvSpPr>
          <p:cNvPr id="25" name="Text 22"/>
          <p:cNvSpPr/>
          <p:nvPr/>
        </p:nvSpPr>
        <p:spPr>
          <a:xfrm>
            <a:off x="8787384" y="2706624"/>
            <a:ext cx="2798064" cy="576072"/>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evaluate() / explain()</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uses Position + weights</a:t>
            </a:r>
            <a:endParaRPr lang="en-US" sz="1410" dirty="0"/>
          </a:p>
        </p:txBody>
      </p:sp>
      <p:sp>
        <p:nvSpPr>
          <p:cNvPr id="26" name="Shape 23"/>
          <p:cNvSpPr/>
          <p:nvPr/>
        </p:nvSpPr>
        <p:spPr>
          <a:xfrm>
            <a:off x="8641080" y="4142232"/>
            <a:ext cx="3090672" cy="1627632"/>
          </a:xfrm>
          <a:prstGeom prst="roundRect">
            <a:avLst>
              <a:gd name="adj" fmla="val 7865"/>
            </a:avLst>
          </a:prstGeom>
          <a:solidFill>
            <a:srgbClr val="111E31"/>
          </a:solidFill>
          <a:ln w="13970">
            <a:solidFill>
              <a:srgbClr val="79CAFF"/>
            </a:solidFill>
            <a:prstDash val="solid"/>
          </a:ln>
        </p:spPr>
      </p:sp>
      <p:sp>
        <p:nvSpPr>
          <p:cNvPr id="27" name="Text 24"/>
          <p:cNvSpPr/>
          <p:nvPr/>
        </p:nvSpPr>
        <p:spPr>
          <a:xfrm>
            <a:off x="8787384" y="4251960"/>
            <a:ext cx="2798064"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79CAFF"/>
                </a:solidFill>
                <a:latin typeface="Segoe UI" pitchFamily="34" charset="0"/>
                <a:ea typeface="Segoe UI" pitchFamily="34" charset="-122"/>
                <a:cs typeface="Segoe UI" pitchFamily="34" charset="-120"/>
              </a:rPr>
              <a:t>BOUNDED SEARCH CACHE</a:t>
            </a:r>
            <a:endParaRPr lang="en-US" sz="950" dirty="0"/>
          </a:p>
        </p:txBody>
      </p:sp>
      <p:sp>
        <p:nvSpPr>
          <p:cNvPr id="28" name="Text 25"/>
          <p:cNvSpPr/>
          <p:nvPr/>
        </p:nvSpPr>
        <p:spPr>
          <a:xfrm>
            <a:off x="8787384" y="4489704"/>
            <a:ext cx="2798064"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TranspositionTable</a:t>
            </a:r>
            <a:endParaRPr lang="en-US" sz="1900" dirty="0"/>
          </a:p>
        </p:txBody>
      </p:sp>
      <p:sp>
        <p:nvSpPr>
          <p:cNvPr id="29" name="Shape 26"/>
          <p:cNvSpPr/>
          <p:nvPr/>
        </p:nvSpPr>
        <p:spPr>
          <a:xfrm>
            <a:off x="8787384" y="4928616"/>
            <a:ext cx="2798064" cy="914"/>
          </a:xfrm>
          <a:prstGeom prst="line">
            <a:avLst/>
          </a:prstGeom>
          <a:noFill/>
          <a:ln w="20320">
            <a:solidFill>
              <a:srgbClr val="2A3A51"/>
            </a:solidFill>
            <a:prstDash val="solid"/>
          </a:ln>
        </p:spPr>
      </p:sp>
      <p:sp>
        <p:nvSpPr>
          <p:cNvPr id="30" name="Text 27"/>
          <p:cNvSpPr/>
          <p:nvPr/>
        </p:nvSpPr>
        <p:spPr>
          <a:xfrm>
            <a:off x="8787384" y="5074920"/>
            <a:ext cx="2798064" cy="576072"/>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find() / store()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Entry + Bound</a:t>
            </a:r>
            <a:endParaRPr lang="en-US" sz="1410" dirty="0"/>
          </a:p>
        </p:txBody>
      </p:sp>
      <p:sp>
        <p:nvSpPr>
          <p:cNvPr id="31" name="Shape 28"/>
          <p:cNvSpPr/>
          <p:nvPr/>
        </p:nvSpPr>
        <p:spPr>
          <a:xfrm>
            <a:off x="4297680" y="1691640"/>
            <a:ext cx="3566160" cy="868680"/>
          </a:xfrm>
          <a:prstGeom prst="roundRect">
            <a:avLst>
              <a:gd name="adj" fmla="val 14737"/>
            </a:avLst>
          </a:prstGeom>
          <a:solidFill>
            <a:srgbClr val="16283B"/>
          </a:solidFill>
          <a:ln w="13970">
            <a:solidFill>
              <a:srgbClr val="F6CD86"/>
            </a:solidFill>
            <a:prstDash val="solid"/>
          </a:ln>
        </p:spPr>
      </p:sp>
      <p:sp>
        <p:nvSpPr>
          <p:cNvPr id="32" name="Text 29"/>
          <p:cNvSpPr/>
          <p:nvPr/>
        </p:nvSpPr>
        <p:spPr>
          <a:xfrm>
            <a:off x="4443984" y="1783080"/>
            <a:ext cx="3273552" cy="274320"/>
          </a:xfrm>
          <a:prstGeom prst="rect">
            <a:avLst/>
          </a:prstGeom>
          <a:noFill/>
          <a:ln/>
        </p:spPr>
        <p:txBody>
          <a:bodyPr wrap="square" lIns="0" tIns="0" rIns="0" bIns="0" rtlCol="0" anchor="t"/>
          <a:lstStyle/>
          <a:p>
            <a:pPr indent="0" marL="0">
              <a:lnSpc>
                <a:spcPct val="100000"/>
              </a:lnSpc>
              <a:buNone/>
            </a:pPr>
            <a:r>
              <a:rPr lang="en-US" sz="1750" b="1" dirty="0">
                <a:solidFill>
                  <a:srgbClr val="F6CD86"/>
                </a:solidFill>
                <a:latin typeface="Segoe UI" pitchFamily="34" charset="0"/>
                <a:ea typeface="Segoe UI" pitchFamily="34" charset="-122"/>
                <a:cs typeface="Segoe UI" pitchFamily="34" charset="-120"/>
              </a:rPr>
              <a:t>SearchInfo</a:t>
            </a:r>
            <a:endParaRPr lang="en-US" sz="1750" dirty="0"/>
          </a:p>
        </p:txBody>
      </p:sp>
      <p:sp>
        <p:nvSpPr>
          <p:cNvPr id="33" name="Text 30"/>
          <p:cNvSpPr/>
          <p:nvPr/>
        </p:nvSpPr>
        <p:spPr>
          <a:xfrm>
            <a:off x="4443984" y="2139696"/>
            <a:ext cx="3273552" cy="365760"/>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Progress + PV snapshot</a:t>
            </a:r>
            <a:endParaRPr lang="en-US" sz="1360" dirty="0"/>
          </a:p>
        </p:txBody>
      </p:sp>
      <p:sp>
        <p:nvSpPr>
          <p:cNvPr id="34" name="Shape 31"/>
          <p:cNvSpPr/>
          <p:nvPr/>
        </p:nvSpPr>
        <p:spPr>
          <a:xfrm>
            <a:off x="4297680" y="5440680"/>
            <a:ext cx="3566160" cy="868680"/>
          </a:xfrm>
          <a:prstGeom prst="roundRect">
            <a:avLst>
              <a:gd name="adj" fmla="val 14737"/>
            </a:avLst>
          </a:prstGeom>
          <a:solidFill>
            <a:srgbClr val="16283B"/>
          </a:solidFill>
          <a:ln w="13970">
            <a:solidFill>
              <a:srgbClr val="F6CD86"/>
            </a:solidFill>
            <a:prstDash val="solid"/>
          </a:ln>
        </p:spPr>
      </p:sp>
      <p:sp>
        <p:nvSpPr>
          <p:cNvPr id="35" name="Text 32"/>
          <p:cNvSpPr/>
          <p:nvPr/>
        </p:nvSpPr>
        <p:spPr>
          <a:xfrm>
            <a:off x="4443984" y="5532120"/>
            <a:ext cx="3273552" cy="274320"/>
          </a:xfrm>
          <a:prstGeom prst="rect">
            <a:avLst/>
          </a:prstGeom>
          <a:noFill/>
          <a:ln/>
        </p:spPr>
        <p:txBody>
          <a:bodyPr wrap="square" lIns="0" tIns="0" rIns="0" bIns="0" rtlCol="0" anchor="t"/>
          <a:lstStyle/>
          <a:p>
            <a:pPr indent="0" marL="0">
              <a:lnSpc>
                <a:spcPct val="100000"/>
              </a:lnSpc>
              <a:buNone/>
            </a:pPr>
            <a:r>
              <a:rPr lang="en-US" sz="1750" b="1" dirty="0">
                <a:solidFill>
                  <a:srgbClr val="F6CD86"/>
                </a:solidFill>
                <a:latin typeface="Segoe UI" pitchFamily="34" charset="0"/>
                <a:ea typeface="Segoe UI" pitchFamily="34" charset="-122"/>
                <a:cs typeface="Segoe UI" pitchFamily="34" charset="-120"/>
              </a:rPr>
              <a:t>SearchResult</a:t>
            </a:r>
            <a:endParaRPr lang="en-US" sz="1750" dirty="0"/>
          </a:p>
        </p:txBody>
      </p:sp>
      <p:sp>
        <p:nvSpPr>
          <p:cNvPr id="36" name="Text 33"/>
          <p:cNvSpPr/>
          <p:nvPr/>
        </p:nvSpPr>
        <p:spPr>
          <a:xfrm>
            <a:off x="4443984" y="5888736"/>
            <a:ext cx="3273552" cy="365760"/>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Move + score + depth + PV</a:t>
            </a:r>
            <a:endParaRPr lang="en-US" sz="1360" dirty="0"/>
          </a:p>
        </p:txBody>
      </p:sp>
      <p:sp>
        <p:nvSpPr>
          <p:cNvPr id="37" name="Shape 34"/>
          <p:cNvSpPr/>
          <p:nvPr/>
        </p:nvSpPr>
        <p:spPr>
          <a:xfrm>
            <a:off x="3429000" y="2587752"/>
            <a:ext cx="411480" cy="914"/>
          </a:xfrm>
          <a:prstGeom prst="line">
            <a:avLst/>
          </a:prstGeom>
          <a:noFill/>
          <a:ln w="20320">
            <a:solidFill>
              <a:srgbClr val="79CAFF"/>
            </a:solidFill>
            <a:prstDash val="solid"/>
          </a:ln>
        </p:spPr>
      </p:sp>
      <p:sp>
        <p:nvSpPr>
          <p:cNvPr id="38" name="Shape 35"/>
          <p:cNvSpPr/>
          <p:nvPr/>
        </p:nvSpPr>
        <p:spPr>
          <a:xfrm>
            <a:off x="3840480" y="2587752"/>
            <a:ext cx="914" cy="886968"/>
          </a:xfrm>
          <a:prstGeom prst="line">
            <a:avLst/>
          </a:prstGeom>
          <a:noFill/>
          <a:ln w="20320">
            <a:solidFill>
              <a:srgbClr val="79CAFF"/>
            </a:solidFill>
            <a:prstDash val="solid"/>
          </a:ln>
        </p:spPr>
      </p:sp>
      <p:sp>
        <p:nvSpPr>
          <p:cNvPr id="39" name="Shape 36"/>
          <p:cNvSpPr/>
          <p:nvPr/>
        </p:nvSpPr>
        <p:spPr>
          <a:xfrm>
            <a:off x="3840480" y="3474720"/>
            <a:ext cx="457200" cy="914"/>
          </a:xfrm>
          <a:prstGeom prst="line">
            <a:avLst/>
          </a:prstGeom>
          <a:noFill/>
          <a:ln w="20320">
            <a:solidFill>
              <a:srgbClr val="79CAFF"/>
            </a:solidFill>
            <a:prstDash val="solid"/>
            <a:tailEnd type="triangle"/>
          </a:ln>
        </p:spPr>
      </p:sp>
      <p:sp>
        <p:nvSpPr>
          <p:cNvPr id="40" name="Text 37"/>
          <p:cNvSpPr/>
          <p:nvPr/>
        </p:nvSpPr>
        <p:spPr>
          <a:xfrm>
            <a:off x="3538728" y="2907792"/>
            <a:ext cx="621792"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input</a:t>
            </a:r>
            <a:endParaRPr lang="en-US" sz="1150" dirty="0"/>
          </a:p>
        </p:txBody>
      </p:sp>
      <p:sp>
        <p:nvSpPr>
          <p:cNvPr id="41" name="Shape 38"/>
          <p:cNvSpPr/>
          <p:nvPr/>
        </p:nvSpPr>
        <p:spPr>
          <a:xfrm>
            <a:off x="3840480" y="4297680"/>
            <a:ext cx="457200" cy="914"/>
          </a:xfrm>
          <a:prstGeom prst="line">
            <a:avLst/>
          </a:prstGeom>
          <a:noFill/>
          <a:ln w="20320">
            <a:solidFill>
              <a:srgbClr val="69E3B5"/>
            </a:solidFill>
            <a:prstDash val="solid"/>
          </a:ln>
        </p:spPr>
      </p:sp>
      <p:sp>
        <p:nvSpPr>
          <p:cNvPr id="42" name="Shape 39"/>
          <p:cNvSpPr/>
          <p:nvPr/>
        </p:nvSpPr>
        <p:spPr>
          <a:xfrm>
            <a:off x="3840480" y="4297680"/>
            <a:ext cx="914" cy="658368"/>
          </a:xfrm>
          <a:prstGeom prst="line">
            <a:avLst/>
          </a:prstGeom>
          <a:noFill/>
          <a:ln w="20320">
            <a:solidFill>
              <a:srgbClr val="69E3B5"/>
            </a:solidFill>
            <a:prstDash val="solid"/>
          </a:ln>
        </p:spPr>
      </p:sp>
      <p:sp>
        <p:nvSpPr>
          <p:cNvPr id="43" name="Shape 40"/>
          <p:cNvSpPr/>
          <p:nvPr/>
        </p:nvSpPr>
        <p:spPr>
          <a:xfrm>
            <a:off x="3429000" y="4956048"/>
            <a:ext cx="411480" cy="914"/>
          </a:xfrm>
          <a:prstGeom prst="line">
            <a:avLst/>
          </a:prstGeom>
          <a:noFill/>
          <a:ln w="20320">
            <a:solidFill>
              <a:srgbClr val="69E3B5"/>
            </a:solidFill>
            <a:prstDash val="solid"/>
            <a:headEnd type="triangle"/>
          </a:ln>
        </p:spPr>
      </p:sp>
      <p:sp>
        <p:nvSpPr>
          <p:cNvPr id="44" name="Text 41"/>
          <p:cNvSpPr/>
          <p:nvPr/>
        </p:nvSpPr>
        <p:spPr>
          <a:xfrm>
            <a:off x="3520440" y="4462272"/>
            <a:ext cx="640080"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owns</a:t>
            </a:r>
            <a:endParaRPr lang="en-US" sz="1150" dirty="0"/>
          </a:p>
        </p:txBody>
      </p:sp>
      <p:sp>
        <p:nvSpPr>
          <p:cNvPr id="45" name="Shape 42"/>
          <p:cNvSpPr/>
          <p:nvPr/>
        </p:nvSpPr>
        <p:spPr>
          <a:xfrm>
            <a:off x="7863840" y="3474720"/>
            <a:ext cx="384048" cy="914"/>
          </a:xfrm>
          <a:prstGeom prst="line">
            <a:avLst/>
          </a:prstGeom>
          <a:noFill/>
          <a:ln w="20320">
            <a:solidFill>
              <a:srgbClr val="79CAFF"/>
            </a:solidFill>
            <a:prstDash val="solid"/>
          </a:ln>
        </p:spPr>
      </p:sp>
      <p:sp>
        <p:nvSpPr>
          <p:cNvPr id="46" name="Shape 43"/>
          <p:cNvSpPr/>
          <p:nvPr/>
        </p:nvSpPr>
        <p:spPr>
          <a:xfrm>
            <a:off x="8247888" y="2587752"/>
            <a:ext cx="914" cy="886968"/>
          </a:xfrm>
          <a:prstGeom prst="line">
            <a:avLst/>
          </a:prstGeom>
          <a:noFill/>
          <a:ln w="20320">
            <a:solidFill>
              <a:srgbClr val="79CAFF"/>
            </a:solidFill>
            <a:prstDash val="solid"/>
          </a:ln>
        </p:spPr>
      </p:sp>
      <p:sp>
        <p:nvSpPr>
          <p:cNvPr id="47" name="Shape 44"/>
          <p:cNvSpPr/>
          <p:nvPr/>
        </p:nvSpPr>
        <p:spPr>
          <a:xfrm>
            <a:off x="8247888" y="2587752"/>
            <a:ext cx="393192" cy="914"/>
          </a:xfrm>
          <a:prstGeom prst="line">
            <a:avLst/>
          </a:prstGeom>
          <a:noFill/>
          <a:ln w="20320">
            <a:solidFill>
              <a:srgbClr val="79CAFF"/>
            </a:solidFill>
            <a:prstDash val="solid"/>
            <a:tailEnd type="triangle"/>
          </a:ln>
        </p:spPr>
      </p:sp>
      <p:sp>
        <p:nvSpPr>
          <p:cNvPr id="48" name="Shape 45"/>
          <p:cNvSpPr/>
          <p:nvPr/>
        </p:nvSpPr>
        <p:spPr>
          <a:xfrm>
            <a:off x="7863840" y="4297680"/>
            <a:ext cx="384048" cy="914"/>
          </a:xfrm>
          <a:prstGeom prst="line">
            <a:avLst/>
          </a:prstGeom>
          <a:noFill/>
          <a:ln w="20320">
            <a:solidFill>
              <a:srgbClr val="79CAFF"/>
            </a:solidFill>
            <a:prstDash val="solid"/>
          </a:ln>
        </p:spPr>
      </p:sp>
      <p:sp>
        <p:nvSpPr>
          <p:cNvPr id="49" name="Shape 46"/>
          <p:cNvSpPr/>
          <p:nvPr/>
        </p:nvSpPr>
        <p:spPr>
          <a:xfrm>
            <a:off x="8247888" y="4297680"/>
            <a:ext cx="914" cy="658368"/>
          </a:xfrm>
          <a:prstGeom prst="line">
            <a:avLst/>
          </a:prstGeom>
          <a:noFill/>
          <a:ln w="20320">
            <a:solidFill>
              <a:srgbClr val="79CAFF"/>
            </a:solidFill>
            <a:prstDash val="solid"/>
          </a:ln>
        </p:spPr>
      </p:sp>
      <p:sp>
        <p:nvSpPr>
          <p:cNvPr id="50" name="Shape 47"/>
          <p:cNvSpPr/>
          <p:nvPr/>
        </p:nvSpPr>
        <p:spPr>
          <a:xfrm>
            <a:off x="8247888" y="4956048"/>
            <a:ext cx="393192" cy="914"/>
          </a:xfrm>
          <a:prstGeom prst="line">
            <a:avLst/>
          </a:prstGeom>
          <a:noFill/>
          <a:ln w="20320">
            <a:solidFill>
              <a:srgbClr val="79CAFF"/>
            </a:solidFill>
            <a:prstDash val="solid"/>
            <a:tailEnd type="triangle"/>
          </a:ln>
        </p:spPr>
      </p:sp>
      <p:sp>
        <p:nvSpPr>
          <p:cNvPr id="51" name="Shape 48"/>
          <p:cNvSpPr/>
          <p:nvPr/>
        </p:nvSpPr>
        <p:spPr>
          <a:xfrm>
            <a:off x="6080760" y="2560320"/>
            <a:ext cx="914" cy="320040"/>
          </a:xfrm>
          <a:prstGeom prst="line">
            <a:avLst/>
          </a:prstGeom>
          <a:noFill/>
          <a:ln w="20320">
            <a:solidFill>
              <a:srgbClr val="F6CD86"/>
            </a:solidFill>
            <a:prstDash val="solid"/>
            <a:headEnd type="triangle"/>
          </a:ln>
        </p:spPr>
      </p:sp>
      <p:sp>
        <p:nvSpPr>
          <p:cNvPr id="52" name="Shape 49"/>
          <p:cNvSpPr/>
          <p:nvPr/>
        </p:nvSpPr>
        <p:spPr>
          <a:xfrm>
            <a:off x="6080760" y="4892040"/>
            <a:ext cx="914" cy="548640"/>
          </a:xfrm>
          <a:prstGeom prst="line">
            <a:avLst/>
          </a:prstGeom>
          <a:noFill/>
          <a:ln w="20320">
            <a:solidFill>
              <a:srgbClr val="F6CD86"/>
            </a:solidFill>
            <a:prstDash val="solid"/>
            <a:tailEnd type="triangle"/>
          </a:ln>
        </p:spPr>
      </p:sp>
      <p:sp>
        <p:nvSpPr>
          <p:cNvPr id="53" name="Shape 50"/>
          <p:cNvSpPr/>
          <p:nvPr/>
        </p:nvSpPr>
        <p:spPr>
          <a:xfrm>
            <a:off x="420624" y="6455664"/>
            <a:ext cx="11356848" cy="914"/>
          </a:xfrm>
          <a:prstGeom prst="line">
            <a:avLst/>
          </a:prstGeom>
          <a:noFill/>
          <a:ln w="20320">
            <a:solidFill>
              <a:srgbClr val="2A3A51"/>
            </a:solidFill>
            <a:prstDash val="solid"/>
          </a:ln>
        </p:spPr>
      </p:sp>
      <p:sp>
        <p:nvSpPr>
          <p:cNvPr id="54" name="Text 51"/>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55" name="Text 52"/>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56" name="Text 53"/>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06 / 14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The search is a stack of small contracts</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Engine controls exploration; Position controls legal state transitions; Evaluator supplies preferences.</a:t>
            </a:r>
            <a:endParaRPr lang="en-US" sz="1410" dirty="0"/>
          </a:p>
        </p:txBody>
      </p:sp>
      <p:sp>
        <p:nvSpPr>
          <p:cNvPr id="6" name="Shape 3"/>
          <p:cNvSpPr/>
          <p:nvPr/>
        </p:nvSpPr>
        <p:spPr>
          <a:xfrm>
            <a:off x="502920" y="2395728"/>
            <a:ext cx="1938528" cy="1938528"/>
          </a:xfrm>
          <a:prstGeom prst="roundRect">
            <a:avLst>
              <a:gd name="adj" fmla="val 6604"/>
            </a:avLst>
          </a:prstGeom>
          <a:solidFill>
            <a:srgbClr val="111E31"/>
          </a:solidFill>
          <a:ln w="13970">
            <a:solidFill>
              <a:srgbClr val="69E3B5"/>
            </a:solidFill>
            <a:prstDash val="solid"/>
          </a:ln>
        </p:spPr>
      </p:sp>
      <p:sp>
        <p:nvSpPr>
          <p:cNvPr id="7" name="Text 4"/>
          <p:cNvSpPr/>
          <p:nvPr/>
        </p:nvSpPr>
        <p:spPr>
          <a:xfrm>
            <a:off x="649224" y="2505456"/>
            <a:ext cx="1645920"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ENGINE</a:t>
            </a:r>
            <a:endParaRPr lang="en-US" sz="950" dirty="0"/>
          </a:p>
        </p:txBody>
      </p:sp>
      <p:sp>
        <p:nvSpPr>
          <p:cNvPr id="8" name="Text 5"/>
          <p:cNvSpPr/>
          <p:nvPr/>
        </p:nvSpPr>
        <p:spPr>
          <a:xfrm>
            <a:off x="649224" y="2743200"/>
            <a:ext cx="1645920"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search</a:t>
            </a:r>
            <a:endParaRPr lang="en-US" sz="1900" dirty="0"/>
          </a:p>
        </p:txBody>
      </p:sp>
      <p:sp>
        <p:nvSpPr>
          <p:cNvPr id="9" name="Shape 6"/>
          <p:cNvSpPr/>
          <p:nvPr/>
        </p:nvSpPr>
        <p:spPr>
          <a:xfrm>
            <a:off x="649224" y="3182112"/>
            <a:ext cx="1645920" cy="914"/>
          </a:xfrm>
          <a:prstGeom prst="line">
            <a:avLst/>
          </a:prstGeom>
          <a:noFill/>
          <a:ln w="20320">
            <a:solidFill>
              <a:srgbClr val="2A3A51"/>
            </a:solidFill>
            <a:prstDash val="solid"/>
          </a:ln>
        </p:spPr>
      </p:sp>
      <p:sp>
        <p:nvSpPr>
          <p:cNvPr id="10" name="Text 7"/>
          <p:cNvSpPr/>
          <p:nvPr/>
        </p:nvSpPr>
        <p:spPr>
          <a:xfrm>
            <a:off x="649224" y="3328416"/>
            <a:ext cx="1645920" cy="886968"/>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depth 1, 2, 3...</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completed result</a:t>
            </a:r>
            <a:endParaRPr lang="en-US" sz="1410" dirty="0"/>
          </a:p>
        </p:txBody>
      </p:sp>
      <p:sp>
        <p:nvSpPr>
          <p:cNvPr id="11" name="Shape 8"/>
          <p:cNvSpPr/>
          <p:nvPr/>
        </p:nvSpPr>
        <p:spPr>
          <a:xfrm>
            <a:off x="2441448" y="3200400"/>
            <a:ext cx="393192" cy="914"/>
          </a:xfrm>
          <a:prstGeom prst="line">
            <a:avLst/>
          </a:prstGeom>
          <a:noFill/>
          <a:ln w="20320">
            <a:solidFill>
              <a:srgbClr val="79CAFF"/>
            </a:solidFill>
            <a:prstDash val="solid"/>
            <a:tailEnd type="triangle"/>
          </a:ln>
        </p:spPr>
      </p:sp>
      <p:sp>
        <p:nvSpPr>
          <p:cNvPr id="12" name="Shape 9"/>
          <p:cNvSpPr/>
          <p:nvPr/>
        </p:nvSpPr>
        <p:spPr>
          <a:xfrm>
            <a:off x="2834640" y="2395728"/>
            <a:ext cx="1938528" cy="1938528"/>
          </a:xfrm>
          <a:prstGeom prst="roundRect">
            <a:avLst>
              <a:gd name="adj" fmla="val 6604"/>
            </a:avLst>
          </a:prstGeom>
          <a:solidFill>
            <a:srgbClr val="111E31"/>
          </a:solidFill>
          <a:ln w="13970">
            <a:solidFill>
              <a:srgbClr val="69E3B5"/>
            </a:solidFill>
            <a:prstDash val="solid"/>
          </a:ln>
        </p:spPr>
      </p:sp>
      <p:sp>
        <p:nvSpPr>
          <p:cNvPr id="13" name="Text 10"/>
          <p:cNvSpPr/>
          <p:nvPr/>
        </p:nvSpPr>
        <p:spPr>
          <a:xfrm>
            <a:off x="2980944" y="2505456"/>
            <a:ext cx="1645920"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ENGINE</a:t>
            </a:r>
            <a:endParaRPr lang="en-US" sz="950" dirty="0"/>
          </a:p>
        </p:txBody>
      </p:sp>
      <p:sp>
        <p:nvSpPr>
          <p:cNvPr id="14" name="Text 11"/>
          <p:cNvSpPr/>
          <p:nvPr/>
        </p:nvSpPr>
        <p:spPr>
          <a:xfrm>
            <a:off x="2980944" y="2743200"/>
            <a:ext cx="1645920"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searchRoot</a:t>
            </a:r>
            <a:endParaRPr lang="en-US" sz="1900" dirty="0"/>
          </a:p>
        </p:txBody>
      </p:sp>
      <p:sp>
        <p:nvSpPr>
          <p:cNvPr id="15" name="Shape 12"/>
          <p:cNvSpPr/>
          <p:nvPr/>
        </p:nvSpPr>
        <p:spPr>
          <a:xfrm>
            <a:off x="2980944" y="3182112"/>
            <a:ext cx="1645920" cy="914"/>
          </a:xfrm>
          <a:prstGeom prst="line">
            <a:avLst/>
          </a:prstGeom>
          <a:noFill/>
          <a:ln w="20320">
            <a:solidFill>
              <a:srgbClr val="2A3A51"/>
            </a:solidFill>
            <a:prstDash val="solid"/>
          </a:ln>
        </p:spPr>
      </p:sp>
      <p:sp>
        <p:nvSpPr>
          <p:cNvPr id="16" name="Text 13"/>
          <p:cNvSpPr/>
          <p:nvPr/>
        </p:nvSpPr>
        <p:spPr>
          <a:xfrm>
            <a:off x="2980944" y="3328416"/>
            <a:ext cx="1645920" cy="886968"/>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root moves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noise + ordering</a:t>
            </a:r>
            <a:endParaRPr lang="en-US" sz="1410" dirty="0"/>
          </a:p>
        </p:txBody>
      </p:sp>
      <p:sp>
        <p:nvSpPr>
          <p:cNvPr id="17" name="Shape 14"/>
          <p:cNvSpPr/>
          <p:nvPr/>
        </p:nvSpPr>
        <p:spPr>
          <a:xfrm>
            <a:off x="4773168" y="3200400"/>
            <a:ext cx="393192" cy="914"/>
          </a:xfrm>
          <a:prstGeom prst="line">
            <a:avLst/>
          </a:prstGeom>
          <a:noFill/>
          <a:ln w="20320">
            <a:solidFill>
              <a:srgbClr val="79CAFF"/>
            </a:solidFill>
            <a:prstDash val="solid"/>
            <a:tailEnd type="triangle"/>
          </a:ln>
        </p:spPr>
      </p:sp>
      <p:sp>
        <p:nvSpPr>
          <p:cNvPr id="18" name="Shape 15"/>
          <p:cNvSpPr/>
          <p:nvPr/>
        </p:nvSpPr>
        <p:spPr>
          <a:xfrm>
            <a:off x="5166360" y="2395728"/>
            <a:ext cx="1938528" cy="1938528"/>
          </a:xfrm>
          <a:prstGeom prst="roundRect">
            <a:avLst>
              <a:gd name="adj" fmla="val 6604"/>
            </a:avLst>
          </a:prstGeom>
          <a:solidFill>
            <a:srgbClr val="111E31"/>
          </a:solidFill>
          <a:ln w="13970">
            <a:solidFill>
              <a:srgbClr val="69E3B5"/>
            </a:solidFill>
            <a:prstDash val="solid"/>
          </a:ln>
        </p:spPr>
      </p:sp>
      <p:sp>
        <p:nvSpPr>
          <p:cNvPr id="19" name="Text 16"/>
          <p:cNvSpPr/>
          <p:nvPr/>
        </p:nvSpPr>
        <p:spPr>
          <a:xfrm>
            <a:off x="5312664" y="2505456"/>
            <a:ext cx="1645920"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ENGINE</a:t>
            </a:r>
            <a:endParaRPr lang="en-US" sz="950" dirty="0"/>
          </a:p>
        </p:txBody>
      </p:sp>
      <p:sp>
        <p:nvSpPr>
          <p:cNvPr id="20" name="Text 17"/>
          <p:cNvSpPr/>
          <p:nvPr/>
        </p:nvSpPr>
        <p:spPr>
          <a:xfrm>
            <a:off x="5312664" y="2743200"/>
            <a:ext cx="1645920"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negamax</a:t>
            </a:r>
            <a:endParaRPr lang="en-US" sz="1900" dirty="0"/>
          </a:p>
        </p:txBody>
      </p:sp>
      <p:sp>
        <p:nvSpPr>
          <p:cNvPr id="21" name="Shape 18"/>
          <p:cNvSpPr/>
          <p:nvPr/>
        </p:nvSpPr>
        <p:spPr>
          <a:xfrm>
            <a:off x="5312664" y="3182112"/>
            <a:ext cx="1645920" cy="914"/>
          </a:xfrm>
          <a:prstGeom prst="line">
            <a:avLst/>
          </a:prstGeom>
          <a:noFill/>
          <a:ln w="20320">
            <a:solidFill>
              <a:srgbClr val="2A3A51"/>
            </a:solidFill>
            <a:prstDash val="solid"/>
          </a:ln>
        </p:spPr>
      </p:sp>
      <p:sp>
        <p:nvSpPr>
          <p:cNvPr id="22" name="Text 19"/>
          <p:cNvSpPr/>
          <p:nvPr/>
        </p:nvSpPr>
        <p:spPr>
          <a:xfrm>
            <a:off x="5312664" y="3328416"/>
            <a:ext cx="1645920" cy="886968"/>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recursive bounds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cache + cutoffs</a:t>
            </a:r>
            <a:endParaRPr lang="en-US" sz="1410" dirty="0"/>
          </a:p>
        </p:txBody>
      </p:sp>
      <p:sp>
        <p:nvSpPr>
          <p:cNvPr id="23" name="Shape 20"/>
          <p:cNvSpPr/>
          <p:nvPr/>
        </p:nvSpPr>
        <p:spPr>
          <a:xfrm>
            <a:off x="7104888" y="3200400"/>
            <a:ext cx="393192" cy="914"/>
          </a:xfrm>
          <a:prstGeom prst="line">
            <a:avLst/>
          </a:prstGeom>
          <a:noFill/>
          <a:ln w="20320">
            <a:solidFill>
              <a:srgbClr val="79CAFF"/>
            </a:solidFill>
            <a:prstDash val="solid"/>
            <a:tailEnd type="triangle"/>
          </a:ln>
        </p:spPr>
      </p:sp>
      <p:sp>
        <p:nvSpPr>
          <p:cNvPr id="24" name="Shape 21"/>
          <p:cNvSpPr/>
          <p:nvPr/>
        </p:nvSpPr>
        <p:spPr>
          <a:xfrm>
            <a:off x="7498080" y="2395728"/>
            <a:ext cx="1938528" cy="1938528"/>
          </a:xfrm>
          <a:prstGeom prst="roundRect">
            <a:avLst>
              <a:gd name="adj" fmla="val 6604"/>
            </a:avLst>
          </a:prstGeom>
          <a:solidFill>
            <a:srgbClr val="111E31"/>
          </a:solidFill>
          <a:ln w="13970">
            <a:solidFill>
              <a:srgbClr val="69E3B5"/>
            </a:solidFill>
            <a:prstDash val="solid"/>
          </a:ln>
        </p:spPr>
      </p:sp>
      <p:sp>
        <p:nvSpPr>
          <p:cNvPr id="25" name="Text 22"/>
          <p:cNvSpPr/>
          <p:nvPr/>
        </p:nvSpPr>
        <p:spPr>
          <a:xfrm>
            <a:off x="7644384" y="2505456"/>
            <a:ext cx="1645920"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ENGINE</a:t>
            </a:r>
            <a:endParaRPr lang="en-US" sz="950" dirty="0"/>
          </a:p>
        </p:txBody>
      </p:sp>
      <p:sp>
        <p:nvSpPr>
          <p:cNvPr id="26" name="Text 23"/>
          <p:cNvSpPr/>
          <p:nvPr/>
        </p:nvSpPr>
        <p:spPr>
          <a:xfrm>
            <a:off x="7644384" y="2743200"/>
            <a:ext cx="1645920"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quiescence</a:t>
            </a:r>
            <a:endParaRPr lang="en-US" sz="1900" dirty="0"/>
          </a:p>
        </p:txBody>
      </p:sp>
      <p:sp>
        <p:nvSpPr>
          <p:cNvPr id="27" name="Shape 24"/>
          <p:cNvSpPr/>
          <p:nvPr/>
        </p:nvSpPr>
        <p:spPr>
          <a:xfrm>
            <a:off x="7644384" y="3182112"/>
            <a:ext cx="1645920" cy="914"/>
          </a:xfrm>
          <a:prstGeom prst="line">
            <a:avLst/>
          </a:prstGeom>
          <a:noFill/>
          <a:ln w="20320">
            <a:solidFill>
              <a:srgbClr val="2A3A51"/>
            </a:solidFill>
            <a:prstDash val="solid"/>
          </a:ln>
        </p:spPr>
      </p:sp>
      <p:sp>
        <p:nvSpPr>
          <p:cNvPr id="28" name="Text 25"/>
          <p:cNvSpPr/>
          <p:nvPr/>
        </p:nvSpPr>
        <p:spPr>
          <a:xfrm>
            <a:off x="7644384" y="3328416"/>
            <a:ext cx="1645920" cy="886968"/>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tactical moves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check evasions</a:t>
            </a:r>
            <a:endParaRPr lang="en-US" sz="1410" dirty="0"/>
          </a:p>
        </p:txBody>
      </p:sp>
      <p:sp>
        <p:nvSpPr>
          <p:cNvPr id="29" name="Shape 26"/>
          <p:cNvSpPr/>
          <p:nvPr/>
        </p:nvSpPr>
        <p:spPr>
          <a:xfrm>
            <a:off x="9436608" y="3200400"/>
            <a:ext cx="393192" cy="914"/>
          </a:xfrm>
          <a:prstGeom prst="line">
            <a:avLst/>
          </a:prstGeom>
          <a:noFill/>
          <a:ln w="20320">
            <a:solidFill>
              <a:srgbClr val="79CAFF"/>
            </a:solidFill>
            <a:prstDash val="solid"/>
            <a:tailEnd type="triangle"/>
          </a:ln>
        </p:spPr>
      </p:sp>
      <p:sp>
        <p:nvSpPr>
          <p:cNvPr id="30" name="Shape 27"/>
          <p:cNvSpPr/>
          <p:nvPr/>
        </p:nvSpPr>
        <p:spPr>
          <a:xfrm>
            <a:off x="9829800" y="2395728"/>
            <a:ext cx="1938528" cy="1938528"/>
          </a:xfrm>
          <a:prstGeom prst="roundRect">
            <a:avLst>
              <a:gd name="adj" fmla="val 6604"/>
            </a:avLst>
          </a:prstGeom>
          <a:solidFill>
            <a:srgbClr val="111E31"/>
          </a:solidFill>
          <a:ln w="13970">
            <a:solidFill>
              <a:srgbClr val="79CAFF"/>
            </a:solidFill>
            <a:prstDash val="solid"/>
          </a:ln>
        </p:spPr>
      </p:sp>
      <p:sp>
        <p:nvSpPr>
          <p:cNvPr id="31" name="Text 28"/>
          <p:cNvSpPr/>
          <p:nvPr/>
        </p:nvSpPr>
        <p:spPr>
          <a:xfrm>
            <a:off x="9976104" y="2505456"/>
            <a:ext cx="1645920"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79CAFF"/>
                </a:solidFill>
                <a:latin typeface="Segoe UI" pitchFamily="34" charset="0"/>
                <a:ea typeface="Segoe UI" pitchFamily="34" charset="-122"/>
                <a:cs typeface="Segoe UI" pitchFamily="34" charset="-120"/>
              </a:rPr>
              <a:t>EVALUATOR</a:t>
            </a:r>
            <a:endParaRPr lang="en-US" sz="950" dirty="0"/>
          </a:p>
        </p:txBody>
      </p:sp>
      <p:sp>
        <p:nvSpPr>
          <p:cNvPr id="32" name="Text 29"/>
          <p:cNvSpPr/>
          <p:nvPr/>
        </p:nvSpPr>
        <p:spPr>
          <a:xfrm>
            <a:off x="9976104" y="2743200"/>
            <a:ext cx="1645920"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evaluate</a:t>
            </a:r>
            <a:endParaRPr lang="en-US" sz="1900" dirty="0"/>
          </a:p>
        </p:txBody>
      </p:sp>
      <p:sp>
        <p:nvSpPr>
          <p:cNvPr id="33" name="Shape 30"/>
          <p:cNvSpPr/>
          <p:nvPr/>
        </p:nvSpPr>
        <p:spPr>
          <a:xfrm>
            <a:off x="9976104" y="3182112"/>
            <a:ext cx="1645920" cy="914"/>
          </a:xfrm>
          <a:prstGeom prst="line">
            <a:avLst/>
          </a:prstGeom>
          <a:noFill/>
          <a:ln w="20320">
            <a:solidFill>
              <a:srgbClr val="2A3A51"/>
            </a:solidFill>
            <a:prstDash val="solid"/>
          </a:ln>
        </p:spPr>
      </p:sp>
      <p:sp>
        <p:nvSpPr>
          <p:cNvPr id="34" name="Text 31"/>
          <p:cNvSpPr/>
          <p:nvPr/>
        </p:nvSpPr>
        <p:spPr>
          <a:xfrm>
            <a:off x="9976104" y="3328416"/>
            <a:ext cx="1645920" cy="886968"/>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static score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current player</a:t>
            </a:r>
            <a:endParaRPr lang="en-US" sz="1410" dirty="0"/>
          </a:p>
        </p:txBody>
      </p:sp>
      <p:sp>
        <p:nvSpPr>
          <p:cNvPr id="35" name="Shape 32"/>
          <p:cNvSpPr/>
          <p:nvPr/>
        </p:nvSpPr>
        <p:spPr>
          <a:xfrm>
            <a:off x="5623560" y="1920240"/>
            <a:ext cx="914" cy="475488"/>
          </a:xfrm>
          <a:prstGeom prst="line">
            <a:avLst/>
          </a:prstGeom>
          <a:noFill/>
          <a:ln w="20320">
            <a:solidFill>
              <a:srgbClr val="F6CD86"/>
            </a:solidFill>
            <a:prstDash val="solid"/>
          </a:ln>
        </p:spPr>
      </p:sp>
      <p:sp>
        <p:nvSpPr>
          <p:cNvPr id="36" name="Shape 33"/>
          <p:cNvSpPr/>
          <p:nvPr/>
        </p:nvSpPr>
        <p:spPr>
          <a:xfrm>
            <a:off x="5623560" y="1920240"/>
            <a:ext cx="923544" cy="914"/>
          </a:xfrm>
          <a:prstGeom prst="line">
            <a:avLst/>
          </a:prstGeom>
          <a:noFill/>
          <a:ln w="20320">
            <a:solidFill>
              <a:srgbClr val="F6CD86"/>
            </a:solidFill>
            <a:prstDash val="solid"/>
          </a:ln>
        </p:spPr>
      </p:sp>
      <p:sp>
        <p:nvSpPr>
          <p:cNvPr id="37" name="Shape 34"/>
          <p:cNvSpPr/>
          <p:nvPr/>
        </p:nvSpPr>
        <p:spPr>
          <a:xfrm>
            <a:off x="6547104" y="1920240"/>
            <a:ext cx="914" cy="475488"/>
          </a:xfrm>
          <a:prstGeom prst="line">
            <a:avLst/>
          </a:prstGeom>
          <a:noFill/>
          <a:ln w="20320">
            <a:solidFill>
              <a:srgbClr val="F6CD86"/>
            </a:solidFill>
            <a:prstDash val="solid"/>
            <a:tailEnd type="triangle"/>
          </a:ln>
        </p:spPr>
      </p:sp>
      <p:sp>
        <p:nvSpPr>
          <p:cNvPr id="38" name="Text 35"/>
          <p:cNvSpPr/>
          <p:nvPr/>
        </p:nvSpPr>
        <p:spPr>
          <a:xfrm>
            <a:off x="5440680" y="1609344"/>
            <a:ext cx="1325880" cy="228600"/>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F6CD86"/>
                </a:solidFill>
                <a:latin typeface="Segoe UI" pitchFamily="34" charset="0"/>
                <a:ea typeface="Segoe UI" pitchFamily="34" charset="-122"/>
                <a:cs typeface="Segoe UI" pitchFamily="34" charset="-120"/>
              </a:rPr>
              <a:t>recursive call</a:t>
            </a:r>
            <a:endParaRPr lang="en-US" sz="1150" dirty="0"/>
          </a:p>
        </p:txBody>
      </p:sp>
      <p:sp>
        <p:nvSpPr>
          <p:cNvPr id="39" name="Shape 36"/>
          <p:cNvSpPr/>
          <p:nvPr/>
        </p:nvSpPr>
        <p:spPr>
          <a:xfrm>
            <a:off x="502920" y="4572000"/>
            <a:ext cx="11201400" cy="950976"/>
          </a:xfrm>
          <a:prstGeom prst="roundRect">
            <a:avLst>
              <a:gd name="adj" fmla="val 13462"/>
            </a:avLst>
          </a:prstGeom>
          <a:solidFill>
            <a:srgbClr val="16283B"/>
          </a:solidFill>
          <a:ln w="13970">
            <a:solidFill>
              <a:srgbClr val="79CAFF"/>
            </a:solidFill>
            <a:prstDash val="solid"/>
          </a:ln>
        </p:spPr>
      </p:sp>
      <p:sp>
        <p:nvSpPr>
          <p:cNvPr id="40" name="Text 37"/>
          <p:cNvSpPr/>
          <p:nvPr/>
        </p:nvSpPr>
        <p:spPr>
          <a:xfrm>
            <a:off x="649224" y="4663440"/>
            <a:ext cx="10908792" cy="274320"/>
          </a:xfrm>
          <a:prstGeom prst="rect">
            <a:avLst/>
          </a:prstGeom>
          <a:noFill/>
          <a:ln/>
        </p:spPr>
        <p:txBody>
          <a:bodyPr wrap="square" lIns="0" tIns="0" rIns="0" bIns="0" rtlCol="0" anchor="t"/>
          <a:lstStyle/>
          <a:p>
            <a:pPr indent="0" marL="0">
              <a:lnSpc>
                <a:spcPct val="100000"/>
              </a:lnSpc>
              <a:buNone/>
            </a:pPr>
            <a:r>
              <a:rPr lang="en-US" sz="1750" b="1" dirty="0">
                <a:solidFill>
                  <a:srgbClr val="79CAFF"/>
                </a:solidFill>
                <a:latin typeface="Segoe UI" pitchFamily="34" charset="0"/>
                <a:ea typeface="Segoe UI" pitchFamily="34" charset="-122"/>
                <a:cs typeface="Segoe UI" pitchFamily="34" charset="-120"/>
              </a:rPr>
              <a:t>Position.makeMove / Position.unmakeMove</a:t>
            </a:r>
            <a:endParaRPr lang="en-US" sz="1750" dirty="0"/>
          </a:p>
        </p:txBody>
      </p:sp>
      <p:sp>
        <p:nvSpPr>
          <p:cNvPr id="41" name="Text 38"/>
          <p:cNvSpPr/>
          <p:nvPr/>
        </p:nvSpPr>
        <p:spPr>
          <a:xfrm>
            <a:off x="649224" y="5020056"/>
            <a:ext cx="10908792" cy="448056"/>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try / finally always restores the working position and repetition history.</a:t>
            </a:r>
            <a:endParaRPr lang="en-US" sz="1360" dirty="0"/>
          </a:p>
        </p:txBody>
      </p:sp>
      <p:sp>
        <p:nvSpPr>
          <p:cNvPr id="42" name="Shape 39"/>
          <p:cNvSpPr/>
          <p:nvPr/>
        </p:nvSpPr>
        <p:spPr>
          <a:xfrm>
            <a:off x="6080760" y="4334256"/>
            <a:ext cx="914" cy="237744"/>
          </a:xfrm>
          <a:prstGeom prst="line">
            <a:avLst/>
          </a:prstGeom>
          <a:noFill/>
          <a:ln w="20320">
            <a:solidFill>
              <a:srgbClr val="79CAFF"/>
            </a:solidFill>
            <a:prstDash val="dash"/>
            <a:tailEnd type="triangle"/>
          </a:ln>
        </p:spPr>
      </p:sp>
      <p:sp>
        <p:nvSpPr>
          <p:cNvPr id="43" name="Shape 40"/>
          <p:cNvSpPr/>
          <p:nvPr/>
        </p:nvSpPr>
        <p:spPr>
          <a:xfrm>
            <a:off x="457200" y="5925312"/>
            <a:ext cx="11274552" cy="411480"/>
          </a:xfrm>
          <a:prstGeom prst="roundRect">
            <a:avLst>
              <a:gd name="adj" fmla="val 31111"/>
            </a:avLst>
          </a:prstGeom>
          <a:solidFill>
            <a:srgbClr val="17322F"/>
          </a:solidFill>
          <a:ln w="13970">
            <a:solidFill>
              <a:srgbClr val="315D51"/>
            </a:solidFill>
            <a:prstDash val="solid"/>
          </a:ln>
        </p:spPr>
      </p:sp>
      <p:sp>
        <p:nvSpPr>
          <p:cNvPr id="44" name="Text 41"/>
          <p:cNvSpPr/>
          <p:nvPr/>
        </p:nvSpPr>
        <p:spPr>
          <a:xfrm>
            <a:off x="621792" y="6007608"/>
            <a:ext cx="10945368" cy="274320"/>
          </a:xfrm>
          <a:prstGeom prst="rect">
            <a:avLst/>
          </a:prstGeom>
          <a:noFill/>
          <a:ln/>
        </p:spPr>
        <p:txBody>
          <a:bodyPr wrap="square" lIns="0" tIns="0" rIns="0" bIns="0" rtlCol="0" anchor="t"/>
          <a:lstStyle/>
          <a:p>
            <a:pPr indent="0" marL="0">
              <a:lnSpc>
                <a:spcPct val="100000"/>
              </a:lnSpc>
              <a:buNone/>
            </a:pPr>
            <a:r>
              <a:rPr lang="en-US" sz="1510" dirty="0">
                <a:solidFill>
                  <a:srgbClr val="69E3B5"/>
                </a:solidFill>
                <a:latin typeface="Segoe UI" pitchFamily="34" charset="0"/>
                <a:ea typeface="Segoe UI" pitchFamily="34" charset="-122"/>
                <a:cs typeface="Segoe UI" pitchFamily="34" charset="-120"/>
              </a:rPr>
              <a:t>Stop conditions include depth, the soft time budget, draw/terminal states, and a maximum-ply safety limit.</a:t>
            </a:r>
            <a:endParaRPr lang="en-US" sz="1510" dirty="0"/>
          </a:p>
        </p:txBody>
      </p:sp>
      <p:sp>
        <p:nvSpPr>
          <p:cNvPr id="45" name="Shape 42"/>
          <p:cNvSpPr/>
          <p:nvPr/>
        </p:nvSpPr>
        <p:spPr>
          <a:xfrm>
            <a:off x="420624" y="6455664"/>
            <a:ext cx="11356848" cy="914"/>
          </a:xfrm>
          <a:prstGeom prst="line">
            <a:avLst/>
          </a:prstGeom>
          <a:noFill/>
          <a:ln w="20320">
            <a:solidFill>
              <a:srgbClr val="2A3A51"/>
            </a:solidFill>
            <a:prstDash val="solid"/>
          </a:ln>
        </p:spPr>
      </p:sp>
      <p:sp>
        <p:nvSpPr>
          <p:cNvPr id="46" name="Text 43"/>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47" name="Text 44"/>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48" name="Text 45"/>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07 / 14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Evaluation is explainable and configurable</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Settings choose preferences; Evaluator calculates them; Breakdown exposes the same components to the UI.</a:t>
            </a:r>
            <a:endParaRPr lang="en-US" sz="1410" dirty="0"/>
          </a:p>
        </p:txBody>
      </p:sp>
      <p:sp>
        <p:nvSpPr>
          <p:cNvPr id="6" name="Shape 3"/>
          <p:cNvSpPr/>
          <p:nvPr/>
        </p:nvSpPr>
        <p:spPr>
          <a:xfrm>
            <a:off x="502920" y="1938528"/>
            <a:ext cx="2926080" cy="3063240"/>
          </a:xfrm>
          <a:prstGeom prst="roundRect">
            <a:avLst>
              <a:gd name="adj" fmla="val 4375"/>
            </a:avLst>
          </a:prstGeom>
          <a:solidFill>
            <a:srgbClr val="111E31"/>
          </a:solidFill>
          <a:ln w="13970">
            <a:solidFill>
              <a:srgbClr val="79CAFF"/>
            </a:solidFill>
            <a:prstDash val="solid"/>
          </a:ln>
        </p:spPr>
      </p:sp>
      <p:sp>
        <p:nvSpPr>
          <p:cNvPr id="7" name="Text 4"/>
          <p:cNvSpPr/>
          <p:nvPr/>
        </p:nvSpPr>
        <p:spPr>
          <a:xfrm>
            <a:off x="649224" y="2048256"/>
            <a:ext cx="263347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79CAFF"/>
                </a:solidFill>
                <a:latin typeface="Segoe UI" pitchFamily="34" charset="0"/>
                <a:ea typeface="Segoe UI" pitchFamily="34" charset="-122"/>
                <a:cs typeface="Segoe UI" pitchFamily="34" charset="-120"/>
              </a:rPr>
              <a:t>RECORD + NESTED RECORDS</a:t>
            </a:r>
            <a:endParaRPr lang="en-US" sz="950" dirty="0"/>
          </a:p>
        </p:txBody>
      </p:sp>
      <p:sp>
        <p:nvSpPr>
          <p:cNvPr id="8" name="Text 5"/>
          <p:cNvSpPr/>
          <p:nvPr/>
        </p:nvSpPr>
        <p:spPr>
          <a:xfrm>
            <a:off x="649224" y="2286000"/>
            <a:ext cx="263347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EngineSettings</a:t>
            </a:r>
            <a:endParaRPr lang="en-US" sz="1900" dirty="0"/>
          </a:p>
        </p:txBody>
      </p:sp>
      <p:sp>
        <p:nvSpPr>
          <p:cNvPr id="9" name="Shape 6"/>
          <p:cNvSpPr/>
          <p:nvPr/>
        </p:nvSpPr>
        <p:spPr>
          <a:xfrm>
            <a:off x="649224" y="2724912"/>
            <a:ext cx="2633472" cy="914"/>
          </a:xfrm>
          <a:prstGeom prst="line">
            <a:avLst/>
          </a:prstGeom>
          <a:noFill/>
          <a:ln w="20320">
            <a:solidFill>
              <a:srgbClr val="2A3A51"/>
            </a:solidFill>
            <a:prstDash val="solid"/>
          </a:ln>
        </p:spPr>
      </p:sp>
      <p:sp>
        <p:nvSpPr>
          <p:cNvPr id="10" name="Text 7"/>
          <p:cNvSpPr/>
          <p:nvPr/>
        </p:nvSpPr>
        <p:spPr>
          <a:xfrm>
            <a:off x="649224" y="2871216"/>
            <a:ext cx="2633472" cy="201168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weights: EvaluationWeights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depth / time / quiescence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randomness / feature flags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Preset -&gt; settings()</a:t>
            </a:r>
            <a:endParaRPr lang="en-US" sz="1410" dirty="0"/>
          </a:p>
        </p:txBody>
      </p:sp>
      <p:sp>
        <p:nvSpPr>
          <p:cNvPr id="11" name="Shape 8"/>
          <p:cNvSpPr/>
          <p:nvPr/>
        </p:nvSpPr>
        <p:spPr>
          <a:xfrm>
            <a:off x="4572000" y="1938528"/>
            <a:ext cx="3337560" cy="3063240"/>
          </a:xfrm>
          <a:prstGeom prst="roundRect">
            <a:avLst>
              <a:gd name="adj" fmla="val 4179"/>
            </a:avLst>
          </a:prstGeom>
          <a:solidFill>
            <a:srgbClr val="111E31"/>
          </a:solidFill>
          <a:ln w="13970">
            <a:solidFill>
              <a:srgbClr val="69E3B5"/>
            </a:solidFill>
            <a:prstDash val="solid"/>
          </a:ln>
        </p:spPr>
      </p:sp>
      <p:sp>
        <p:nvSpPr>
          <p:cNvPr id="12" name="Text 9"/>
          <p:cNvSpPr/>
          <p:nvPr/>
        </p:nvSpPr>
        <p:spPr>
          <a:xfrm>
            <a:off x="4718304" y="2048256"/>
            <a:ext cx="304495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STATELESS UTILITY</a:t>
            </a:r>
            <a:endParaRPr lang="en-US" sz="950" dirty="0"/>
          </a:p>
        </p:txBody>
      </p:sp>
      <p:sp>
        <p:nvSpPr>
          <p:cNvPr id="13" name="Text 10"/>
          <p:cNvSpPr/>
          <p:nvPr/>
        </p:nvSpPr>
        <p:spPr>
          <a:xfrm>
            <a:off x="4718304" y="2286000"/>
            <a:ext cx="304495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Evaluator</a:t>
            </a:r>
            <a:endParaRPr lang="en-US" sz="1900" dirty="0"/>
          </a:p>
        </p:txBody>
      </p:sp>
      <p:sp>
        <p:nvSpPr>
          <p:cNvPr id="14" name="Shape 11"/>
          <p:cNvSpPr/>
          <p:nvPr/>
        </p:nvSpPr>
        <p:spPr>
          <a:xfrm>
            <a:off x="4718304" y="2724912"/>
            <a:ext cx="3044952" cy="914"/>
          </a:xfrm>
          <a:prstGeom prst="line">
            <a:avLst/>
          </a:prstGeom>
          <a:noFill/>
          <a:ln w="20320">
            <a:solidFill>
              <a:srgbClr val="2A3A51"/>
            </a:solidFill>
            <a:prstDash val="solid"/>
          </a:ln>
        </p:spPr>
      </p:sp>
      <p:sp>
        <p:nvSpPr>
          <p:cNvPr id="15" name="Text 12"/>
          <p:cNvSpPr/>
          <p:nvPr/>
        </p:nvSpPr>
        <p:spPr>
          <a:xfrm>
            <a:off x="4718304" y="2871216"/>
            <a:ext cx="3044952" cy="201168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evaluate(Position, weights)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  -&gt; int score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explain(Position, weights)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  -&gt; Breakdown</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phase-dependent blending</a:t>
            </a:r>
            <a:endParaRPr lang="en-US" sz="1410" dirty="0"/>
          </a:p>
        </p:txBody>
      </p:sp>
      <p:sp>
        <p:nvSpPr>
          <p:cNvPr id="16" name="Shape 13"/>
          <p:cNvSpPr/>
          <p:nvPr/>
        </p:nvSpPr>
        <p:spPr>
          <a:xfrm>
            <a:off x="8732520" y="1938528"/>
            <a:ext cx="2971800" cy="3063240"/>
          </a:xfrm>
          <a:prstGeom prst="roundRect">
            <a:avLst>
              <a:gd name="adj" fmla="val 4308"/>
            </a:avLst>
          </a:prstGeom>
          <a:solidFill>
            <a:srgbClr val="111E31"/>
          </a:solidFill>
          <a:ln w="13970">
            <a:solidFill>
              <a:srgbClr val="F6CD86"/>
            </a:solidFill>
            <a:prstDash val="solid"/>
          </a:ln>
        </p:spPr>
      </p:sp>
      <p:sp>
        <p:nvSpPr>
          <p:cNvPr id="17" name="Text 14"/>
          <p:cNvSpPr/>
          <p:nvPr/>
        </p:nvSpPr>
        <p:spPr>
          <a:xfrm>
            <a:off x="8878824" y="2048256"/>
            <a:ext cx="267919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F6CD86"/>
                </a:solidFill>
                <a:latin typeface="Segoe UI" pitchFamily="34" charset="0"/>
                <a:ea typeface="Segoe UI" pitchFamily="34" charset="-122"/>
                <a:cs typeface="Segoe UI" pitchFamily="34" charset="-120"/>
              </a:rPr>
              <a:t>NESTED RECORD</a:t>
            </a:r>
            <a:endParaRPr lang="en-US" sz="950" dirty="0"/>
          </a:p>
        </p:txBody>
      </p:sp>
      <p:sp>
        <p:nvSpPr>
          <p:cNvPr id="18" name="Text 15"/>
          <p:cNvSpPr/>
          <p:nvPr/>
        </p:nvSpPr>
        <p:spPr>
          <a:xfrm>
            <a:off x="8878824" y="2286000"/>
            <a:ext cx="267919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Breakdown</a:t>
            </a:r>
            <a:endParaRPr lang="en-US" sz="1900" dirty="0"/>
          </a:p>
        </p:txBody>
      </p:sp>
      <p:sp>
        <p:nvSpPr>
          <p:cNvPr id="19" name="Shape 16"/>
          <p:cNvSpPr/>
          <p:nvPr/>
        </p:nvSpPr>
        <p:spPr>
          <a:xfrm>
            <a:off x="8878824" y="2724912"/>
            <a:ext cx="2679192" cy="914"/>
          </a:xfrm>
          <a:prstGeom prst="line">
            <a:avLst/>
          </a:prstGeom>
          <a:noFill/>
          <a:ln w="20320">
            <a:solidFill>
              <a:srgbClr val="2A3A51"/>
            </a:solidFill>
            <a:prstDash val="solid"/>
          </a:ln>
        </p:spPr>
      </p:sp>
      <p:sp>
        <p:nvSpPr>
          <p:cNvPr id="20" name="Text 17"/>
          <p:cNvSpPr/>
          <p:nvPr/>
        </p:nvSpPr>
        <p:spPr>
          <a:xfrm>
            <a:off x="8878824" y="2871216"/>
            <a:ext cx="2679192" cy="201168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material / placement</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mobility / pawnStructure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kingSafety / tempo</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total()</a:t>
            </a:r>
            <a:endParaRPr lang="en-US" sz="1410" dirty="0"/>
          </a:p>
        </p:txBody>
      </p:sp>
      <p:sp>
        <p:nvSpPr>
          <p:cNvPr id="21" name="Shape 18"/>
          <p:cNvSpPr/>
          <p:nvPr/>
        </p:nvSpPr>
        <p:spPr>
          <a:xfrm>
            <a:off x="3429000" y="3383280"/>
            <a:ext cx="1143000" cy="914"/>
          </a:xfrm>
          <a:prstGeom prst="line">
            <a:avLst/>
          </a:prstGeom>
          <a:noFill/>
          <a:ln w="20320">
            <a:solidFill>
              <a:srgbClr val="79CAFF"/>
            </a:solidFill>
            <a:prstDash val="solid"/>
            <a:tailEnd type="triangle"/>
          </a:ln>
        </p:spPr>
      </p:sp>
      <p:sp>
        <p:nvSpPr>
          <p:cNvPr id="22" name="Text 19"/>
          <p:cNvSpPr/>
          <p:nvPr/>
        </p:nvSpPr>
        <p:spPr>
          <a:xfrm>
            <a:off x="3566160" y="2990088"/>
            <a:ext cx="841248"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weights</a:t>
            </a:r>
            <a:endParaRPr lang="en-US" sz="1150" dirty="0"/>
          </a:p>
        </p:txBody>
      </p:sp>
      <p:sp>
        <p:nvSpPr>
          <p:cNvPr id="23" name="Shape 20"/>
          <p:cNvSpPr/>
          <p:nvPr/>
        </p:nvSpPr>
        <p:spPr>
          <a:xfrm>
            <a:off x="7909560" y="3383280"/>
            <a:ext cx="822960" cy="914"/>
          </a:xfrm>
          <a:prstGeom prst="line">
            <a:avLst/>
          </a:prstGeom>
          <a:noFill/>
          <a:ln w="20320">
            <a:solidFill>
              <a:srgbClr val="69E3B5"/>
            </a:solidFill>
            <a:prstDash val="solid"/>
            <a:tailEnd type="triangle"/>
          </a:ln>
        </p:spPr>
      </p:sp>
      <p:sp>
        <p:nvSpPr>
          <p:cNvPr id="24" name="Text 21"/>
          <p:cNvSpPr/>
          <p:nvPr/>
        </p:nvSpPr>
        <p:spPr>
          <a:xfrm>
            <a:off x="7946136" y="2990088"/>
            <a:ext cx="749808"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explain</a:t>
            </a:r>
            <a:endParaRPr lang="en-US" sz="1150" dirty="0"/>
          </a:p>
        </p:txBody>
      </p:sp>
      <p:sp>
        <p:nvSpPr>
          <p:cNvPr id="25" name="Shape 22"/>
          <p:cNvSpPr/>
          <p:nvPr/>
        </p:nvSpPr>
        <p:spPr>
          <a:xfrm>
            <a:off x="502920" y="5394960"/>
            <a:ext cx="5458968" cy="859536"/>
          </a:xfrm>
          <a:prstGeom prst="roundRect">
            <a:avLst>
              <a:gd name="adj" fmla="val 14894"/>
            </a:avLst>
          </a:prstGeom>
          <a:solidFill>
            <a:srgbClr val="16283B"/>
          </a:solidFill>
          <a:ln w="13970">
            <a:solidFill>
              <a:srgbClr val="69E3B5"/>
            </a:solidFill>
            <a:prstDash val="solid"/>
          </a:ln>
        </p:spPr>
      </p:sp>
      <p:sp>
        <p:nvSpPr>
          <p:cNvPr id="26" name="Text 23"/>
          <p:cNvSpPr/>
          <p:nvPr/>
        </p:nvSpPr>
        <p:spPr>
          <a:xfrm>
            <a:off x="649224" y="5486400"/>
            <a:ext cx="5166360" cy="274320"/>
          </a:xfrm>
          <a:prstGeom prst="rect">
            <a:avLst/>
          </a:prstGeom>
          <a:noFill/>
          <a:ln/>
        </p:spPr>
        <p:txBody>
          <a:bodyPr wrap="square" lIns="0" tIns="0" rIns="0" bIns="0" rtlCol="0" anchor="t"/>
          <a:lstStyle/>
          <a:p>
            <a:pPr indent="0" marL="0">
              <a:lnSpc>
                <a:spcPct val="100000"/>
              </a:lnSpc>
              <a:buNone/>
            </a:pPr>
            <a:r>
              <a:rPr lang="en-US" sz="1750" b="1" dirty="0">
                <a:solidFill>
                  <a:srgbClr val="69E3B5"/>
                </a:solidFill>
                <a:latin typeface="Segoe UI" pitchFamily="34" charset="0"/>
                <a:ea typeface="Segoe UI" pitchFamily="34" charset="-122"/>
                <a:cs typeface="Segoe UI" pitchFamily="34" charset="-120"/>
              </a:rPr>
              <a:t>UI convention</a:t>
            </a:r>
            <a:endParaRPr lang="en-US" sz="1750" dirty="0"/>
          </a:p>
        </p:txBody>
      </p:sp>
      <p:sp>
        <p:nvSpPr>
          <p:cNvPr id="27" name="Text 24"/>
          <p:cNvSpPr/>
          <p:nvPr/>
        </p:nvSpPr>
        <p:spPr>
          <a:xfrm>
            <a:off x="649224" y="5843016"/>
            <a:ext cx="5166360" cy="356616"/>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Positive displayed scores favor White.</a:t>
            </a:r>
            <a:endParaRPr lang="en-US" sz="1360" dirty="0"/>
          </a:p>
        </p:txBody>
      </p:sp>
      <p:sp>
        <p:nvSpPr>
          <p:cNvPr id="28" name="Shape 25"/>
          <p:cNvSpPr/>
          <p:nvPr/>
        </p:nvSpPr>
        <p:spPr>
          <a:xfrm>
            <a:off x="6245352" y="5394960"/>
            <a:ext cx="5458968" cy="859536"/>
          </a:xfrm>
          <a:prstGeom prst="roundRect">
            <a:avLst>
              <a:gd name="adj" fmla="val 14894"/>
            </a:avLst>
          </a:prstGeom>
          <a:solidFill>
            <a:srgbClr val="16283B"/>
          </a:solidFill>
          <a:ln w="13970">
            <a:solidFill>
              <a:srgbClr val="79CAFF"/>
            </a:solidFill>
            <a:prstDash val="solid"/>
          </a:ln>
        </p:spPr>
      </p:sp>
      <p:sp>
        <p:nvSpPr>
          <p:cNvPr id="29" name="Text 26"/>
          <p:cNvSpPr/>
          <p:nvPr/>
        </p:nvSpPr>
        <p:spPr>
          <a:xfrm>
            <a:off x="6391656" y="5486400"/>
            <a:ext cx="5166360" cy="274320"/>
          </a:xfrm>
          <a:prstGeom prst="rect">
            <a:avLst/>
          </a:prstGeom>
          <a:noFill/>
          <a:ln/>
        </p:spPr>
        <p:txBody>
          <a:bodyPr wrap="square" lIns="0" tIns="0" rIns="0" bIns="0" rtlCol="0" anchor="t"/>
          <a:lstStyle/>
          <a:p>
            <a:pPr indent="0" marL="0">
              <a:lnSpc>
                <a:spcPct val="100000"/>
              </a:lnSpc>
              <a:buNone/>
            </a:pPr>
            <a:r>
              <a:rPr lang="en-US" sz="1750" b="1" dirty="0">
                <a:solidFill>
                  <a:srgbClr val="79CAFF"/>
                </a:solidFill>
                <a:latin typeface="Segoe UI" pitchFamily="34" charset="0"/>
                <a:ea typeface="Segoe UI" pitchFamily="34" charset="-122"/>
                <a:cs typeface="Segoe UI" pitchFamily="34" charset="-120"/>
              </a:rPr>
              <a:t>Search convention</a:t>
            </a:r>
            <a:endParaRPr lang="en-US" sz="1750" dirty="0"/>
          </a:p>
        </p:txBody>
      </p:sp>
      <p:sp>
        <p:nvSpPr>
          <p:cNvPr id="30" name="Text 27"/>
          <p:cNvSpPr/>
          <p:nvPr/>
        </p:nvSpPr>
        <p:spPr>
          <a:xfrm>
            <a:off x="6391656" y="5843016"/>
            <a:ext cx="5166360" cy="356616"/>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Positive internal scores favor the side to move.</a:t>
            </a:r>
            <a:endParaRPr lang="en-US" sz="1360" dirty="0"/>
          </a:p>
        </p:txBody>
      </p:sp>
      <p:sp>
        <p:nvSpPr>
          <p:cNvPr id="31" name="Shape 28"/>
          <p:cNvSpPr/>
          <p:nvPr/>
        </p:nvSpPr>
        <p:spPr>
          <a:xfrm>
            <a:off x="420624" y="6455664"/>
            <a:ext cx="11356848" cy="914"/>
          </a:xfrm>
          <a:prstGeom prst="line">
            <a:avLst/>
          </a:prstGeom>
          <a:noFill/>
          <a:ln w="20320">
            <a:solidFill>
              <a:srgbClr val="2A3A51"/>
            </a:solidFill>
            <a:prstDash val="solid"/>
          </a:ln>
        </p:spPr>
      </p:sp>
      <p:sp>
        <p:nvSpPr>
          <p:cNvPr id="32" name="Text 29"/>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33" name="Text 30"/>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34" name="Text 31"/>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08 / 14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A cache entry includes its validity context</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TranspositionTable is package-private and owned by one Engine search.</a:t>
            </a:r>
            <a:endParaRPr lang="en-US" sz="1410" dirty="0"/>
          </a:p>
        </p:txBody>
      </p:sp>
      <p:sp>
        <p:nvSpPr>
          <p:cNvPr id="6" name="Shape 3"/>
          <p:cNvSpPr/>
          <p:nvPr/>
        </p:nvSpPr>
        <p:spPr>
          <a:xfrm>
            <a:off x="502920" y="1865376"/>
            <a:ext cx="3685032" cy="3264408"/>
          </a:xfrm>
          <a:prstGeom prst="roundRect">
            <a:avLst>
              <a:gd name="adj" fmla="val 3922"/>
            </a:avLst>
          </a:prstGeom>
          <a:solidFill>
            <a:srgbClr val="111E31"/>
          </a:solidFill>
          <a:ln w="13970">
            <a:solidFill>
              <a:srgbClr val="79CAFF"/>
            </a:solidFill>
            <a:prstDash val="solid"/>
          </a:ln>
        </p:spPr>
      </p:sp>
      <p:sp>
        <p:nvSpPr>
          <p:cNvPr id="7" name="Text 4"/>
          <p:cNvSpPr/>
          <p:nvPr/>
        </p:nvSpPr>
        <p:spPr>
          <a:xfrm>
            <a:off x="649224" y="1975104"/>
            <a:ext cx="3392424"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79CAFF"/>
                </a:solidFill>
                <a:latin typeface="Segoe UI" pitchFamily="34" charset="0"/>
                <a:ea typeface="Segoe UI" pitchFamily="34" charset="-122"/>
                <a:cs typeface="Segoe UI" pitchFamily="34" charset="-120"/>
              </a:rPr>
              <a:t>BOUNDED ARRAY CACHE</a:t>
            </a:r>
            <a:endParaRPr lang="en-US" sz="950" dirty="0"/>
          </a:p>
        </p:txBody>
      </p:sp>
      <p:sp>
        <p:nvSpPr>
          <p:cNvPr id="8" name="Text 5"/>
          <p:cNvSpPr/>
          <p:nvPr/>
        </p:nvSpPr>
        <p:spPr>
          <a:xfrm>
            <a:off x="649224" y="2212848"/>
            <a:ext cx="3392424"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TranspositionTable</a:t>
            </a:r>
            <a:endParaRPr lang="en-US" sz="1900" dirty="0"/>
          </a:p>
        </p:txBody>
      </p:sp>
      <p:sp>
        <p:nvSpPr>
          <p:cNvPr id="9" name="Shape 6"/>
          <p:cNvSpPr/>
          <p:nvPr/>
        </p:nvSpPr>
        <p:spPr>
          <a:xfrm>
            <a:off x="649224" y="2651760"/>
            <a:ext cx="3392424" cy="914"/>
          </a:xfrm>
          <a:prstGeom prst="line">
            <a:avLst/>
          </a:prstGeom>
          <a:noFill/>
          <a:ln w="20320">
            <a:solidFill>
              <a:srgbClr val="2A3A51"/>
            </a:solidFill>
            <a:prstDash val="solid"/>
          </a:ln>
        </p:spPr>
      </p:sp>
      <p:sp>
        <p:nvSpPr>
          <p:cNvPr id="10" name="Text 7"/>
          <p:cNvSpPr/>
          <p:nvPr/>
        </p:nvSpPr>
        <p:spPr>
          <a:xfrm>
            <a:off x="649224" y="2798064"/>
            <a:ext cx="3392424" cy="2212848"/>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Entry[]: 262,144 slots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find(key) / store(entry)</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checks the full key</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depth-aware replacement</a:t>
            </a:r>
            <a:endParaRPr lang="en-US" sz="1410" dirty="0"/>
          </a:p>
        </p:txBody>
      </p:sp>
      <p:sp>
        <p:nvSpPr>
          <p:cNvPr id="11" name="Shape 8"/>
          <p:cNvSpPr/>
          <p:nvPr/>
        </p:nvSpPr>
        <p:spPr>
          <a:xfrm>
            <a:off x="5742432" y="1792224"/>
            <a:ext cx="5961888" cy="2139696"/>
          </a:xfrm>
          <a:prstGeom prst="roundRect">
            <a:avLst>
              <a:gd name="adj" fmla="val 5983"/>
            </a:avLst>
          </a:prstGeom>
          <a:solidFill>
            <a:srgbClr val="111E31"/>
          </a:solidFill>
          <a:ln w="13970">
            <a:solidFill>
              <a:srgbClr val="69E3B5"/>
            </a:solidFill>
            <a:prstDash val="solid"/>
          </a:ln>
        </p:spPr>
      </p:sp>
      <p:sp>
        <p:nvSpPr>
          <p:cNvPr id="12" name="Text 9"/>
          <p:cNvSpPr/>
          <p:nvPr/>
        </p:nvSpPr>
        <p:spPr>
          <a:xfrm>
            <a:off x="5888736" y="1901952"/>
            <a:ext cx="5669280"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NESTED RECORD</a:t>
            </a:r>
            <a:endParaRPr lang="en-US" sz="950" dirty="0"/>
          </a:p>
        </p:txBody>
      </p:sp>
      <p:sp>
        <p:nvSpPr>
          <p:cNvPr id="13" name="Text 10"/>
          <p:cNvSpPr/>
          <p:nvPr/>
        </p:nvSpPr>
        <p:spPr>
          <a:xfrm>
            <a:off x="5888736" y="2139696"/>
            <a:ext cx="5669280"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Entry</a:t>
            </a:r>
            <a:endParaRPr lang="en-US" sz="1900" dirty="0"/>
          </a:p>
        </p:txBody>
      </p:sp>
      <p:sp>
        <p:nvSpPr>
          <p:cNvPr id="14" name="Shape 11"/>
          <p:cNvSpPr/>
          <p:nvPr/>
        </p:nvSpPr>
        <p:spPr>
          <a:xfrm>
            <a:off x="5888736" y="2578608"/>
            <a:ext cx="5669280" cy="914"/>
          </a:xfrm>
          <a:prstGeom prst="line">
            <a:avLst/>
          </a:prstGeom>
          <a:noFill/>
          <a:ln w="20320">
            <a:solidFill>
              <a:srgbClr val="2A3A51"/>
            </a:solidFill>
            <a:prstDash val="solid"/>
          </a:ln>
        </p:spPr>
      </p:sp>
      <p:sp>
        <p:nvSpPr>
          <p:cNvPr id="15" name="Text 12"/>
          <p:cNvSpPr/>
          <p:nvPr/>
        </p:nvSpPr>
        <p:spPr>
          <a:xfrm>
            <a:off x="5888736" y="2724912"/>
            <a:ext cx="5669280" cy="1088136"/>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key + historySignature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halfmoveClock + depth</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score + bound + bestMove</a:t>
            </a:r>
            <a:endParaRPr lang="en-US" sz="1410" dirty="0"/>
          </a:p>
        </p:txBody>
      </p:sp>
      <p:sp>
        <p:nvSpPr>
          <p:cNvPr id="16" name="Shape 13"/>
          <p:cNvSpPr/>
          <p:nvPr/>
        </p:nvSpPr>
        <p:spPr>
          <a:xfrm>
            <a:off x="5742432" y="4443984"/>
            <a:ext cx="5961888" cy="859536"/>
          </a:xfrm>
          <a:prstGeom prst="roundRect">
            <a:avLst>
              <a:gd name="adj" fmla="val 14894"/>
            </a:avLst>
          </a:prstGeom>
          <a:solidFill>
            <a:srgbClr val="16283B"/>
          </a:solidFill>
          <a:ln w="13970">
            <a:solidFill>
              <a:srgbClr val="F6CD86"/>
            </a:solidFill>
            <a:prstDash val="solid"/>
          </a:ln>
        </p:spPr>
      </p:sp>
      <p:sp>
        <p:nvSpPr>
          <p:cNvPr id="17" name="Text 14"/>
          <p:cNvSpPr/>
          <p:nvPr/>
        </p:nvSpPr>
        <p:spPr>
          <a:xfrm>
            <a:off x="5888736" y="4535424"/>
            <a:ext cx="5669280" cy="274320"/>
          </a:xfrm>
          <a:prstGeom prst="rect">
            <a:avLst/>
          </a:prstGeom>
          <a:noFill/>
          <a:ln/>
        </p:spPr>
        <p:txBody>
          <a:bodyPr wrap="square" lIns="0" tIns="0" rIns="0" bIns="0" rtlCol="0" anchor="t"/>
          <a:lstStyle/>
          <a:p>
            <a:pPr indent="0" marL="0">
              <a:lnSpc>
                <a:spcPct val="100000"/>
              </a:lnSpc>
              <a:buNone/>
            </a:pPr>
            <a:r>
              <a:rPr lang="en-US" sz="1750" b="1" dirty="0">
                <a:solidFill>
                  <a:srgbClr val="F6CD86"/>
                </a:solidFill>
                <a:latin typeface="Segoe UI" pitchFamily="34" charset="0"/>
                <a:ea typeface="Segoe UI" pitchFamily="34" charset="-122"/>
                <a:cs typeface="Segoe UI" pitchFamily="34" charset="-120"/>
              </a:rPr>
              <a:t>Bound (enum)</a:t>
            </a:r>
            <a:endParaRPr lang="en-US" sz="1750" dirty="0"/>
          </a:p>
        </p:txBody>
      </p:sp>
      <p:sp>
        <p:nvSpPr>
          <p:cNvPr id="18" name="Text 15"/>
          <p:cNvSpPr/>
          <p:nvPr/>
        </p:nvSpPr>
        <p:spPr>
          <a:xfrm>
            <a:off x="5888736" y="4892040"/>
            <a:ext cx="5669280" cy="356616"/>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EXACT / LOWER / UPPER</a:t>
            </a:r>
            <a:endParaRPr lang="en-US" sz="1360" dirty="0"/>
          </a:p>
        </p:txBody>
      </p:sp>
      <p:sp>
        <p:nvSpPr>
          <p:cNvPr id="19" name="Shape 16"/>
          <p:cNvSpPr/>
          <p:nvPr/>
        </p:nvSpPr>
        <p:spPr>
          <a:xfrm>
            <a:off x="4187952" y="2871216"/>
            <a:ext cx="1554480" cy="914"/>
          </a:xfrm>
          <a:prstGeom prst="line">
            <a:avLst/>
          </a:prstGeom>
          <a:noFill/>
          <a:ln w="20320">
            <a:solidFill>
              <a:srgbClr val="69E3B5"/>
            </a:solidFill>
            <a:prstDash val="solid"/>
            <a:tailEnd type="triangle"/>
          </a:ln>
        </p:spPr>
      </p:sp>
      <p:sp>
        <p:nvSpPr>
          <p:cNvPr id="20" name="Text 17"/>
          <p:cNvSpPr/>
          <p:nvPr/>
        </p:nvSpPr>
        <p:spPr>
          <a:xfrm>
            <a:off x="4297680" y="2432304"/>
            <a:ext cx="1344168"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stores / returns</a:t>
            </a:r>
            <a:endParaRPr lang="en-US" sz="1150" dirty="0"/>
          </a:p>
        </p:txBody>
      </p:sp>
      <p:sp>
        <p:nvSpPr>
          <p:cNvPr id="21" name="Shape 18"/>
          <p:cNvSpPr/>
          <p:nvPr/>
        </p:nvSpPr>
        <p:spPr>
          <a:xfrm>
            <a:off x="8723376" y="3931920"/>
            <a:ext cx="914" cy="512064"/>
          </a:xfrm>
          <a:prstGeom prst="line">
            <a:avLst/>
          </a:prstGeom>
          <a:noFill/>
          <a:ln w="20320">
            <a:solidFill>
              <a:srgbClr val="F6CD86"/>
            </a:solidFill>
            <a:prstDash val="solid"/>
            <a:tailEnd type="triangle"/>
          </a:ln>
        </p:spPr>
      </p:sp>
      <p:sp>
        <p:nvSpPr>
          <p:cNvPr id="22" name="Text 19"/>
          <p:cNvSpPr/>
          <p:nvPr/>
        </p:nvSpPr>
        <p:spPr>
          <a:xfrm>
            <a:off x="8869680" y="4059936"/>
            <a:ext cx="1417320"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F6CD86"/>
                </a:solidFill>
                <a:latin typeface="Segoe UI" pitchFamily="34" charset="0"/>
                <a:ea typeface="Segoe UI" pitchFamily="34" charset="-122"/>
                <a:cs typeface="Segoe UI" pitchFamily="34" charset="-120"/>
              </a:rPr>
              <a:t>score meaning</a:t>
            </a:r>
            <a:endParaRPr lang="en-US" sz="1150" dirty="0"/>
          </a:p>
        </p:txBody>
      </p:sp>
      <p:sp>
        <p:nvSpPr>
          <p:cNvPr id="23" name="Shape 20"/>
          <p:cNvSpPr/>
          <p:nvPr/>
        </p:nvSpPr>
        <p:spPr>
          <a:xfrm>
            <a:off x="457200" y="5605272"/>
            <a:ext cx="11274552" cy="658368"/>
          </a:xfrm>
          <a:prstGeom prst="roundRect">
            <a:avLst>
              <a:gd name="adj" fmla="val 19444"/>
            </a:avLst>
          </a:prstGeom>
          <a:solidFill>
            <a:srgbClr val="17322F"/>
          </a:solidFill>
          <a:ln w="13970">
            <a:solidFill>
              <a:srgbClr val="315D51"/>
            </a:solidFill>
            <a:prstDash val="solid"/>
          </a:ln>
        </p:spPr>
      </p:sp>
      <p:sp>
        <p:nvSpPr>
          <p:cNvPr id="24" name="Text 21"/>
          <p:cNvSpPr/>
          <p:nvPr/>
        </p:nvSpPr>
        <p:spPr>
          <a:xfrm>
            <a:off x="621792" y="5687568"/>
            <a:ext cx="10945368" cy="521208"/>
          </a:xfrm>
          <a:prstGeom prst="rect">
            <a:avLst/>
          </a:prstGeom>
          <a:noFill/>
          <a:ln/>
        </p:spPr>
        <p:txBody>
          <a:bodyPr wrap="square" lIns="0" tIns="0" rIns="0" bIns="0" rtlCol="0" anchor="t"/>
          <a:lstStyle/>
          <a:p>
            <a:pPr indent="0" marL="0">
              <a:lnSpc>
                <a:spcPct val="100000"/>
              </a:lnSpc>
              <a:buNone/>
            </a:pPr>
            <a:r>
              <a:rPr lang="en-US" sz="1510" dirty="0">
                <a:solidFill>
                  <a:srgbClr val="69E3B5"/>
                </a:solidFill>
                <a:latin typeface="Segoe UI" pitchFamily="34" charset="0"/>
                <a:ea typeface="Segoe UI" pitchFamily="34" charset="-122"/>
                <a:cs typeface="Segoe UI" pitchFamily="34" charset="-120"/>
              </a:rPr>
              <a:t>Score reuse checks the full key, sufficient depth, halfmove clock, and repetition context. Move ordering can reuse less.</a:t>
            </a:r>
            <a:endParaRPr lang="en-US" sz="1510" dirty="0"/>
          </a:p>
        </p:txBody>
      </p:sp>
      <p:sp>
        <p:nvSpPr>
          <p:cNvPr id="25" name="Shape 22"/>
          <p:cNvSpPr/>
          <p:nvPr/>
        </p:nvSpPr>
        <p:spPr>
          <a:xfrm>
            <a:off x="420624" y="6455664"/>
            <a:ext cx="11356848" cy="914"/>
          </a:xfrm>
          <a:prstGeom prst="line">
            <a:avLst/>
          </a:prstGeom>
          <a:noFill/>
          <a:ln w="20320">
            <a:solidFill>
              <a:srgbClr val="2A3A51"/>
            </a:solidFill>
            <a:prstDash val="solid"/>
          </a:ln>
        </p:spPr>
      </p:sp>
      <p:sp>
        <p:nvSpPr>
          <p:cNvPr id="26" name="Text 23"/>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27" name="Text 24"/>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28" name="Text 25"/>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09 / 14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Swing composition and callback boundaries</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ChessFrame is both the top-level window and the controller; panels report user intent.</a:t>
            </a:r>
            <a:endParaRPr lang="en-US" sz="1410" dirty="0"/>
          </a:p>
        </p:txBody>
      </p:sp>
      <p:sp>
        <p:nvSpPr>
          <p:cNvPr id="6" name="Shape 3"/>
          <p:cNvSpPr/>
          <p:nvPr/>
        </p:nvSpPr>
        <p:spPr>
          <a:xfrm>
            <a:off x="457200" y="1719072"/>
            <a:ext cx="2286000" cy="502920"/>
          </a:xfrm>
          <a:prstGeom prst="roundRect">
            <a:avLst>
              <a:gd name="adj" fmla="val 25455"/>
            </a:avLst>
          </a:prstGeom>
          <a:solidFill>
            <a:srgbClr val="16283B"/>
          </a:solidFill>
          <a:ln w="13970">
            <a:solidFill>
              <a:srgbClr val="69E3B5"/>
            </a:solidFill>
            <a:prstDash val="solid"/>
          </a:ln>
        </p:spPr>
      </p:sp>
      <p:sp>
        <p:nvSpPr>
          <p:cNvPr id="7" name="Text 4"/>
          <p:cNvSpPr/>
          <p:nvPr/>
        </p:nvSpPr>
        <p:spPr>
          <a:xfrm>
            <a:off x="603504" y="1810512"/>
            <a:ext cx="1993392" cy="274320"/>
          </a:xfrm>
          <a:prstGeom prst="rect">
            <a:avLst/>
          </a:prstGeom>
          <a:noFill/>
          <a:ln/>
        </p:spPr>
        <p:txBody>
          <a:bodyPr wrap="square" lIns="0" tIns="0" rIns="0" bIns="0" rtlCol="0" anchor="t"/>
          <a:lstStyle/>
          <a:p>
            <a:pPr indent="0" marL="0">
              <a:lnSpc>
                <a:spcPct val="100000"/>
              </a:lnSpc>
              <a:buNone/>
            </a:pPr>
            <a:r>
              <a:rPr lang="en-US" sz="1750" b="1" dirty="0">
                <a:solidFill>
                  <a:srgbClr val="69E3B5"/>
                </a:solidFill>
                <a:latin typeface="Segoe UI" pitchFamily="34" charset="0"/>
                <a:ea typeface="Segoe UI" pitchFamily="34" charset="-122"/>
                <a:cs typeface="Segoe UI" pitchFamily="34" charset="-120"/>
              </a:rPr>
              <a:t>Main</a:t>
            </a:r>
            <a:endParaRPr lang="en-US" sz="1750" dirty="0"/>
          </a:p>
        </p:txBody>
      </p:sp>
      <p:sp>
        <p:nvSpPr>
          <p:cNvPr id="8" name="Shape 5"/>
          <p:cNvSpPr/>
          <p:nvPr/>
        </p:nvSpPr>
        <p:spPr>
          <a:xfrm>
            <a:off x="4727448" y="1636776"/>
            <a:ext cx="2743200" cy="868680"/>
          </a:xfrm>
          <a:prstGeom prst="roundRect">
            <a:avLst>
              <a:gd name="adj" fmla="val 14737"/>
            </a:avLst>
          </a:prstGeom>
          <a:solidFill>
            <a:srgbClr val="16283B"/>
          </a:solidFill>
          <a:ln w="13970">
            <a:solidFill>
              <a:srgbClr val="C6ABFF"/>
            </a:solidFill>
            <a:prstDash val="solid"/>
          </a:ln>
        </p:spPr>
      </p:sp>
      <p:sp>
        <p:nvSpPr>
          <p:cNvPr id="9" name="Text 6"/>
          <p:cNvSpPr/>
          <p:nvPr/>
        </p:nvSpPr>
        <p:spPr>
          <a:xfrm>
            <a:off x="4873752" y="1728216"/>
            <a:ext cx="2450592" cy="274320"/>
          </a:xfrm>
          <a:prstGeom prst="rect">
            <a:avLst/>
          </a:prstGeom>
          <a:noFill/>
          <a:ln/>
        </p:spPr>
        <p:txBody>
          <a:bodyPr wrap="square" lIns="0" tIns="0" rIns="0" bIns="0" rtlCol="0" anchor="t"/>
          <a:lstStyle/>
          <a:p>
            <a:pPr indent="0" marL="0">
              <a:lnSpc>
                <a:spcPct val="100000"/>
              </a:lnSpc>
              <a:buNone/>
            </a:pPr>
            <a:r>
              <a:rPr lang="en-US" sz="1750" b="1" dirty="0">
                <a:solidFill>
                  <a:srgbClr val="C6ABFF"/>
                </a:solidFill>
                <a:latin typeface="Segoe UI" pitchFamily="34" charset="0"/>
                <a:ea typeface="Segoe UI" pitchFamily="34" charset="-122"/>
                <a:cs typeface="Segoe UI" pitchFamily="34" charset="-120"/>
              </a:rPr>
              <a:t>JFrame</a:t>
            </a:r>
            <a:endParaRPr lang="en-US" sz="1750" dirty="0"/>
          </a:p>
        </p:txBody>
      </p:sp>
      <p:sp>
        <p:nvSpPr>
          <p:cNvPr id="10" name="Text 7"/>
          <p:cNvSpPr/>
          <p:nvPr/>
        </p:nvSpPr>
        <p:spPr>
          <a:xfrm>
            <a:off x="4873752" y="2084832"/>
            <a:ext cx="2450592" cy="365760"/>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Swing base class</a:t>
            </a:r>
            <a:endParaRPr lang="en-US" sz="1360" dirty="0"/>
          </a:p>
        </p:txBody>
      </p:sp>
      <p:sp>
        <p:nvSpPr>
          <p:cNvPr id="11" name="Shape 8"/>
          <p:cNvSpPr/>
          <p:nvPr/>
        </p:nvSpPr>
        <p:spPr>
          <a:xfrm>
            <a:off x="8686800" y="1719072"/>
            <a:ext cx="2971800" cy="1024128"/>
          </a:xfrm>
          <a:prstGeom prst="roundRect">
            <a:avLst>
              <a:gd name="adj" fmla="val 12500"/>
            </a:avLst>
          </a:prstGeom>
          <a:solidFill>
            <a:srgbClr val="16283B"/>
          </a:solidFill>
          <a:ln w="13970">
            <a:solidFill>
              <a:srgbClr val="69E3B5"/>
            </a:solidFill>
            <a:prstDash val="solid"/>
          </a:ln>
        </p:spPr>
      </p:sp>
      <p:sp>
        <p:nvSpPr>
          <p:cNvPr id="12" name="Text 9"/>
          <p:cNvSpPr/>
          <p:nvPr/>
        </p:nvSpPr>
        <p:spPr>
          <a:xfrm>
            <a:off x="8833104" y="1810512"/>
            <a:ext cx="2679192" cy="274320"/>
          </a:xfrm>
          <a:prstGeom prst="rect">
            <a:avLst/>
          </a:prstGeom>
          <a:noFill/>
          <a:ln/>
        </p:spPr>
        <p:txBody>
          <a:bodyPr wrap="square" lIns="0" tIns="0" rIns="0" bIns="0" rtlCol="0" anchor="t"/>
          <a:lstStyle/>
          <a:p>
            <a:pPr indent="0" marL="0">
              <a:lnSpc>
                <a:spcPct val="100000"/>
              </a:lnSpc>
              <a:buNone/>
            </a:pPr>
            <a:r>
              <a:rPr lang="en-US" sz="1750" b="1" dirty="0">
                <a:solidFill>
                  <a:srgbClr val="69E3B5"/>
                </a:solidFill>
                <a:latin typeface="Segoe UI" pitchFamily="34" charset="0"/>
                <a:ea typeface="Segoe UI" pitchFamily="34" charset="-122"/>
                <a:cs typeface="Segoe UI" pitchFamily="34" charset="-120"/>
              </a:rPr>
              <a:t>Game</a:t>
            </a:r>
            <a:endParaRPr lang="en-US" sz="1750" dirty="0"/>
          </a:p>
        </p:txBody>
      </p:sp>
      <p:sp>
        <p:nvSpPr>
          <p:cNvPr id="13" name="Text 10"/>
          <p:cNvSpPr/>
          <p:nvPr/>
        </p:nvSpPr>
        <p:spPr>
          <a:xfrm>
            <a:off x="8833104" y="2167128"/>
            <a:ext cx="2679192" cy="521208"/>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Owned live game</a:t>
            </a:r>
            <a:endParaRPr lang="en-US" sz="1360" dirty="0"/>
          </a:p>
        </p:txBody>
      </p:sp>
      <p:sp>
        <p:nvSpPr>
          <p:cNvPr id="14" name="Shape 11"/>
          <p:cNvSpPr/>
          <p:nvPr/>
        </p:nvSpPr>
        <p:spPr>
          <a:xfrm>
            <a:off x="4389120" y="2944368"/>
            <a:ext cx="3474720" cy="2066544"/>
          </a:xfrm>
          <a:prstGeom prst="roundRect">
            <a:avLst>
              <a:gd name="adj" fmla="val 6195"/>
            </a:avLst>
          </a:prstGeom>
          <a:solidFill>
            <a:srgbClr val="111E31"/>
          </a:solidFill>
          <a:ln w="13970">
            <a:solidFill>
              <a:srgbClr val="69E3B5"/>
            </a:solidFill>
            <a:prstDash val="solid"/>
          </a:ln>
        </p:spPr>
      </p:sp>
      <p:sp>
        <p:nvSpPr>
          <p:cNvPr id="15" name="Text 12"/>
          <p:cNvSpPr/>
          <p:nvPr/>
        </p:nvSpPr>
        <p:spPr>
          <a:xfrm>
            <a:off x="4535424" y="3054096"/>
            <a:ext cx="318211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69E3B5"/>
                </a:solidFill>
                <a:latin typeface="Segoe UI" pitchFamily="34" charset="0"/>
                <a:ea typeface="Segoe UI" pitchFamily="34" charset="-122"/>
                <a:cs typeface="Segoe UI" pitchFamily="34" charset="-120"/>
              </a:rPr>
              <a:t>WINDOW + CONTROLLER</a:t>
            </a:r>
            <a:endParaRPr lang="en-US" sz="950" dirty="0"/>
          </a:p>
        </p:txBody>
      </p:sp>
      <p:sp>
        <p:nvSpPr>
          <p:cNvPr id="16" name="Text 13"/>
          <p:cNvSpPr/>
          <p:nvPr/>
        </p:nvSpPr>
        <p:spPr>
          <a:xfrm>
            <a:off x="4535424" y="3291840"/>
            <a:ext cx="318211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ChessFrame</a:t>
            </a:r>
            <a:endParaRPr lang="en-US" sz="1900" dirty="0"/>
          </a:p>
        </p:txBody>
      </p:sp>
      <p:sp>
        <p:nvSpPr>
          <p:cNvPr id="17" name="Shape 14"/>
          <p:cNvSpPr/>
          <p:nvPr/>
        </p:nvSpPr>
        <p:spPr>
          <a:xfrm>
            <a:off x="4535424" y="3730752"/>
            <a:ext cx="3182112" cy="914"/>
          </a:xfrm>
          <a:prstGeom prst="line">
            <a:avLst/>
          </a:prstGeom>
          <a:noFill/>
          <a:ln w="20320">
            <a:solidFill>
              <a:srgbClr val="2A3A51"/>
            </a:solidFill>
            <a:prstDash val="solid"/>
          </a:ln>
        </p:spPr>
      </p:sp>
      <p:sp>
        <p:nvSpPr>
          <p:cNvPr id="18" name="Text 15"/>
          <p:cNvSpPr/>
          <p:nvPr/>
        </p:nvSpPr>
        <p:spPr>
          <a:xfrm>
            <a:off x="4535424" y="3877056"/>
            <a:ext cx="3182112" cy="1014984"/>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game / board / settings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input -&gt; playMove()</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worker + stop + revision</a:t>
            </a:r>
            <a:endParaRPr lang="en-US" sz="1410" dirty="0"/>
          </a:p>
        </p:txBody>
      </p:sp>
      <p:sp>
        <p:nvSpPr>
          <p:cNvPr id="19" name="Shape 16"/>
          <p:cNvSpPr/>
          <p:nvPr/>
        </p:nvSpPr>
        <p:spPr>
          <a:xfrm>
            <a:off x="457200" y="3803904"/>
            <a:ext cx="2880360" cy="2103120"/>
          </a:xfrm>
          <a:prstGeom prst="roundRect">
            <a:avLst>
              <a:gd name="adj" fmla="val 6087"/>
            </a:avLst>
          </a:prstGeom>
          <a:solidFill>
            <a:srgbClr val="111E31"/>
          </a:solidFill>
          <a:ln w="13970">
            <a:solidFill>
              <a:srgbClr val="79CAFF"/>
            </a:solidFill>
            <a:prstDash val="solid"/>
          </a:ln>
        </p:spPr>
      </p:sp>
      <p:sp>
        <p:nvSpPr>
          <p:cNvPr id="20" name="Text 17"/>
          <p:cNvSpPr/>
          <p:nvPr/>
        </p:nvSpPr>
        <p:spPr>
          <a:xfrm>
            <a:off x="603504" y="3913632"/>
            <a:ext cx="258775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79CAFF"/>
                </a:solidFill>
                <a:latin typeface="Segoe UI" pitchFamily="34" charset="0"/>
                <a:ea typeface="Segoe UI" pitchFamily="34" charset="-122"/>
                <a:cs typeface="Segoe UI" pitchFamily="34" charset="-120"/>
              </a:rPr>
              <a:t>EXTENDS JPANEL</a:t>
            </a:r>
            <a:endParaRPr lang="en-US" sz="950" dirty="0"/>
          </a:p>
        </p:txBody>
      </p:sp>
      <p:sp>
        <p:nvSpPr>
          <p:cNvPr id="21" name="Text 18"/>
          <p:cNvSpPr/>
          <p:nvPr/>
        </p:nvSpPr>
        <p:spPr>
          <a:xfrm>
            <a:off x="603504" y="4151376"/>
            <a:ext cx="258775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BoardPanel</a:t>
            </a:r>
            <a:endParaRPr lang="en-US" sz="1900" dirty="0"/>
          </a:p>
        </p:txBody>
      </p:sp>
      <p:sp>
        <p:nvSpPr>
          <p:cNvPr id="22" name="Shape 19"/>
          <p:cNvSpPr/>
          <p:nvPr/>
        </p:nvSpPr>
        <p:spPr>
          <a:xfrm>
            <a:off x="603504" y="4590288"/>
            <a:ext cx="2587752" cy="914"/>
          </a:xfrm>
          <a:prstGeom prst="line">
            <a:avLst/>
          </a:prstGeom>
          <a:noFill/>
          <a:ln w="20320">
            <a:solidFill>
              <a:srgbClr val="2A3A51"/>
            </a:solidFill>
            <a:prstDash val="solid"/>
          </a:ln>
        </p:spPr>
      </p:sp>
      <p:sp>
        <p:nvSpPr>
          <p:cNvPr id="23" name="Text 20"/>
          <p:cNvSpPr/>
          <p:nvPr/>
        </p:nvSpPr>
        <p:spPr>
          <a:xfrm>
            <a:off x="603504" y="4736592"/>
            <a:ext cx="2587752" cy="105156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display Position copy</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legal Move list</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BiConsumer&lt;Integer,Integer&gt;</a:t>
            </a:r>
            <a:endParaRPr lang="en-US" sz="1410" dirty="0"/>
          </a:p>
        </p:txBody>
      </p:sp>
      <p:sp>
        <p:nvSpPr>
          <p:cNvPr id="24" name="Shape 21"/>
          <p:cNvSpPr/>
          <p:nvPr/>
        </p:nvSpPr>
        <p:spPr>
          <a:xfrm>
            <a:off x="8686800" y="3803904"/>
            <a:ext cx="2971800" cy="2103120"/>
          </a:xfrm>
          <a:prstGeom prst="roundRect">
            <a:avLst>
              <a:gd name="adj" fmla="val 6087"/>
            </a:avLst>
          </a:prstGeom>
          <a:solidFill>
            <a:srgbClr val="111E31"/>
          </a:solidFill>
          <a:ln w="13970">
            <a:solidFill>
              <a:srgbClr val="79CAFF"/>
            </a:solidFill>
            <a:prstDash val="solid"/>
          </a:ln>
        </p:spPr>
      </p:sp>
      <p:sp>
        <p:nvSpPr>
          <p:cNvPr id="25" name="Text 22"/>
          <p:cNvSpPr/>
          <p:nvPr/>
        </p:nvSpPr>
        <p:spPr>
          <a:xfrm>
            <a:off x="8833104" y="3913632"/>
            <a:ext cx="2679192" cy="173736"/>
          </a:xfrm>
          <a:prstGeom prst="rect">
            <a:avLst/>
          </a:prstGeom>
          <a:noFill/>
          <a:ln/>
        </p:spPr>
        <p:txBody>
          <a:bodyPr wrap="square" lIns="0" tIns="0" rIns="0" bIns="0" rtlCol="0" anchor="t"/>
          <a:lstStyle/>
          <a:p>
            <a:pPr indent="0" marL="0">
              <a:lnSpc>
                <a:spcPct val="100000"/>
              </a:lnSpc>
              <a:buNone/>
            </a:pPr>
            <a:r>
              <a:rPr lang="en-US" sz="950" b="1" spc="100" kern="0" dirty="0">
                <a:solidFill>
                  <a:srgbClr val="79CAFF"/>
                </a:solidFill>
                <a:latin typeface="Segoe UI" pitchFamily="34" charset="0"/>
                <a:ea typeface="Segoe UI" pitchFamily="34" charset="-122"/>
                <a:cs typeface="Segoe UI" pitchFamily="34" charset="-120"/>
              </a:rPr>
              <a:t>EXTENDS JPANEL</a:t>
            </a:r>
            <a:endParaRPr lang="en-US" sz="950" dirty="0"/>
          </a:p>
        </p:txBody>
      </p:sp>
      <p:sp>
        <p:nvSpPr>
          <p:cNvPr id="26" name="Text 23"/>
          <p:cNvSpPr/>
          <p:nvPr/>
        </p:nvSpPr>
        <p:spPr>
          <a:xfrm>
            <a:off x="8833104" y="4151376"/>
            <a:ext cx="2679192" cy="329184"/>
          </a:xfrm>
          <a:prstGeom prst="rect">
            <a:avLst/>
          </a:prstGeom>
          <a:noFill/>
          <a:ln/>
        </p:spPr>
        <p:txBody>
          <a:bodyPr wrap="square" lIns="0" tIns="0" rIns="0" bIns="0" rtlCol="0" anchor="t"/>
          <a:lstStyle/>
          <a:p>
            <a:pPr indent="0" marL="0">
              <a:lnSpc>
                <a:spcPct val="100000"/>
              </a:lnSpc>
              <a:buNone/>
            </a:pPr>
            <a:r>
              <a:rPr lang="en-US" sz="1900" b="1" dirty="0">
                <a:solidFill>
                  <a:srgbClr val="F3F7FD"/>
                </a:solidFill>
                <a:latin typeface="Segoe UI" pitchFamily="34" charset="0"/>
                <a:ea typeface="Segoe UI" pitchFamily="34" charset="-122"/>
                <a:cs typeface="Segoe UI" pitchFamily="34" charset="-120"/>
              </a:rPr>
              <a:t>SettingsPanel</a:t>
            </a:r>
            <a:endParaRPr lang="en-US" sz="1900" dirty="0"/>
          </a:p>
        </p:txBody>
      </p:sp>
      <p:sp>
        <p:nvSpPr>
          <p:cNvPr id="27" name="Shape 24"/>
          <p:cNvSpPr/>
          <p:nvPr/>
        </p:nvSpPr>
        <p:spPr>
          <a:xfrm>
            <a:off x="8833104" y="4590288"/>
            <a:ext cx="2679192" cy="914"/>
          </a:xfrm>
          <a:prstGeom prst="line">
            <a:avLst/>
          </a:prstGeom>
          <a:noFill/>
          <a:ln w="20320">
            <a:solidFill>
              <a:srgbClr val="2A3A51"/>
            </a:solidFill>
            <a:prstDash val="solid"/>
          </a:ln>
        </p:spPr>
      </p:sp>
      <p:sp>
        <p:nvSpPr>
          <p:cNvPr id="28" name="Text 25"/>
          <p:cNvSpPr/>
          <p:nvPr/>
        </p:nvSpPr>
        <p:spPr>
          <a:xfrm>
            <a:off x="8833104" y="4736592"/>
            <a:ext cx="2679192" cy="1051560"/>
          </a:xfrm>
          <a:prstGeom prst="rect">
            <a:avLst/>
          </a:prstGeom>
          <a:noFill/>
          <a:ln/>
        </p:spPr>
        <p:txBody>
          <a:bodyPr wrap="square" lIns="0" tIns="0" rIns="0" bIns="0" rtlCol="0" anchor="t"/>
          <a:lstStyle/>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controls -&gt; settings()</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EngineSettings snapshot</a:t>
            </a:r>
            <a:endParaRPr lang="en-US" sz="1410" dirty="0"/>
          </a:p>
          <a:p>
            <a:pPr indent="0" marL="0">
              <a:lnSpc>
                <a:spcPct val="112000"/>
              </a:lnSpc>
              <a:buNone/>
            </a:pPr>
            <a:r>
              <a:rPr lang="en-US" sz="1410" dirty="0">
                <a:solidFill>
                  <a:srgbClr val="A7B6CC"/>
                </a:solidFill>
                <a:latin typeface="Consolas" pitchFamily="34" charset="0"/>
                <a:ea typeface="Consolas" pitchFamily="34" charset="-122"/>
                <a:cs typeface="Consolas" pitchFamily="34" charset="-120"/>
              </a:rPr>
              <a:t>Runnable onChange</a:t>
            </a:r>
            <a:endParaRPr lang="en-US" sz="1410" dirty="0"/>
          </a:p>
        </p:txBody>
      </p:sp>
      <p:sp>
        <p:nvSpPr>
          <p:cNvPr id="29" name="Shape 26"/>
          <p:cNvSpPr/>
          <p:nvPr/>
        </p:nvSpPr>
        <p:spPr>
          <a:xfrm>
            <a:off x="2743200" y="1970532"/>
            <a:ext cx="950976" cy="914"/>
          </a:xfrm>
          <a:prstGeom prst="line">
            <a:avLst/>
          </a:prstGeom>
          <a:noFill/>
          <a:ln w="20320">
            <a:solidFill>
              <a:srgbClr val="69E3B5"/>
            </a:solidFill>
            <a:prstDash val="solid"/>
          </a:ln>
        </p:spPr>
      </p:sp>
      <p:sp>
        <p:nvSpPr>
          <p:cNvPr id="30" name="Shape 27"/>
          <p:cNvSpPr/>
          <p:nvPr/>
        </p:nvSpPr>
        <p:spPr>
          <a:xfrm>
            <a:off x="3694176" y="1970532"/>
            <a:ext cx="914" cy="1577340"/>
          </a:xfrm>
          <a:prstGeom prst="line">
            <a:avLst/>
          </a:prstGeom>
          <a:noFill/>
          <a:ln w="20320">
            <a:solidFill>
              <a:srgbClr val="69E3B5"/>
            </a:solidFill>
            <a:prstDash val="solid"/>
          </a:ln>
        </p:spPr>
      </p:sp>
      <p:sp>
        <p:nvSpPr>
          <p:cNvPr id="31" name="Shape 28"/>
          <p:cNvSpPr/>
          <p:nvPr/>
        </p:nvSpPr>
        <p:spPr>
          <a:xfrm>
            <a:off x="3694176" y="3547872"/>
            <a:ext cx="694944" cy="914"/>
          </a:xfrm>
          <a:prstGeom prst="line">
            <a:avLst/>
          </a:prstGeom>
          <a:noFill/>
          <a:ln w="20320">
            <a:solidFill>
              <a:srgbClr val="69E3B5"/>
            </a:solidFill>
            <a:prstDash val="solid"/>
            <a:tailEnd type="triangle"/>
          </a:ln>
        </p:spPr>
      </p:sp>
      <p:sp>
        <p:nvSpPr>
          <p:cNvPr id="32" name="Text 29"/>
          <p:cNvSpPr/>
          <p:nvPr/>
        </p:nvSpPr>
        <p:spPr>
          <a:xfrm>
            <a:off x="2926080" y="2404872"/>
            <a:ext cx="1207008"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creates on EDT</a:t>
            </a:r>
            <a:endParaRPr lang="en-US" sz="1150" dirty="0"/>
          </a:p>
        </p:txBody>
      </p:sp>
      <p:sp>
        <p:nvSpPr>
          <p:cNvPr id="33" name="Shape 30"/>
          <p:cNvSpPr/>
          <p:nvPr/>
        </p:nvSpPr>
        <p:spPr>
          <a:xfrm>
            <a:off x="6126480" y="2505456"/>
            <a:ext cx="914" cy="438912"/>
          </a:xfrm>
          <a:prstGeom prst="line">
            <a:avLst/>
          </a:prstGeom>
          <a:noFill/>
          <a:ln w="20320">
            <a:solidFill>
              <a:srgbClr val="C6ABFF"/>
            </a:solidFill>
            <a:prstDash val="solid"/>
            <a:headEnd type="triangle"/>
          </a:ln>
        </p:spPr>
      </p:sp>
      <p:sp>
        <p:nvSpPr>
          <p:cNvPr id="34" name="Text 31"/>
          <p:cNvSpPr/>
          <p:nvPr/>
        </p:nvSpPr>
        <p:spPr>
          <a:xfrm>
            <a:off x="6281928" y="2624328"/>
            <a:ext cx="969264"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C6ABFF"/>
                </a:solidFill>
                <a:latin typeface="Segoe UI" pitchFamily="34" charset="0"/>
                <a:ea typeface="Segoe UI" pitchFamily="34" charset="-122"/>
                <a:cs typeface="Segoe UI" pitchFamily="34" charset="-120"/>
              </a:rPr>
              <a:t>extends</a:t>
            </a:r>
            <a:endParaRPr lang="en-US" sz="1150" dirty="0"/>
          </a:p>
        </p:txBody>
      </p:sp>
      <p:sp>
        <p:nvSpPr>
          <p:cNvPr id="35" name="Shape 32"/>
          <p:cNvSpPr/>
          <p:nvPr/>
        </p:nvSpPr>
        <p:spPr>
          <a:xfrm>
            <a:off x="7863840" y="3547872"/>
            <a:ext cx="402336" cy="914"/>
          </a:xfrm>
          <a:prstGeom prst="line">
            <a:avLst/>
          </a:prstGeom>
          <a:noFill/>
          <a:ln w="20320">
            <a:solidFill>
              <a:srgbClr val="69E3B5"/>
            </a:solidFill>
            <a:prstDash val="solid"/>
          </a:ln>
        </p:spPr>
      </p:sp>
      <p:sp>
        <p:nvSpPr>
          <p:cNvPr id="36" name="Shape 33"/>
          <p:cNvSpPr/>
          <p:nvPr/>
        </p:nvSpPr>
        <p:spPr>
          <a:xfrm>
            <a:off x="8266176" y="2231136"/>
            <a:ext cx="914" cy="1316736"/>
          </a:xfrm>
          <a:prstGeom prst="line">
            <a:avLst/>
          </a:prstGeom>
          <a:noFill/>
          <a:ln w="20320">
            <a:solidFill>
              <a:srgbClr val="69E3B5"/>
            </a:solidFill>
            <a:prstDash val="solid"/>
          </a:ln>
        </p:spPr>
      </p:sp>
      <p:sp>
        <p:nvSpPr>
          <p:cNvPr id="37" name="Shape 34"/>
          <p:cNvSpPr/>
          <p:nvPr/>
        </p:nvSpPr>
        <p:spPr>
          <a:xfrm>
            <a:off x="8266176" y="2231136"/>
            <a:ext cx="420624" cy="914"/>
          </a:xfrm>
          <a:prstGeom prst="line">
            <a:avLst/>
          </a:prstGeom>
          <a:noFill/>
          <a:ln w="20320">
            <a:solidFill>
              <a:srgbClr val="69E3B5"/>
            </a:solidFill>
            <a:prstDash val="solid"/>
            <a:tailEnd type="triangle"/>
          </a:ln>
        </p:spPr>
      </p:sp>
      <p:sp>
        <p:nvSpPr>
          <p:cNvPr id="38" name="Text 35"/>
          <p:cNvSpPr/>
          <p:nvPr/>
        </p:nvSpPr>
        <p:spPr>
          <a:xfrm>
            <a:off x="7900416" y="2834640"/>
            <a:ext cx="667512"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owns</a:t>
            </a:r>
            <a:endParaRPr lang="en-US" sz="1150" dirty="0"/>
          </a:p>
        </p:txBody>
      </p:sp>
      <p:sp>
        <p:nvSpPr>
          <p:cNvPr id="39" name="Shape 36"/>
          <p:cNvSpPr/>
          <p:nvPr/>
        </p:nvSpPr>
        <p:spPr>
          <a:xfrm>
            <a:off x="3337560" y="4114800"/>
            <a:ext cx="1051560" cy="914"/>
          </a:xfrm>
          <a:prstGeom prst="line">
            <a:avLst/>
          </a:prstGeom>
          <a:noFill/>
          <a:ln w="20320">
            <a:solidFill>
              <a:srgbClr val="69E3B5"/>
            </a:solidFill>
            <a:prstDash val="solid"/>
            <a:headEnd type="triangle"/>
          </a:ln>
        </p:spPr>
      </p:sp>
      <p:sp>
        <p:nvSpPr>
          <p:cNvPr id="40" name="Text 37"/>
          <p:cNvSpPr/>
          <p:nvPr/>
        </p:nvSpPr>
        <p:spPr>
          <a:xfrm>
            <a:off x="3456432" y="3749040"/>
            <a:ext cx="795528"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owns</a:t>
            </a:r>
            <a:endParaRPr lang="en-US" sz="1150" dirty="0"/>
          </a:p>
        </p:txBody>
      </p:sp>
      <p:sp>
        <p:nvSpPr>
          <p:cNvPr id="41" name="Shape 38"/>
          <p:cNvSpPr/>
          <p:nvPr/>
        </p:nvSpPr>
        <p:spPr>
          <a:xfrm>
            <a:off x="3337560" y="4754880"/>
            <a:ext cx="1051560" cy="914"/>
          </a:xfrm>
          <a:prstGeom prst="line">
            <a:avLst/>
          </a:prstGeom>
          <a:noFill/>
          <a:ln w="20320">
            <a:solidFill>
              <a:srgbClr val="F6CD86"/>
            </a:solidFill>
            <a:prstDash val="dash"/>
            <a:tailEnd type="triangle"/>
          </a:ln>
        </p:spPr>
      </p:sp>
      <p:sp>
        <p:nvSpPr>
          <p:cNvPr id="42" name="Text 39"/>
          <p:cNvSpPr/>
          <p:nvPr/>
        </p:nvSpPr>
        <p:spPr>
          <a:xfrm>
            <a:off x="3410712" y="5084064"/>
            <a:ext cx="896112"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F6CD86"/>
                </a:solidFill>
                <a:latin typeface="Segoe UI" pitchFamily="34" charset="0"/>
                <a:ea typeface="Segoe UI" pitchFamily="34" charset="-122"/>
                <a:cs typeface="Segoe UI" pitchFamily="34" charset="-120"/>
              </a:rPr>
              <a:t>callback</a:t>
            </a:r>
            <a:endParaRPr lang="en-US" sz="1150" dirty="0"/>
          </a:p>
        </p:txBody>
      </p:sp>
      <p:sp>
        <p:nvSpPr>
          <p:cNvPr id="43" name="Shape 40"/>
          <p:cNvSpPr/>
          <p:nvPr/>
        </p:nvSpPr>
        <p:spPr>
          <a:xfrm>
            <a:off x="7863840" y="4114800"/>
            <a:ext cx="822960" cy="914"/>
          </a:xfrm>
          <a:prstGeom prst="line">
            <a:avLst/>
          </a:prstGeom>
          <a:noFill/>
          <a:ln w="20320">
            <a:solidFill>
              <a:srgbClr val="69E3B5"/>
            </a:solidFill>
            <a:prstDash val="solid"/>
            <a:tailEnd type="triangle"/>
          </a:ln>
        </p:spPr>
      </p:sp>
      <p:sp>
        <p:nvSpPr>
          <p:cNvPr id="44" name="Text 41"/>
          <p:cNvSpPr/>
          <p:nvPr/>
        </p:nvSpPr>
        <p:spPr>
          <a:xfrm>
            <a:off x="7918704" y="3730752"/>
            <a:ext cx="685800"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owns</a:t>
            </a:r>
            <a:endParaRPr lang="en-US" sz="1150" dirty="0"/>
          </a:p>
        </p:txBody>
      </p:sp>
      <p:sp>
        <p:nvSpPr>
          <p:cNvPr id="45" name="Shape 42"/>
          <p:cNvSpPr/>
          <p:nvPr/>
        </p:nvSpPr>
        <p:spPr>
          <a:xfrm>
            <a:off x="7863840" y="4754880"/>
            <a:ext cx="822960" cy="914"/>
          </a:xfrm>
          <a:prstGeom prst="line">
            <a:avLst/>
          </a:prstGeom>
          <a:noFill/>
          <a:ln w="20320">
            <a:solidFill>
              <a:srgbClr val="F6CD86"/>
            </a:solidFill>
            <a:prstDash val="dash"/>
            <a:headEnd type="triangle"/>
          </a:ln>
        </p:spPr>
      </p:sp>
      <p:sp>
        <p:nvSpPr>
          <p:cNvPr id="46" name="Text 43"/>
          <p:cNvSpPr/>
          <p:nvPr/>
        </p:nvSpPr>
        <p:spPr>
          <a:xfrm>
            <a:off x="7900416" y="5074920"/>
            <a:ext cx="749808"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F6CD86"/>
                </a:solidFill>
                <a:latin typeface="Segoe UI" pitchFamily="34" charset="0"/>
                <a:ea typeface="Segoe UI" pitchFamily="34" charset="-122"/>
                <a:cs typeface="Segoe UI" pitchFamily="34" charset="-120"/>
              </a:rPr>
              <a:t>callback</a:t>
            </a:r>
            <a:endParaRPr lang="en-US" sz="1150" dirty="0"/>
          </a:p>
        </p:txBody>
      </p:sp>
      <p:sp>
        <p:nvSpPr>
          <p:cNvPr id="47" name="Shape 44"/>
          <p:cNvSpPr/>
          <p:nvPr/>
        </p:nvSpPr>
        <p:spPr>
          <a:xfrm>
            <a:off x="457200" y="5989320"/>
            <a:ext cx="11274552" cy="384048"/>
          </a:xfrm>
          <a:prstGeom prst="roundRect">
            <a:avLst>
              <a:gd name="adj" fmla="val 33333"/>
            </a:avLst>
          </a:prstGeom>
          <a:solidFill>
            <a:srgbClr val="17322F"/>
          </a:solidFill>
          <a:ln w="13970">
            <a:solidFill>
              <a:srgbClr val="315D51"/>
            </a:solidFill>
            <a:prstDash val="solid"/>
          </a:ln>
        </p:spPr>
      </p:sp>
      <p:sp>
        <p:nvSpPr>
          <p:cNvPr id="48" name="Text 45"/>
          <p:cNvSpPr/>
          <p:nvPr/>
        </p:nvSpPr>
        <p:spPr>
          <a:xfrm>
            <a:off x="621792" y="6071616"/>
            <a:ext cx="10945368" cy="246888"/>
          </a:xfrm>
          <a:prstGeom prst="rect">
            <a:avLst/>
          </a:prstGeom>
          <a:noFill/>
          <a:ln/>
        </p:spPr>
        <p:txBody>
          <a:bodyPr wrap="square" lIns="0" tIns="0" rIns="0" bIns="0" rtlCol="0" anchor="t"/>
          <a:lstStyle/>
          <a:p>
            <a:pPr indent="0" marL="0">
              <a:lnSpc>
                <a:spcPct val="100000"/>
              </a:lnSpc>
              <a:buNone/>
            </a:pPr>
            <a:r>
              <a:rPr lang="en-US" sz="1510" dirty="0">
                <a:solidFill>
                  <a:srgbClr val="69E3B5"/>
                </a:solidFill>
                <a:latin typeface="Segoe UI" pitchFamily="34" charset="0"/>
                <a:ea typeface="Segoe UI" pitchFamily="34" charset="-122"/>
                <a:cs typeface="Segoe UI" pitchFamily="34" charset="-120"/>
              </a:rPr>
              <a:t>Panels report intent. ChessFrame validates, plays, refreshes, and starts the next search.</a:t>
            </a:r>
            <a:endParaRPr lang="en-US" sz="1510" dirty="0"/>
          </a:p>
        </p:txBody>
      </p:sp>
      <p:sp>
        <p:nvSpPr>
          <p:cNvPr id="49" name="Shape 46"/>
          <p:cNvSpPr/>
          <p:nvPr/>
        </p:nvSpPr>
        <p:spPr>
          <a:xfrm>
            <a:off x="420624" y="6455664"/>
            <a:ext cx="11356848" cy="914"/>
          </a:xfrm>
          <a:prstGeom prst="line">
            <a:avLst/>
          </a:prstGeom>
          <a:noFill/>
          <a:ln w="20320">
            <a:solidFill>
              <a:srgbClr val="2A3A51"/>
            </a:solidFill>
            <a:prstDash val="solid"/>
          </a:ln>
        </p:spPr>
      </p:sp>
      <p:sp>
        <p:nvSpPr>
          <p:cNvPr id="50" name="Text 47"/>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51" name="Text 48"/>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52" name="Text 49"/>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10 / 14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Thread ownership keeps the interface responsive</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The live Game stays on the EDT; a SwingWorker searches copied state.</a:t>
            </a:r>
            <a:endParaRPr lang="en-US" sz="1410" dirty="0"/>
          </a:p>
        </p:txBody>
      </p:sp>
      <p:sp>
        <p:nvSpPr>
          <p:cNvPr id="6" name="Shape 3"/>
          <p:cNvSpPr/>
          <p:nvPr/>
        </p:nvSpPr>
        <p:spPr>
          <a:xfrm>
            <a:off x="457200" y="1783080"/>
            <a:ext cx="11274552" cy="1828800"/>
          </a:xfrm>
          <a:prstGeom prst="roundRect">
            <a:avLst>
              <a:gd name="adj" fmla="val 7000"/>
            </a:avLst>
          </a:prstGeom>
          <a:solidFill>
            <a:srgbClr val="152E41"/>
          </a:solidFill>
          <a:ln w="13970">
            <a:solidFill>
              <a:srgbClr val="79CAFF"/>
            </a:solidFill>
            <a:prstDash val="solid"/>
          </a:ln>
        </p:spPr>
      </p:sp>
      <p:sp>
        <p:nvSpPr>
          <p:cNvPr id="7" name="Text 4"/>
          <p:cNvSpPr/>
          <p:nvPr/>
        </p:nvSpPr>
        <p:spPr>
          <a:xfrm>
            <a:off x="676656" y="1938528"/>
            <a:ext cx="10789920" cy="329184"/>
          </a:xfrm>
          <a:prstGeom prst="rect">
            <a:avLst/>
          </a:prstGeom>
          <a:noFill/>
          <a:ln/>
        </p:spPr>
        <p:txBody>
          <a:bodyPr wrap="square" lIns="0" tIns="0" rIns="0" bIns="0" rtlCol="0" anchor="t"/>
          <a:lstStyle/>
          <a:p>
            <a:pPr indent="0" marL="0">
              <a:lnSpc>
                <a:spcPct val="100000"/>
              </a:lnSpc>
              <a:buNone/>
            </a:pPr>
            <a:r>
              <a:rPr lang="en-US" sz="1750" b="1" dirty="0">
                <a:solidFill>
                  <a:srgbClr val="79CAFF"/>
                </a:solidFill>
                <a:latin typeface="Segoe UI" pitchFamily="34" charset="0"/>
                <a:ea typeface="Segoe UI" pitchFamily="34" charset="-122"/>
                <a:cs typeface="Segoe UI" pitchFamily="34" charset="-120"/>
              </a:rPr>
              <a:t>EVENT DISPATCH THREAD / owns widgets and the live Game</a:t>
            </a:r>
            <a:endParaRPr lang="en-US" sz="1750" dirty="0"/>
          </a:p>
        </p:txBody>
      </p:sp>
      <p:sp>
        <p:nvSpPr>
          <p:cNvPr id="8" name="Shape 5"/>
          <p:cNvSpPr/>
          <p:nvPr/>
        </p:nvSpPr>
        <p:spPr>
          <a:xfrm>
            <a:off x="685800" y="2505456"/>
            <a:ext cx="3310128" cy="859536"/>
          </a:xfrm>
          <a:prstGeom prst="roundRect">
            <a:avLst>
              <a:gd name="adj" fmla="val 14894"/>
            </a:avLst>
          </a:prstGeom>
          <a:solidFill>
            <a:srgbClr val="16283B"/>
          </a:solidFill>
          <a:ln w="13970">
            <a:solidFill>
              <a:srgbClr val="79CAFF"/>
            </a:solidFill>
            <a:prstDash val="solid"/>
          </a:ln>
        </p:spPr>
      </p:sp>
      <p:sp>
        <p:nvSpPr>
          <p:cNvPr id="9" name="Text 6"/>
          <p:cNvSpPr/>
          <p:nvPr/>
        </p:nvSpPr>
        <p:spPr>
          <a:xfrm>
            <a:off x="832104" y="2596896"/>
            <a:ext cx="3017520" cy="274320"/>
          </a:xfrm>
          <a:prstGeom prst="rect">
            <a:avLst/>
          </a:prstGeom>
          <a:noFill/>
          <a:ln/>
        </p:spPr>
        <p:txBody>
          <a:bodyPr wrap="square" lIns="0" tIns="0" rIns="0" bIns="0" rtlCol="0" anchor="t"/>
          <a:lstStyle/>
          <a:p>
            <a:pPr indent="0" marL="0">
              <a:lnSpc>
                <a:spcPct val="100000"/>
              </a:lnSpc>
              <a:buNone/>
            </a:pPr>
            <a:r>
              <a:rPr lang="en-US" sz="1750" b="1" dirty="0">
                <a:solidFill>
                  <a:srgbClr val="79CAFF"/>
                </a:solidFill>
                <a:latin typeface="Segoe UI" pitchFamily="34" charset="0"/>
                <a:ea typeface="Segoe UI" pitchFamily="34" charset="-122"/>
                <a:cs typeface="Segoe UI" pitchFamily="34" charset="-120"/>
              </a:rPr>
              <a:t>Input + Game + painting</a:t>
            </a:r>
            <a:endParaRPr lang="en-US" sz="1750" dirty="0"/>
          </a:p>
        </p:txBody>
      </p:sp>
      <p:sp>
        <p:nvSpPr>
          <p:cNvPr id="10" name="Text 7"/>
          <p:cNvSpPr/>
          <p:nvPr/>
        </p:nvSpPr>
        <p:spPr>
          <a:xfrm>
            <a:off x="832104" y="2953512"/>
            <a:ext cx="3017520" cy="356616"/>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Short UI operations only</a:t>
            </a:r>
            <a:endParaRPr lang="en-US" sz="1360" dirty="0"/>
          </a:p>
        </p:txBody>
      </p:sp>
      <p:sp>
        <p:nvSpPr>
          <p:cNvPr id="11" name="Shape 8"/>
          <p:cNvSpPr/>
          <p:nvPr/>
        </p:nvSpPr>
        <p:spPr>
          <a:xfrm>
            <a:off x="4453128" y="2505456"/>
            <a:ext cx="2971800" cy="859536"/>
          </a:xfrm>
          <a:prstGeom prst="roundRect">
            <a:avLst>
              <a:gd name="adj" fmla="val 14894"/>
            </a:avLst>
          </a:prstGeom>
          <a:solidFill>
            <a:srgbClr val="16283B"/>
          </a:solidFill>
          <a:ln w="13970">
            <a:solidFill>
              <a:srgbClr val="79CAFF"/>
            </a:solidFill>
            <a:prstDash val="solid"/>
          </a:ln>
        </p:spPr>
      </p:sp>
      <p:sp>
        <p:nvSpPr>
          <p:cNvPr id="12" name="Text 9"/>
          <p:cNvSpPr/>
          <p:nvPr/>
        </p:nvSpPr>
        <p:spPr>
          <a:xfrm>
            <a:off x="4599432" y="2596896"/>
            <a:ext cx="2679192" cy="274320"/>
          </a:xfrm>
          <a:prstGeom prst="rect">
            <a:avLst/>
          </a:prstGeom>
          <a:noFill/>
          <a:ln/>
        </p:spPr>
        <p:txBody>
          <a:bodyPr wrap="square" lIns="0" tIns="0" rIns="0" bIns="0" rtlCol="0" anchor="t"/>
          <a:lstStyle/>
          <a:p>
            <a:pPr indent="0" marL="0">
              <a:lnSpc>
                <a:spcPct val="100000"/>
              </a:lnSpc>
              <a:buNone/>
            </a:pPr>
            <a:r>
              <a:rPr lang="en-US" sz="1750" b="1" dirty="0">
                <a:solidFill>
                  <a:srgbClr val="79CAFF"/>
                </a:solidFill>
                <a:latin typeface="Segoe UI" pitchFamily="34" charset="0"/>
                <a:ea typeface="Segoe UI" pitchFamily="34" charset="-122"/>
                <a:cs typeface="Segoe UI" pitchFamily="34" charset="-120"/>
              </a:rPr>
              <a:t>process(messages)</a:t>
            </a:r>
            <a:endParaRPr lang="en-US" sz="1750" dirty="0"/>
          </a:p>
        </p:txBody>
      </p:sp>
      <p:sp>
        <p:nvSpPr>
          <p:cNvPr id="13" name="Text 10"/>
          <p:cNvSpPr/>
          <p:nvPr/>
        </p:nvSpPr>
        <p:spPr>
          <a:xfrm>
            <a:off x="4599432" y="2953512"/>
            <a:ext cx="2679192" cy="356616"/>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Progress updates on the EDT</a:t>
            </a:r>
            <a:endParaRPr lang="en-US" sz="1360" dirty="0"/>
          </a:p>
        </p:txBody>
      </p:sp>
      <p:sp>
        <p:nvSpPr>
          <p:cNvPr id="14" name="Shape 11"/>
          <p:cNvSpPr/>
          <p:nvPr/>
        </p:nvSpPr>
        <p:spPr>
          <a:xfrm>
            <a:off x="7882128" y="2505456"/>
            <a:ext cx="3602736" cy="859536"/>
          </a:xfrm>
          <a:prstGeom prst="roundRect">
            <a:avLst>
              <a:gd name="adj" fmla="val 14894"/>
            </a:avLst>
          </a:prstGeom>
          <a:solidFill>
            <a:srgbClr val="16283B"/>
          </a:solidFill>
          <a:ln w="13970">
            <a:solidFill>
              <a:srgbClr val="79CAFF"/>
            </a:solidFill>
            <a:prstDash val="solid"/>
          </a:ln>
        </p:spPr>
      </p:sp>
      <p:sp>
        <p:nvSpPr>
          <p:cNvPr id="15" name="Text 12"/>
          <p:cNvSpPr/>
          <p:nvPr/>
        </p:nvSpPr>
        <p:spPr>
          <a:xfrm>
            <a:off x="8028432" y="2596896"/>
            <a:ext cx="3310128" cy="274320"/>
          </a:xfrm>
          <a:prstGeom prst="rect">
            <a:avLst/>
          </a:prstGeom>
          <a:noFill/>
          <a:ln/>
        </p:spPr>
        <p:txBody>
          <a:bodyPr wrap="square" lIns="0" tIns="0" rIns="0" bIns="0" rtlCol="0" anchor="t"/>
          <a:lstStyle/>
          <a:p>
            <a:pPr indent="0" marL="0">
              <a:lnSpc>
                <a:spcPct val="100000"/>
              </a:lnSpc>
              <a:buNone/>
            </a:pPr>
            <a:r>
              <a:rPr lang="en-US" sz="1750" b="1" dirty="0">
                <a:solidFill>
                  <a:srgbClr val="79CAFF"/>
                </a:solidFill>
                <a:latin typeface="Segoe UI" pitchFamily="34" charset="0"/>
                <a:ea typeface="Segoe UI" pitchFamily="34" charset="-122"/>
                <a:cs typeface="Segoe UI" pitchFamily="34" charset="-120"/>
              </a:rPr>
              <a:t>done()</a:t>
            </a:r>
            <a:endParaRPr lang="en-US" sz="1750" dirty="0"/>
          </a:p>
        </p:txBody>
      </p:sp>
      <p:sp>
        <p:nvSpPr>
          <p:cNvPr id="16" name="Text 13"/>
          <p:cNvSpPr/>
          <p:nvPr/>
        </p:nvSpPr>
        <p:spPr>
          <a:xfrm>
            <a:off x="8028432" y="2953512"/>
            <a:ext cx="3310128" cy="356616"/>
          </a:xfrm>
          <a:prstGeom prst="rect">
            <a:avLst/>
          </a:prstGeom>
          <a:noFill/>
          <a:ln/>
        </p:spPr>
        <p:txBody>
          <a:bodyPr wrap="square" lIns="0" tIns="0" rIns="0" bIns="0" rtlCol="0" anchor="t"/>
          <a:lstStyle/>
          <a:p>
            <a:pPr indent="0" marL="0">
              <a:lnSpc>
                <a:spcPct val="100000"/>
              </a:lnSpc>
              <a:buNone/>
            </a:pPr>
            <a:r>
              <a:rPr lang="en-US" sz="1360" dirty="0">
                <a:solidFill>
                  <a:srgbClr val="A7B6CC"/>
                </a:solidFill>
                <a:latin typeface="Segoe UI" pitchFamily="34" charset="0"/>
                <a:ea typeface="Segoe UI" pitchFamily="34" charset="-122"/>
                <a:cs typeface="Segoe UI" pitchFamily="34" charset="-120"/>
              </a:rPr>
              <a:t>Check revision, then apply result</a:t>
            </a:r>
            <a:endParaRPr lang="en-US" sz="1360" dirty="0"/>
          </a:p>
        </p:txBody>
      </p:sp>
      <p:sp>
        <p:nvSpPr>
          <p:cNvPr id="17" name="Shape 14"/>
          <p:cNvSpPr/>
          <p:nvPr/>
        </p:nvSpPr>
        <p:spPr>
          <a:xfrm>
            <a:off x="457200" y="4416552"/>
            <a:ext cx="11274552" cy="1371600"/>
          </a:xfrm>
          <a:prstGeom prst="roundRect">
            <a:avLst>
              <a:gd name="adj" fmla="val 9333"/>
            </a:avLst>
          </a:prstGeom>
          <a:solidFill>
            <a:srgbClr val="17342F"/>
          </a:solidFill>
          <a:ln w="13970">
            <a:solidFill>
              <a:srgbClr val="69E3B5"/>
            </a:solidFill>
            <a:prstDash val="solid"/>
          </a:ln>
        </p:spPr>
      </p:sp>
      <p:sp>
        <p:nvSpPr>
          <p:cNvPr id="18" name="Text 15"/>
          <p:cNvSpPr/>
          <p:nvPr/>
        </p:nvSpPr>
        <p:spPr>
          <a:xfrm>
            <a:off x="676656" y="4581144"/>
            <a:ext cx="10789920" cy="320040"/>
          </a:xfrm>
          <a:prstGeom prst="rect">
            <a:avLst/>
          </a:prstGeom>
          <a:noFill/>
          <a:ln/>
        </p:spPr>
        <p:txBody>
          <a:bodyPr wrap="square" lIns="0" tIns="0" rIns="0" bIns="0" rtlCol="0" anchor="t"/>
          <a:lstStyle/>
          <a:p>
            <a:pPr indent="0" marL="0">
              <a:lnSpc>
                <a:spcPct val="100000"/>
              </a:lnSpc>
              <a:buNone/>
            </a:pPr>
            <a:r>
              <a:rPr lang="en-US" sz="1750" b="1" dirty="0">
                <a:solidFill>
                  <a:srgbClr val="69E3B5"/>
                </a:solidFill>
                <a:latin typeface="Segoe UI" pitchFamily="34" charset="0"/>
                <a:ea typeface="Segoe UI" pitchFamily="34" charset="-122"/>
                <a:cs typeface="Segoe UI" pitchFamily="34" charset="-120"/>
              </a:rPr>
              <a:t>BACKGROUND WORKER / owns its search state</a:t>
            </a:r>
            <a:endParaRPr lang="en-US" sz="1750" dirty="0"/>
          </a:p>
        </p:txBody>
      </p:sp>
      <p:sp>
        <p:nvSpPr>
          <p:cNvPr id="19" name="Text 16"/>
          <p:cNvSpPr/>
          <p:nvPr/>
        </p:nvSpPr>
        <p:spPr>
          <a:xfrm>
            <a:off x="731520" y="5166360"/>
            <a:ext cx="10762488" cy="320040"/>
          </a:xfrm>
          <a:prstGeom prst="rect">
            <a:avLst/>
          </a:prstGeom>
          <a:noFill/>
          <a:ln/>
        </p:spPr>
        <p:txBody>
          <a:bodyPr wrap="square" lIns="0" tIns="0" rIns="0" bIns="0" rtlCol="0" anchor="t"/>
          <a:lstStyle/>
          <a:p>
            <a:pPr indent="0" marL="0">
              <a:lnSpc>
                <a:spcPct val="100000"/>
              </a:lnSpc>
              <a:buNone/>
            </a:pPr>
            <a:r>
              <a:rPr lang="en-US" sz="1450" dirty="0">
                <a:solidFill>
                  <a:srgbClr val="F3F7FD"/>
                </a:solidFill>
                <a:latin typeface="Consolas" pitchFamily="34" charset="0"/>
                <a:ea typeface="Consolas" pitchFamily="34" charset="-122"/>
                <a:cs typeface="Consolas" pitchFamily="34" charset="-120"/>
              </a:rPr>
              <a:t>doInBackground()  -&gt;  new Engine().search(snapshot, settings, history, signal, listener)</a:t>
            </a:r>
            <a:endParaRPr lang="en-US" sz="1450" dirty="0"/>
          </a:p>
        </p:txBody>
      </p:sp>
      <p:sp>
        <p:nvSpPr>
          <p:cNvPr id="20" name="Shape 17"/>
          <p:cNvSpPr/>
          <p:nvPr/>
        </p:nvSpPr>
        <p:spPr>
          <a:xfrm>
            <a:off x="2286000" y="3611880"/>
            <a:ext cx="914" cy="804672"/>
          </a:xfrm>
          <a:prstGeom prst="line">
            <a:avLst/>
          </a:prstGeom>
          <a:noFill/>
          <a:ln w="20320">
            <a:solidFill>
              <a:srgbClr val="79CAFF"/>
            </a:solidFill>
            <a:prstDash val="solid"/>
            <a:tailEnd type="triangle"/>
          </a:ln>
        </p:spPr>
      </p:sp>
      <p:sp>
        <p:nvSpPr>
          <p:cNvPr id="21" name="Text 18"/>
          <p:cNvSpPr/>
          <p:nvPr/>
        </p:nvSpPr>
        <p:spPr>
          <a:xfrm>
            <a:off x="621792" y="3813048"/>
            <a:ext cx="3191256"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position + settings + history</a:t>
            </a:r>
            <a:endParaRPr lang="en-US" sz="1150" dirty="0"/>
          </a:p>
        </p:txBody>
      </p:sp>
      <p:sp>
        <p:nvSpPr>
          <p:cNvPr id="22" name="Shape 19"/>
          <p:cNvSpPr/>
          <p:nvPr/>
        </p:nvSpPr>
        <p:spPr>
          <a:xfrm>
            <a:off x="5952744" y="3611880"/>
            <a:ext cx="914" cy="804672"/>
          </a:xfrm>
          <a:prstGeom prst="line">
            <a:avLst/>
          </a:prstGeom>
          <a:noFill/>
          <a:ln w="20320">
            <a:solidFill>
              <a:srgbClr val="F6CD86"/>
            </a:solidFill>
            <a:prstDash val="solid"/>
            <a:headEnd type="triangle"/>
          </a:ln>
        </p:spPr>
      </p:sp>
      <p:sp>
        <p:nvSpPr>
          <p:cNvPr id="23" name="Text 20"/>
          <p:cNvSpPr/>
          <p:nvPr/>
        </p:nvSpPr>
        <p:spPr>
          <a:xfrm>
            <a:off x="6126480" y="3831336"/>
            <a:ext cx="1600200"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F6CD86"/>
                </a:solidFill>
                <a:latin typeface="Segoe UI" pitchFamily="34" charset="0"/>
                <a:ea typeface="Segoe UI" pitchFamily="34" charset="-122"/>
                <a:cs typeface="Segoe UI" pitchFamily="34" charset="-120"/>
              </a:rPr>
              <a:t>publish / process</a:t>
            </a:r>
            <a:endParaRPr lang="en-US" sz="1150" dirty="0"/>
          </a:p>
        </p:txBody>
      </p:sp>
      <p:sp>
        <p:nvSpPr>
          <p:cNvPr id="24" name="Shape 21"/>
          <p:cNvSpPr/>
          <p:nvPr/>
        </p:nvSpPr>
        <p:spPr>
          <a:xfrm>
            <a:off x="9692640" y="3611880"/>
            <a:ext cx="914" cy="804672"/>
          </a:xfrm>
          <a:prstGeom prst="line">
            <a:avLst/>
          </a:prstGeom>
          <a:noFill/>
          <a:ln w="20320">
            <a:solidFill>
              <a:srgbClr val="F6CD86"/>
            </a:solidFill>
            <a:prstDash val="solid"/>
            <a:headEnd type="triangle"/>
          </a:ln>
        </p:spPr>
      </p:sp>
      <p:sp>
        <p:nvSpPr>
          <p:cNvPr id="25" name="Text 22"/>
          <p:cNvSpPr/>
          <p:nvPr/>
        </p:nvSpPr>
        <p:spPr>
          <a:xfrm>
            <a:off x="9820656" y="3831336"/>
            <a:ext cx="1435608" cy="310896"/>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F6CD86"/>
                </a:solidFill>
                <a:latin typeface="Segoe UI" pitchFamily="34" charset="0"/>
                <a:ea typeface="Segoe UI" pitchFamily="34" charset="-122"/>
                <a:cs typeface="Segoe UI" pitchFamily="34" charset="-120"/>
              </a:rPr>
              <a:t>SearchResult</a:t>
            </a:r>
            <a:endParaRPr lang="en-US" sz="1150" dirty="0"/>
          </a:p>
        </p:txBody>
      </p:sp>
      <p:sp>
        <p:nvSpPr>
          <p:cNvPr id="26" name="Shape 23"/>
          <p:cNvSpPr/>
          <p:nvPr/>
        </p:nvSpPr>
        <p:spPr>
          <a:xfrm>
            <a:off x="457200" y="6007608"/>
            <a:ext cx="11274552" cy="356616"/>
          </a:xfrm>
          <a:prstGeom prst="roundRect">
            <a:avLst>
              <a:gd name="adj" fmla="val 35897"/>
            </a:avLst>
          </a:prstGeom>
          <a:solidFill>
            <a:srgbClr val="17322F"/>
          </a:solidFill>
          <a:ln w="13970">
            <a:solidFill>
              <a:srgbClr val="315D51"/>
            </a:solidFill>
            <a:prstDash val="solid"/>
          </a:ln>
        </p:spPr>
      </p:sp>
      <p:sp>
        <p:nvSpPr>
          <p:cNvPr id="27" name="Text 24"/>
          <p:cNvSpPr/>
          <p:nvPr/>
        </p:nvSpPr>
        <p:spPr>
          <a:xfrm>
            <a:off x="621792" y="6089904"/>
            <a:ext cx="10945368" cy="219456"/>
          </a:xfrm>
          <a:prstGeom prst="rect">
            <a:avLst/>
          </a:prstGeom>
          <a:noFill/>
          <a:ln/>
        </p:spPr>
        <p:txBody>
          <a:bodyPr wrap="square" lIns="0" tIns="0" rIns="0" bIns="0" rtlCol="0" anchor="t"/>
          <a:lstStyle/>
          <a:p>
            <a:pPr indent="0" marL="0">
              <a:lnSpc>
                <a:spcPct val="100000"/>
              </a:lnSpc>
              <a:buNone/>
            </a:pPr>
            <a:r>
              <a:rPr lang="en-US" sz="1510" dirty="0">
                <a:solidFill>
                  <a:srgbClr val="69E3B5"/>
                </a:solidFill>
                <a:latin typeface="Segoe UI" pitchFamily="34" charset="0"/>
                <a:ea typeface="Segoe UI" pitchFamily="34" charset="-122"/>
                <a:cs typeface="Segoe UI" pitchFamily="34" charset="-120"/>
              </a:rPr>
              <a:t>AtomicBoolean requests stop. A revision token rejects obsolete progress and results.</a:t>
            </a:r>
            <a:endParaRPr lang="en-US" sz="1510" dirty="0"/>
          </a:p>
        </p:txBody>
      </p:sp>
      <p:sp>
        <p:nvSpPr>
          <p:cNvPr id="28" name="Shape 25"/>
          <p:cNvSpPr/>
          <p:nvPr/>
        </p:nvSpPr>
        <p:spPr>
          <a:xfrm>
            <a:off x="420624" y="6455664"/>
            <a:ext cx="11356848" cy="914"/>
          </a:xfrm>
          <a:prstGeom prst="line">
            <a:avLst/>
          </a:prstGeom>
          <a:noFill/>
          <a:ln w="20320">
            <a:solidFill>
              <a:srgbClr val="2A3A51"/>
            </a:solidFill>
            <a:prstDash val="solid"/>
          </a:ln>
        </p:spPr>
      </p:sp>
      <p:sp>
        <p:nvSpPr>
          <p:cNvPr id="29" name="Text 26"/>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30" name="Text 27"/>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31" name="Text 28"/>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11 / 14</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One move, end to end</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Simplified successful turn: request, validate, mutate, search, then apply a fresh reply.</a:t>
            </a:r>
            <a:endParaRPr lang="en-US" sz="1410" dirty="0"/>
          </a:p>
        </p:txBody>
      </p:sp>
      <p:sp>
        <p:nvSpPr>
          <p:cNvPr id="6" name="Shape 3"/>
          <p:cNvSpPr/>
          <p:nvPr/>
        </p:nvSpPr>
        <p:spPr>
          <a:xfrm>
            <a:off x="374904" y="1746504"/>
            <a:ext cx="1627632" cy="566928"/>
          </a:xfrm>
          <a:prstGeom prst="roundRect">
            <a:avLst>
              <a:gd name="adj" fmla="val 22581"/>
            </a:avLst>
          </a:prstGeom>
          <a:solidFill>
            <a:srgbClr val="16283B"/>
          </a:solidFill>
          <a:ln w="13970">
            <a:solidFill>
              <a:srgbClr val="79CAFF"/>
            </a:solidFill>
            <a:prstDash val="solid"/>
          </a:ln>
        </p:spPr>
      </p:sp>
      <p:sp>
        <p:nvSpPr>
          <p:cNvPr id="7" name="Text 4"/>
          <p:cNvSpPr/>
          <p:nvPr/>
        </p:nvSpPr>
        <p:spPr>
          <a:xfrm>
            <a:off x="420624" y="1911096"/>
            <a:ext cx="1536192" cy="228600"/>
          </a:xfrm>
          <a:prstGeom prst="rect">
            <a:avLst/>
          </a:prstGeom>
          <a:noFill/>
          <a:ln/>
        </p:spPr>
        <p:txBody>
          <a:bodyPr wrap="square" lIns="0" tIns="0" rIns="0" bIns="0" rtlCol="0" anchor="t"/>
          <a:lstStyle/>
          <a:p>
            <a:pPr algn="ctr" indent="0" marL="0">
              <a:lnSpc>
                <a:spcPct val="100000"/>
              </a:lnSpc>
              <a:buNone/>
            </a:pPr>
            <a:r>
              <a:rPr lang="en-US" sz="1400" b="1" dirty="0">
                <a:solidFill>
                  <a:srgbClr val="F3F7FD"/>
                </a:solidFill>
                <a:latin typeface="Segoe UI" pitchFamily="34" charset="0"/>
                <a:ea typeface="Segoe UI" pitchFamily="34" charset="-122"/>
                <a:cs typeface="Segoe UI" pitchFamily="34" charset="-120"/>
              </a:rPr>
              <a:t>Board / input</a:t>
            </a:r>
            <a:endParaRPr lang="en-US" sz="1400" dirty="0"/>
          </a:p>
        </p:txBody>
      </p:sp>
      <p:sp>
        <p:nvSpPr>
          <p:cNvPr id="8" name="Shape 5"/>
          <p:cNvSpPr/>
          <p:nvPr/>
        </p:nvSpPr>
        <p:spPr>
          <a:xfrm>
            <a:off x="1188720" y="2322576"/>
            <a:ext cx="914" cy="3913632"/>
          </a:xfrm>
          <a:prstGeom prst="line">
            <a:avLst/>
          </a:prstGeom>
          <a:noFill/>
          <a:ln w="20320">
            <a:solidFill>
              <a:srgbClr val="2A3A51"/>
            </a:solidFill>
            <a:prstDash val="dash"/>
          </a:ln>
        </p:spPr>
      </p:sp>
      <p:sp>
        <p:nvSpPr>
          <p:cNvPr id="9" name="Shape 6"/>
          <p:cNvSpPr/>
          <p:nvPr/>
        </p:nvSpPr>
        <p:spPr>
          <a:xfrm>
            <a:off x="2331720" y="1746504"/>
            <a:ext cx="1627632" cy="566928"/>
          </a:xfrm>
          <a:prstGeom prst="roundRect">
            <a:avLst>
              <a:gd name="adj" fmla="val 22581"/>
            </a:avLst>
          </a:prstGeom>
          <a:solidFill>
            <a:srgbClr val="16283B"/>
          </a:solidFill>
          <a:ln w="13970">
            <a:solidFill>
              <a:srgbClr val="79CAFF"/>
            </a:solidFill>
            <a:prstDash val="solid"/>
          </a:ln>
        </p:spPr>
      </p:sp>
      <p:sp>
        <p:nvSpPr>
          <p:cNvPr id="10" name="Text 7"/>
          <p:cNvSpPr/>
          <p:nvPr/>
        </p:nvSpPr>
        <p:spPr>
          <a:xfrm>
            <a:off x="2377440" y="1911096"/>
            <a:ext cx="1536192" cy="228600"/>
          </a:xfrm>
          <a:prstGeom prst="rect">
            <a:avLst/>
          </a:prstGeom>
          <a:noFill/>
          <a:ln/>
        </p:spPr>
        <p:txBody>
          <a:bodyPr wrap="square" lIns="0" tIns="0" rIns="0" bIns="0" rtlCol="0" anchor="t"/>
          <a:lstStyle/>
          <a:p>
            <a:pPr algn="ctr" indent="0" marL="0">
              <a:lnSpc>
                <a:spcPct val="100000"/>
              </a:lnSpc>
              <a:buNone/>
            </a:pPr>
            <a:r>
              <a:rPr lang="en-US" sz="1400" b="1" dirty="0">
                <a:solidFill>
                  <a:srgbClr val="F3F7FD"/>
                </a:solidFill>
                <a:latin typeface="Segoe UI" pitchFamily="34" charset="0"/>
                <a:ea typeface="Segoe UI" pitchFamily="34" charset="-122"/>
                <a:cs typeface="Segoe UI" pitchFamily="34" charset="-120"/>
              </a:rPr>
              <a:t>ChessFrame</a:t>
            </a:r>
            <a:endParaRPr lang="en-US" sz="1400" dirty="0"/>
          </a:p>
        </p:txBody>
      </p:sp>
      <p:sp>
        <p:nvSpPr>
          <p:cNvPr id="11" name="Shape 8"/>
          <p:cNvSpPr/>
          <p:nvPr/>
        </p:nvSpPr>
        <p:spPr>
          <a:xfrm>
            <a:off x="3145536" y="2322576"/>
            <a:ext cx="914" cy="3913632"/>
          </a:xfrm>
          <a:prstGeom prst="line">
            <a:avLst/>
          </a:prstGeom>
          <a:noFill/>
          <a:ln w="20320">
            <a:solidFill>
              <a:srgbClr val="2A3A51"/>
            </a:solidFill>
            <a:prstDash val="dash"/>
          </a:ln>
        </p:spPr>
      </p:sp>
      <p:sp>
        <p:nvSpPr>
          <p:cNvPr id="12" name="Shape 9"/>
          <p:cNvSpPr/>
          <p:nvPr/>
        </p:nvSpPr>
        <p:spPr>
          <a:xfrm>
            <a:off x="4288536" y="1746504"/>
            <a:ext cx="1627632" cy="566928"/>
          </a:xfrm>
          <a:prstGeom prst="roundRect">
            <a:avLst>
              <a:gd name="adj" fmla="val 22581"/>
            </a:avLst>
          </a:prstGeom>
          <a:solidFill>
            <a:srgbClr val="16283B"/>
          </a:solidFill>
          <a:ln w="13970">
            <a:solidFill>
              <a:srgbClr val="79CAFF"/>
            </a:solidFill>
            <a:prstDash val="solid"/>
          </a:ln>
        </p:spPr>
      </p:sp>
      <p:sp>
        <p:nvSpPr>
          <p:cNvPr id="13" name="Text 10"/>
          <p:cNvSpPr/>
          <p:nvPr/>
        </p:nvSpPr>
        <p:spPr>
          <a:xfrm>
            <a:off x="4334256" y="1911096"/>
            <a:ext cx="1536192" cy="228600"/>
          </a:xfrm>
          <a:prstGeom prst="rect">
            <a:avLst/>
          </a:prstGeom>
          <a:noFill/>
          <a:ln/>
        </p:spPr>
        <p:txBody>
          <a:bodyPr wrap="square" lIns="0" tIns="0" rIns="0" bIns="0" rtlCol="0" anchor="t"/>
          <a:lstStyle/>
          <a:p>
            <a:pPr algn="ctr" indent="0" marL="0">
              <a:lnSpc>
                <a:spcPct val="100000"/>
              </a:lnSpc>
              <a:buNone/>
            </a:pPr>
            <a:r>
              <a:rPr lang="en-US" sz="1400" b="1" dirty="0">
                <a:solidFill>
                  <a:srgbClr val="F3F7FD"/>
                </a:solidFill>
                <a:latin typeface="Segoe UI" pitchFamily="34" charset="0"/>
                <a:ea typeface="Segoe UI" pitchFamily="34" charset="-122"/>
                <a:cs typeface="Segoe UI" pitchFamily="34" charset="-120"/>
              </a:rPr>
              <a:t>Game</a:t>
            </a:r>
            <a:endParaRPr lang="en-US" sz="1400" dirty="0"/>
          </a:p>
        </p:txBody>
      </p:sp>
      <p:sp>
        <p:nvSpPr>
          <p:cNvPr id="14" name="Shape 11"/>
          <p:cNvSpPr/>
          <p:nvPr/>
        </p:nvSpPr>
        <p:spPr>
          <a:xfrm>
            <a:off x="5102352" y="2322576"/>
            <a:ext cx="914" cy="3913632"/>
          </a:xfrm>
          <a:prstGeom prst="line">
            <a:avLst/>
          </a:prstGeom>
          <a:noFill/>
          <a:ln w="20320">
            <a:solidFill>
              <a:srgbClr val="2A3A51"/>
            </a:solidFill>
            <a:prstDash val="dash"/>
          </a:ln>
        </p:spPr>
      </p:sp>
      <p:sp>
        <p:nvSpPr>
          <p:cNvPr id="15" name="Shape 12"/>
          <p:cNvSpPr/>
          <p:nvPr/>
        </p:nvSpPr>
        <p:spPr>
          <a:xfrm>
            <a:off x="6245352" y="1746504"/>
            <a:ext cx="1627632" cy="566928"/>
          </a:xfrm>
          <a:prstGeom prst="roundRect">
            <a:avLst>
              <a:gd name="adj" fmla="val 22581"/>
            </a:avLst>
          </a:prstGeom>
          <a:solidFill>
            <a:srgbClr val="16283B"/>
          </a:solidFill>
          <a:ln w="13970">
            <a:solidFill>
              <a:srgbClr val="79CAFF"/>
            </a:solidFill>
            <a:prstDash val="solid"/>
          </a:ln>
        </p:spPr>
      </p:sp>
      <p:sp>
        <p:nvSpPr>
          <p:cNvPr id="16" name="Text 13"/>
          <p:cNvSpPr/>
          <p:nvPr/>
        </p:nvSpPr>
        <p:spPr>
          <a:xfrm>
            <a:off x="6291072" y="1911096"/>
            <a:ext cx="1536192" cy="228600"/>
          </a:xfrm>
          <a:prstGeom prst="rect">
            <a:avLst/>
          </a:prstGeom>
          <a:noFill/>
          <a:ln/>
        </p:spPr>
        <p:txBody>
          <a:bodyPr wrap="square" lIns="0" tIns="0" rIns="0" bIns="0" rtlCol="0" anchor="t"/>
          <a:lstStyle/>
          <a:p>
            <a:pPr algn="ctr" indent="0" marL="0">
              <a:lnSpc>
                <a:spcPct val="100000"/>
              </a:lnSpc>
              <a:buNone/>
            </a:pPr>
            <a:r>
              <a:rPr lang="en-US" sz="1400" b="1" dirty="0">
                <a:solidFill>
                  <a:srgbClr val="F3F7FD"/>
                </a:solidFill>
                <a:latin typeface="Segoe UI" pitchFamily="34" charset="0"/>
                <a:ea typeface="Segoe UI" pitchFamily="34" charset="-122"/>
                <a:cs typeface="Segoe UI" pitchFamily="34" charset="-120"/>
              </a:rPr>
              <a:t>Position</a:t>
            </a:r>
            <a:endParaRPr lang="en-US" sz="1400" dirty="0"/>
          </a:p>
        </p:txBody>
      </p:sp>
      <p:sp>
        <p:nvSpPr>
          <p:cNvPr id="17" name="Shape 14"/>
          <p:cNvSpPr/>
          <p:nvPr/>
        </p:nvSpPr>
        <p:spPr>
          <a:xfrm>
            <a:off x="7059168" y="2322576"/>
            <a:ext cx="914" cy="3913632"/>
          </a:xfrm>
          <a:prstGeom prst="line">
            <a:avLst/>
          </a:prstGeom>
          <a:noFill/>
          <a:ln w="20320">
            <a:solidFill>
              <a:srgbClr val="2A3A51"/>
            </a:solidFill>
            <a:prstDash val="dash"/>
          </a:ln>
        </p:spPr>
      </p:sp>
      <p:sp>
        <p:nvSpPr>
          <p:cNvPr id="18" name="Shape 15"/>
          <p:cNvSpPr/>
          <p:nvPr/>
        </p:nvSpPr>
        <p:spPr>
          <a:xfrm>
            <a:off x="8202168" y="1746504"/>
            <a:ext cx="1627632" cy="566928"/>
          </a:xfrm>
          <a:prstGeom prst="roundRect">
            <a:avLst>
              <a:gd name="adj" fmla="val 22581"/>
            </a:avLst>
          </a:prstGeom>
          <a:solidFill>
            <a:srgbClr val="16283B"/>
          </a:solidFill>
          <a:ln w="13970">
            <a:solidFill>
              <a:srgbClr val="69E3B5"/>
            </a:solidFill>
            <a:prstDash val="solid"/>
          </a:ln>
        </p:spPr>
      </p:sp>
      <p:sp>
        <p:nvSpPr>
          <p:cNvPr id="19" name="Text 16"/>
          <p:cNvSpPr/>
          <p:nvPr/>
        </p:nvSpPr>
        <p:spPr>
          <a:xfrm>
            <a:off x="8247888" y="1911096"/>
            <a:ext cx="1536192" cy="228600"/>
          </a:xfrm>
          <a:prstGeom prst="rect">
            <a:avLst/>
          </a:prstGeom>
          <a:noFill/>
          <a:ln/>
        </p:spPr>
        <p:txBody>
          <a:bodyPr wrap="square" lIns="0" tIns="0" rIns="0" bIns="0" rtlCol="0" anchor="t"/>
          <a:lstStyle/>
          <a:p>
            <a:pPr algn="ctr" indent="0" marL="0">
              <a:lnSpc>
                <a:spcPct val="100000"/>
              </a:lnSpc>
              <a:buNone/>
            </a:pPr>
            <a:r>
              <a:rPr lang="en-US" sz="1400" b="1" dirty="0">
                <a:solidFill>
                  <a:srgbClr val="F3F7FD"/>
                </a:solidFill>
                <a:latin typeface="Segoe UI" pitchFamily="34" charset="0"/>
                <a:ea typeface="Segoe UI" pitchFamily="34" charset="-122"/>
                <a:cs typeface="Segoe UI" pitchFamily="34" charset="-120"/>
              </a:rPr>
              <a:t>SwingWorker</a:t>
            </a:r>
            <a:endParaRPr lang="en-US" sz="1400" dirty="0"/>
          </a:p>
        </p:txBody>
      </p:sp>
      <p:sp>
        <p:nvSpPr>
          <p:cNvPr id="20" name="Shape 17"/>
          <p:cNvSpPr/>
          <p:nvPr/>
        </p:nvSpPr>
        <p:spPr>
          <a:xfrm>
            <a:off x="9015984" y="2322576"/>
            <a:ext cx="914" cy="3913632"/>
          </a:xfrm>
          <a:prstGeom prst="line">
            <a:avLst/>
          </a:prstGeom>
          <a:noFill/>
          <a:ln w="20320">
            <a:solidFill>
              <a:srgbClr val="2A3A51"/>
            </a:solidFill>
            <a:prstDash val="dash"/>
          </a:ln>
        </p:spPr>
      </p:sp>
      <p:sp>
        <p:nvSpPr>
          <p:cNvPr id="21" name="Shape 18"/>
          <p:cNvSpPr/>
          <p:nvPr/>
        </p:nvSpPr>
        <p:spPr>
          <a:xfrm>
            <a:off x="10158984" y="1746504"/>
            <a:ext cx="1627632" cy="566928"/>
          </a:xfrm>
          <a:prstGeom prst="roundRect">
            <a:avLst>
              <a:gd name="adj" fmla="val 22581"/>
            </a:avLst>
          </a:prstGeom>
          <a:solidFill>
            <a:srgbClr val="16283B"/>
          </a:solidFill>
          <a:ln w="13970">
            <a:solidFill>
              <a:srgbClr val="69E3B5"/>
            </a:solidFill>
            <a:prstDash val="solid"/>
          </a:ln>
        </p:spPr>
      </p:sp>
      <p:sp>
        <p:nvSpPr>
          <p:cNvPr id="22" name="Text 19"/>
          <p:cNvSpPr/>
          <p:nvPr/>
        </p:nvSpPr>
        <p:spPr>
          <a:xfrm>
            <a:off x="10204704" y="1911096"/>
            <a:ext cx="1536192" cy="228600"/>
          </a:xfrm>
          <a:prstGeom prst="rect">
            <a:avLst/>
          </a:prstGeom>
          <a:noFill/>
          <a:ln/>
        </p:spPr>
        <p:txBody>
          <a:bodyPr wrap="square" lIns="0" tIns="0" rIns="0" bIns="0" rtlCol="0" anchor="t"/>
          <a:lstStyle/>
          <a:p>
            <a:pPr algn="ctr" indent="0" marL="0">
              <a:lnSpc>
                <a:spcPct val="100000"/>
              </a:lnSpc>
              <a:buNone/>
            </a:pPr>
            <a:r>
              <a:rPr lang="en-US" sz="1400" b="1" dirty="0">
                <a:solidFill>
                  <a:srgbClr val="F3F7FD"/>
                </a:solidFill>
                <a:latin typeface="Segoe UI" pitchFamily="34" charset="0"/>
                <a:ea typeface="Segoe UI" pitchFamily="34" charset="-122"/>
                <a:cs typeface="Segoe UI" pitchFamily="34" charset="-120"/>
              </a:rPr>
              <a:t>Engine</a:t>
            </a:r>
            <a:endParaRPr lang="en-US" sz="1400" dirty="0"/>
          </a:p>
        </p:txBody>
      </p:sp>
      <p:sp>
        <p:nvSpPr>
          <p:cNvPr id="23" name="Shape 20"/>
          <p:cNvSpPr/>
          <p:nvPr/>
        </p:nvSpPr>
        <p:spPr>
          <a:xfrm>
            <a:off x="10972800" y="2322576"/>
            <a:ext cx="914" cy="3913632"/>
          </a:xfrm>
          <a:prstGeom prst="line">
            <a:avLst/>
          </a:prstGeom>
          <a:noFill/>
          <a:ln w="20320">
            <a:solidFill>
              <a:srgbClr val="2A3A51"/>
            </a:solidFill>
            <a:prstDash val="dash"/>
          </a:ln>
        </p:spPr>
      </p:sp>
      <p:sp>
        <p:nvSpPr>
          <p:cNvPr id="24" name="Shape 21"/>
          <p:cNvSpPr/>
          <p:nvPr/>
        </p:nvSpPr>
        <p:spPr>
          <a:xfrm>
            <a:off x="1188720" y="2761488"/>
            <a:ext cx="1956816" cy="914"/>
          </a:xfrm>
          <a:prstGeom prst="line">
            <a:avLst/>
          </a:prstGeom>
          <a:noFill/>
          <a:ln w="20320">
            <a:solidFill>
              <a:srgbClr val="79CAFF"/>
            </a:solidFill>
            <a:prstDash val="solid"/>
            <a:tailEnd type="triangle"/>
          </a:ln>
        </p:spPr>
      </p:sp>
      <p:sp>
        <p:nvSpPr>
          <p:cNvPr id="25" name="Text 22"/>
          <p:cNvSpPr/>
          <p:nvPr/>
        </p:nvSpPr>
        <p:spPr>
          <a:xfrm>
            <a:off x="1234440" y="2551176"/>
            <a:ext cx="1865376" cy="210312"/>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request a move</a:t>
            </a:r>
            <a:endParaRPr lang="en-US" sz="1150" dirty="0"/>
          </a:p>
        </p:txBody>
      </p:sp>
      <p:sp>
        <p:nvSpPr>
          <p:cNvPr id="26" name="Shape 23"/>
          <p:cNvSpPr/>
          <p:nvPr/>
        </p:nvSpPr>
        <p:spPr>
          <a:xfrm>
            <a:off x="3145536" y="3218688"/>
            <a:ext cx="1956816" cy="914"/>
          </a:xfrm>
          <a:prstGeom prst="line">
            <a:avLst/>
          </a:prstGeom>
          <a:noFill/>
          <a:ln w="20320">
            <a:solidFill>
              <a:srgbClr val="79CAFF"/>
            </a:solidFill>
            <a:prstDash val="solid"/>
            <a:tailEnd type="triangle"/>
          </a:ln>
        </p:spPr>
      </p:sp>
      <p:sp>
        <p:nvSpPr>
          <p:cNvPr id="27" name="Text 24"/>
          <p:cNvSpPr/>
          <p:nvPr/>
        </p:nvSpPr>
        <p:spPr>
          <a:xfrm>
            <a:off x="3191256" y="3008376"/>
            <a:ext cx="1865376" cy="210312"/>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play(legal Move)</a:t>
            </a:r>
            <a:endParaRPr lang="en-US" sz="1150" dirty="0"/>
          </a:p>
        </p:txBody>
      </p:sp>
      <p:sp>
        <p:nvSpPr>
          <p:cNvPr id="28" name="Shape 25"/>
          <p:cNvSpPr/>
          <p:nvPr/>
        </p:nvSpPr>
        <p:spPr>
          <a:xfrm>
            <a:off x="5102352" y="3675888"/>
            <a:ext cx="1956816" cy="914"/>
          </a:xfrm>
          <a:prstGeom prst="line">
            <a:avLst/>
          </a:prstGeom>
          <a:noFill/>
          <a:ln w="20320">
            <a:solidFill>
              <a:srgbClr val="79CAFF"/>
            </a:solidFill>
            <a:prstDash val="solid"/>
            <a:tailEnd type="triangle"/>
          </a:ln>
        </p:spPr>
      </p:sp>
      <p:sp>
        <p:nvSpPr>
          <p:cNvPr id="29" name="Text 26"/>
          <p:cNvSpPr/>
          <p:nvPr/>
        </p:nvSpPr>
        <p:spPr>
          <a:xfrm>
            <a:off x="5148072" y="3465576"/>
            <a:ext cx="1865376" cy="210312"/>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makeMove -&gt; Undo</a:t>
            </a:r>
            <a:endParaRPr lang="en-US" sz="1150" dirty="0"/>
          </a:p>
        </p:txBody>
      </p:sp>
      <p:sp>
        <p:nvSpPr>
          <p:cNvPr id="30" name="Shape 27"/>
          <p:cNvSpPr/>
          <p:nvPr/>
        </p:nvSpPr>
        <p:spPr>
          <a:xfrm>
            <a:off x="3145536" y="4133088"/>
            <a:ext cx="5870448" cy="914"/>
          </a:xfrm>
          <a:prstGeom prst="line">
            <a:avLst/>
          </a:prstGeom>
          <a:noFill/>
          <a:ln w="20320">
            <a:solidFill>
              <a:srgbClr val="79CAFF"/>
            </a:solidFill>
            <a:prstDash val="solid"/>
            <a:tailEnd type="triangle"/>
          </a:ln>
        </p:spPr>
      </p:sp>
      <p:sp>
        <p:nvSpPr>
          <p:cNvPr id="31" name="Text 28"/>
          <p:cNvSpPr/>
          <p:nvPr/>
        </p:nvSpPr>
        <p:spPr>
          <a:xfrm>
            <a:off x="3191256" y="3922776"/>
            <a:ext cx="5779008" cy="210312"/>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start search with snapshots</a:t>
            </a:r>
            <a:endParaRPr lang="en-US" sz="1150" dirty="0"/>
          </a:p>
        </p:txBody>
      </p:sp>
      <p:sp>
        <p:nvSpPr>
          <p:cNvPr id="32" name="Shape 29"/>
          <p:cNvSpPr/>
          <p:nvPr/>
        </p:nvSpPr>
        <p:spPr>
          <a:xfrm>
            <a:off x="9015984" y="4590288"/>
            <a:ext cx="1956816" cy="914"/>
          </a:xfrm>
          <a:prstGeom prst="line">
            <a:avLst/>
          </a:prstGeom>
          <a:noFill/>
          <a:ln w="20320">
            <a:solidFill>
              <a:srgbClr val="79CAFF"/>
            </a:solidFill>
            <a:prstDash val="solid"/>
            <a:tailEnd type="triangle"/>
          </a:ln>
        </p:spPr>
      </p:sp>
      <p:sp>
        <p:nvSpPr>
          <p:cNvPr id="33" name="Text 30"/>
          <p:cNvSpPr/>
          <p:nvPr/>
        </p:nvSpPr>
        <p:spPr>
          <a:xfrm>
            <a:off x="9061704" y="4379976"/>
            <a:ext cx="1865376" cy="210312"/>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search(...)</a:t>
            </a:r>
            <a:endParaRPr lang="en-US" sz="1150" dirty="0"/>
          </a:p>
        </p:txBody>
      </p:sp>
      <p:sp>
        <p:nvSpPr>
          <p:cNvPr id="34" name="Shape 31"/>
          <p:cNvSpPr/>
          <p:nvPr/>
        </p:nvSpPr>
        <p:spPr>
          <a:xfrm>
            <a:off x="9015984" y="5047488"/>
            <a:ext cx="1956816" cy="914"/>
          </a:xfrm>
          <a:prstGeom prst="line">
            <a:avLst/>
          </a:prstGeom>
          <a:noFill/>
          <a:ln w="20320">
            <a:solidFill>
              <a:srgbClr val="69E3B5"/>
            </a:solidFill>
            <a:prstDash val="solid"/>
            <a:headEnd type="triangle"/>
          </a:ln>
        </p:spPr>
      </p:sp>
      <p:sp>
        <p:nvSpPr>
          <p:cNvPr id="35" name="Text 32"/>
          <p:cNvSpPr/>
          <p:nvPr/>
        </p:nvSpPr>
        <p:spPr>
          <a:xfrm>
            <a:off x="9061704" y="4837176"/>
            <a:ext cx="1865376" cy="210312"/>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SearchResult</a:t>
            </a:r>
            <a:endParaRPr lang="en-US" sz="1150" dirty="0"/>
          </a:p>
        </p:txBody>
      </p:sp>
      <p:sp>
        <p:nvSpPr>
          <p:cNvPr id="36" name="Shape 33"/>
          <p:cNvSpPr/>
          <p:nvPr/>
        </p:nvSpPr>
        <p:spPr>
          <a:xfrm>
            <a:off x="3145536" y="5504688"/>
            <a:ext cx="5870448" cy="914"/>
          </a:xfrm>
          <a:prstGeom prst="line">
            <a:avLst/>
          </a:prstGeom>
          <a:noFill/>
          <a:ln w="20320">
            <a:solidFill>
              <a:srgbClr val="69E3B5"/>
            </a:solidFill>
            <a:prstDash val="solid"/>
            <a:headEnd type="triangle"/>
          </a:ln>
        </p:spPr>
      </p:sp>
      <p:sp>
        <p:nvSpPr>
          <p:cNvPr id="37" name="Text 34"/>
          <p:cNvSpPr/>
          <p:nvPr/>
        </p:nvSpPr>
        <p:spPr>
          <a:xfrm>
            <a:off x="3191256" y="5294376"/>
            <a:ext cx="5779008" cy="210312"/>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69E3B5"/>
                </a:solidFill>
                <a:latin typeface="Segoe UI" pitchFamily="34" charset="0"/>
                <a:ea typeface="Segoe UI" pitchFamily="34" charset="-122"/>
                <a:cs typeface="Segoe UI" pitchFamily="34" charset="-120"/>
              </a:rPr>
              <a:t>done(): reject a stale revision</a:t>
            </a:r>
            <a:endParaRPr lang="en-US" sz="1150" dirty="0"/>
          </a:p>
        </p:txBody>
      </p:sp>
      <p:sp>
        <p:nvSpPr>
          <p:cNvPr id="38" name="Shape 35"/>
          <p:cNvSpPr/>
          <p:nvPr/>
        </p:nvSpPr>
        <p:spPr>
          <a:xfrm>
            <a:off x="3145536" y="5961888"/>
            <a:ext cx="1956816" cy="914"/>
          </a:xfrm>
          <a:prstGeom prst="line">
            <a:avLst/>
          </a:prstGeom>
          <a:noFill/>
          <a:ln w="20320">
            <a:solidFill>
              <a:srgbClr val="79CAFF"/>
            </a:solidFill>
            <a:prstDash val="solid"/>
            <a:tailEnd type="triangle"/>
          </a:ln>
        </p:spPr>
      </p:sp>
      <p:sp>
        <p:nvSpPr>
          <p:cNvPr id="39" name="Text 36"/>
          <p:cNvSpPr/>
          <p:nvPr/>
        </p:nvSpPr>
        <p:spPr>
          <a:xfrm>
            <a:off x="3191256" y="5751576"/>
            <a:ext cx="1865376" cy="210312"/>
          </a:xfrm>
          <a:prstGeom prst="rect">
            <a:avLst/>
          </a:prstGeom>
          <a:solidFill>
            <a:srgbClr val="0B1220"/>
          </a:solidFill>
          <a:ln/>
        </p:spPr>
        <p:txBody>
          <a:bodyPr wrap="square" lIns="0" tIns="0" rIns="0" bIns="0" rtlCol="0" anchor="t"/>
          <a:lstStyle/>
          <a:p>
            <a:pPr algn="ctr" indent="0" marL="0">
              <a:lnSpc>
                <a:spcPct val="100000"/>
              </a:lnSpc>
              <a:buNone/>
            </a:pPr>
            <a:r>
              <a:rPr lang="en-US" sz="1150" dirty="0">
                <a:solidFill>
                  <a:srgbClr val="79CAFF"/>
                </a:solidFill>
                <a:latin typeface="Segoe UI" pitchFamily="34" charset="0"/>
                <a:ea typeface="Segoe UI" pitchFamily="34" charset="-122"/>
                <a:cs typeface="Segoe UI" pitchFamily="34" charset="-120"/>
              </a:rPr>
              <a:t>play fresh reply</a:t>
            </a:r>
            <a:endParaRPr lang="en-US" sz="1150" dirty="0"/>
          </a:p>
        </p:txBody>
      </p:sp>
      <p:sp>
        <p:nvSpPr>
          <p:cNvPr id="40" name="Shape 37"/>
          <p:cNvSpPr/>
          <p:nvPr/>
        </p:nvSpPr>
        <p:spPr>
          <a:xfrm>
            <a:off x="420624" y="6455664"/>
            <a:ext cx="11356848" cy="914"/>
          </a:xfrm>
          <a:prstGeom prst="line">
            <a:avLst/>
          </a:prstGeom>
          <a:noFill/>
          <a:ln w="20320">
            <a:solidFill>
              <a:srgbClr val="2A3A51"/>
            </a:solidFill>
            <a:prstDash val="solid"/>
          </a:ln>
        </p:spPr>
      </p:sp>
      <p:sp>
        <p:nvSpPr>
          <p:cNvPr id="41" name="Text 38"/>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42" name="Text 39"/>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43" name="Text 40"/>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12 / 14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Contracts make the architecture testable</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Test the boundary you changed, not just whether a game still opens.</a:t>
            </a:r>
            <a:endParaRPr lang="en-US" sz="1410" dirty="0"/>
          </a:p>
        </p:txBody>
      </p:sp>
      <p:sp>
        <p:nvSpPr>
          <p:cNvPr id="6" name="Shape 3"/>
          <p:cNvSpPr/>
          <p:nvPr/>
        </p:nvSpPr>
        <p:spPr>
          <a:xfrm>
            <a:off x="457200" y="1773936"/>
            <a:ext cx="2551176" cy="548640"/>
          </a:xfrm>
          <a:prstGeom prst="roundRect">
            <a:avLst>
              <a:gd name="adj" fmla="val 23333"/>
            </a:avLst>
          </a:prstGeom>
          <a:solidFill>
            <a:srgbClr val="193934"/>
          </a:solidFill>
          <a:ln w="13970">
            <a:solidFill>
              <a:srgbClr val="2A3A51"/>
            </a:solidFill>
            <a:prstDash val="solid"/>
          </a:ln>
        </p:spPr>
      </p:sp>
      <p:sp>
        <p:nvSpPr>
          <p:cNvPr id="7" name="Text 4"/>
          <p:cNvSpPr/>
          <p:nvPr/>
        </p:nvSpPr>
        <p:spPr>
          <a:xfrm>
            <a:off x="603504" y="1938528"/>
            <a:ext cx="2258568" cy="219456"/>
          </a:xfrm>
          <a:prstGeom prst="rect">
            <a:avLst/>
          </a:prstGeom>
          <a:noFill/>
          <a:ln/>
        </p:spPr>
        <p:txBody>
          <a:bodyPr wrap="square" lIns="0" tIns="0" rIns="0" bIns="0" rtlCol="0" anchor="t"/>
          <a:lstStyle/>
          <a:p>
            <a:pPr indent="0" marL="0">
              <a:lnSpc>
                <a:spcPct val="100000"/>
              </a:lnSpc>
              <a:buNone/>
            </a:pPr>
            <a:r>
              <a:rPr lang="en-US" sz="1300" b="1" dirty="0">
                <a:solidFill>
                  <a:srgbClr val="69E3B5"/>
                </a:solidFill>
                <a:latin typeface="Segoe UI" pitchFamily="34" charset="0"/>
                <a:ea typeface="Segoe UI" pitchFamily="34" charset="-122"/>
                <a:cs typeface="Segoe UI" pitchFamily="34" charset="-120"/>
              </a:rPr>
              <a:t>BOUNDARY</a:t>
            </a:r>
            <a:endParaRPr lang="en-US" sz="1300" dirty="0"/>
          </a:p>
        </p:txBody>
      </p:sp>
      <p:sp>
        <p:nvSpPr>
          <p:cNvPr id="8" name="Shape 5"/>
          <p:cNvSpPr/>
          <p:nvPr/>
        </p:nvSpPr>
        <p:spPr>
          <a:xfrm>
            <a:off x="3008376" y="1773936"/>
            <a:ext cx="3867912" cy="548640"/>
          </a:xfrm>
          <a:prstGeom prst="roundRect">
            <a:avLst>
              <a:gd name="adj" fmla="val 23333"/>
            </a:avLst>
          </a:prstGeom>
          <a:solidFill>
            <a:srgbClr val="193934"/>
          </a:solidFill>
          <a:ln w="13970">
            <a:solidFill>
              <a:srgbClr val="2A3A51"/>
            </a:solidFill>
            <a:prstDash val="solid"/>
          </a:ln>
        </p:spPr>
      </p:sp>
      <p:sp>
        <p:nvSpPr>
          <p:cNvPr id="9" name="Text 6"/>
          <p:cNvSpPr/>
          <p:nvPr/>
        </p:nvSpPr>
        <p:spPr>
          <a:xfrm>
            <a:off x="3154680" y="1938528"/>
            <a:ext cx="3575304" cy="219456"/>
          </a:xfrm>
          <a:prstGeom prst="rect">
            <a:avLst/>
          </a:prstGeom>
          <a:noFill/>
          <a:ln/>
        </p:spPr>
        <p:txBody>
          <a:bodyPr wrap="square" lIns="0" tIns="0" rIns="0" bIns="0" rtlCol="0" anchor="t"/>
          <a:lstStyle/>
          <a:p>
            <a:pPr indent="0" marL="0">
              <a:lnSpc>
                <a:spcPct val="100000"/>
              </a:lnSpc>
              <a:buNone/>
            </a:pPr>
            <a:r>
              <a:rPr lang="en-US" sz="1300" b="1" dirty="0">
                <a:solidFill>
                  <a:srgbClr val="69E3B5"/>
                </a:solidFill>
                <a:latin typeface="Segoe UI" pitchFamily="34" charset="0"/>
                <a:ea typeface="Segoe UI" pitchFamily="34" charset="-122"/>
                <a:cs typeface="Segoe UI" pitchFamily="34" charset="-120"/>
              </a:rPr>
              <a:t>PROMISE</a:t>
            </a:r>
            <a:endParaRPr lang="en-US" sz="1300" dirty="0"/>
          </a:p>
        </p:txBody>
      </p:sp>
      <p:sp>
        <p:nvSpPr>
          <p:cNvPr id="10" name="Shape 7"/>
          <p:cNvSpPr/>
          <p:nvPr/>
        </p:nvSpPr>
        <p:spPr>
          <a:xfrm>
            <a:off x="6876288" y="1773936"/>
            <a:ext cx="4855464" cy="548640"/>
          </a:xfrm>
          <a:prstGeom prst="roundRect">
            <a:avLst>
              <a:gd name="adj" fmla="val 23333"/>
            </a:avLst>
          </a:prstGeom>
          <a:solidFill>
            <a:srgbClr val="193934"/>
          </a:solidFill>
          <a:ln w="13970">
            <a:solidFill>
              <a:srgbClr val="2A3A51"/>
            </a:solidFill>
            <a:prstDash val="solid"/>
          </a:ln>
        </p:spPr>
      </p:sp>
      <p:sp>
        <p:nvSpPr>
          <p:cNvPr id="11" name="Text 8"/>
          <p:cNvSpPr/>
          <p:nvPr/>
        </p:nvSpPr>
        <p:spPr>
          <a:xfrm>
            <a:off x="7022592" y="1938528"/>
            <a:ext cx="4562856" cy="219456"/>
          </a:xfrm>
          <a:prstGeom prst="rect">
            <a:avLst/>
          </a:prstGeom>
          <a:noFill/>
          <a:ln/>
        </p:spPr>
        <p:txBody>
          <a:bodyPr wrap="square" lIns="0" tIns="0" rIns="0" bIns="0" rtlCol="0" anchor="t"/>
          <a:lstStyle/>
          <a:p>
            <a:pPr indent="0" marL="0">
              <a:lnSpc>
                <a:spcPct val="100000"/>
              </a:lnSpc>
              <a:buNone/>
            </a:pPr>
            <a:r>
              <a:rPr lang="en-US" sz="1300" b="1" dirty="0">
                <a:solidFill>
                  <a:srgbClr val="69E3B5"/>
                </a:solidFill>
                <a:latin typeface="Segoe UI" pitchFamily="34" charset="0"/>
                <a:ea typeface="Segoe UI" pitchFamily="34" charset="-122"/>
                <a:cs typeface="Segoe UI" pitchFamily="34" charset="-120"/>
              </a:rPr>
              <a:t>READ / CHECK</a:t>
            </a:r>
            <a:endParaRPr lang="en-US" sz="1300" dirty="0"/>
          </a:p>
        </p:txBody>
      </p:sp>
      <p:sp>
        <p:nvSpPr>
          <p:cNvPr id="12" name="Shape 9"/>
          <p:cNvSpPr/>
          <p:nvPr/>
        </p:nvSpPr>
        <p:spPr>
          <a:xfrm>
            <a:off x="457200" y="2340864"/>
            <a:ext cx="2551176" cy="932688"/>
          </a:xfrm>
          <a:prstGeom prst="roundRect">
            <a:avLst>
              <a:gd name="adj" fmla="val 13725"/>
            </a:avLst>
          </a:prstGeom>
          <a:solidFill>
            <a:srgbClr val="111E31"/>
          </a:solidFill>
          <a:ln w="13970">
            <a:solidFill>
              <a:srgbClr val="2A3A51"/>
            </a:solidFill>
            <a:prstDash val="solid"/>
          </a:ln>
        </p:spPr>
      </p:sp>
      <p:sp>
        <p:nvSpPr>
          <p:cNvPr id="13" name="Text 10"/>
          <p:cNvSpPr/>
          <p:nvPr/>
        </p:nvSpPr>
        <p:spPr>
          <a:xfrm>
            <a:off x="603504" y="2487168"/>
            <a:ext cx="2258568" cy="649224"/>
          </a:xfrm>
          <a:prstGeom prst="rect">
            <a:avLst/>
          </a:prstGeom>
          <a:noFill/>
          <a:ln/>
        </p:spPr>
        <p:txBody>
          <a:bodyPr wrap="square" lIns="0" tIns="0" rIns="0" bIns="0" rtlCol="0" anchor="t"/>
          <a:lstStyle/>
          <a:p>
            <a:pPr indent="0" marL="0">
              <a:lnSpc>
                <a:spcPct val="100000"/>
              </a:lnSpc>
              <a:buNone/>
            </a:pPr>
            <a:r>
              <a:rPr lang="en-US" sz="1540" b="1" dirty="0">
                <a:solidFill>
                  <a:srgbClr val="F3F7FD"/>
                </a:solidFill>
                <a:latin typeface="Segoe UI" pitchFamily="34" charset="0"/>
                <a:ea typeface="Segoe UI" pitchFamily="34" charset="-122"/>
                <a:cs typeface="Segoe UI" pitchFamily="34" charset="-120"/>
              </a:rPr>
              <a:t>Coordinates + rules</a:t>
            </a:r>
            <a:endParaRPr lang="en-US" sz="1540" dirty="0"/>
          </a:p>
        </p:txBody>
      </p:sp>
      <p:sp>
        <p:nvSpPr>
          <p:cNvPr id="14" name="Shape 11"/>
          <p:cNvSpPr/>
          <p:nvPr/>
        </p:nvSpPr>
        <p:spPr>
          <a:xfrm>
            <a:off x="3008376" y="2340864"/>
            <a:ext cx="3867912" cy="932688"/>
          </a:xfrm>
          <a:prstGeom prst="roundRect">
            <a:avLst>
              <a:gd name="adj" fmla="val 13725"/>
            </a:avLst>
          </a:prstGeom>
          <a:solidFill>
            <a:srgbClr val="111E31"/>
          </a:solidFill>
          <a:ln w="13970">
            <a:solidFill>
              <a:srgbClr val="2A3A51"/>
            </a:solidFill>
            <a:prstDash val="solid"/>
          </a:ln>
        </p:spPr>
      </p:sp>
      <p:sp>
        <p:nvSpPr>
          <p:cNvPr id="15" name="Text 12"/>
          <p:cNvSpPr/>
          <p:nvPr/>
        </p:nvSpPr>
        <p:spPr>
          <a:xfrm>
            <a:off x="3154680" y="2487168"/>
            <a:ext cx="3575304" cy="649224"/>
          </a:xfrm>
          <a:prstGeom prst="rect">
            <a:avLst/>
          </a:prstGeom>
          <a:noFill/>
          <a:ln/>
        </p:spPr>
        <p:txBody>
          <a:bodyPr wrap="square" lIns="0" tIns="0" rIns="0" bIns="0" rtlCol="0" anchor="t"/>
          <a:lstStyle/>
          <a:p>
            <a:pPr indent="0" marL="0">
              <a:lnSpc>
                <a:spcPct val="100000"/>
              </a:lnSpc>
              <a:buNone/>
            </a:pPr>
            <a:r>
              <a:rPr lang="en-US" sz="1540" dirty="0">
                <a:solidFill>
                  <a:srgbClr val="A7B6CC"/>
                </a:solidFill>
                <a:latin typeface="Segoe UI" pitchFamily="34" charset="0"/>
                <a:ea typeface="Segoe UI" pitchFamily="34" charset="-122"/>
                <a:cs typeface="Segoe UI" pitchFamily="34" charset="-120"/>
              </a:rPr>
              <a:t>Legal generation matches known perft counts.</a:t>
            </a:r>
            <a:endParaRPr lang="en-US" sz="1540" dirty="0"/>
          </a:p>
        </p:txBody>
      </p:sp>
      <p:sp>
        <p:nvSpPr>
          <p:cNvPr id="16" name="Shape 13"/>
          <p:cNvSpPr/>
          <p:nvPr/>
        </p:nvSpPr>
        <p:spPr>
          <a:xfrm>
            <a:off x="6876288" y="2340864"/>
            <a:ext cx="4855464" cy="932688"/>
          </a:xfrm>
          <a:prstGeom prst="roundRect">
            <a:avLst>
              <a:gd name="adj" fmla="val 13725"/>
            </a:avLst>
          </a:prstGeom>
          <a:solidFill>
            <a:srgbClr val="111E31"/>
          </a:solidFill>
          <a:ln w="13970">
            <a:solidFill>
              <a:srgbClr val="2A3A51"/>
            </a:solidFill>
            <a:prstDash val="solid"/>
          </a:ln>
        </p:spPr>
      </p:sp>
      <p:sp>
        <p:nvSpPr>
          <p:cNvPr id="17" name="Text 14"/>
          <p:cNvSpPr/>
          <p:nvPr/>
        </p:nvSpPr>
        <p:spPr>
          <a:xfrm>
            <a:off x="7022592" y="2487168"/>
            <a:ext cx="4562856" cy="649224"/>
          </a:xfrm>
          <a:prstGeom prst="rect">
            <a:avLst/>
          </a:prstGeom>
          <a:noFill/>
          <a:ln/>
        </p:spPr>
        <p:txBody>
          <a:bodyPr wrap="square" lIns="0" tIns="0" rIns="0" bIns="0" rtlCol="0" anchor="t"/>
          <a:lstStyle/>
          <a:p>
            <a:pPr indent="0" marL="0">
              <a:lnSpc>
                <a:spcPct val="100000"/>
              </a:lnSpc>
              <a:buNone/>
            </a:pPr>
            <a:r>
              <a:rPr lang="en-US" sz="1420" dirty="0">
                <a:solidFill>
                  <a:srgbClr val="A7B6CC"/>
                </a:solidFill>
                <a:latin typeface="Consolas" pitchFamily="34" charset="0"/>
                <a:ea typeface="Consolas" pitchFamily="34" charset="-122"/>
                <a:cs typeface="Consolas" pitchFamily="34" charset="-120"/>
              </a:rPr>
              <a:t>Square; Position</a:t>
            </a:r>
            <a:endParaRPr lang="en-US" sz="1420" dirty="0"/>
          </a:p>
          <a:p>
            <a:pPr indent="0" marL="0">
              <a:lnSpc>
                <a:spcPct val="100000"/>
              </a:lnSpc>
              <a:buNone/>
            </a:pPr>
            <a:r>
              <a:rPr lang="en-US" sz="1420" dirty="0">
                <a:solidFill>
                  <a:srgbClr val="A7B6CC"/>
                </a:solidFill>
                <a:latin typeface="Consolas" pitchFamily="34" charset="0"/>
                <a:ea typeface="Consolas" pitchFamily="34" charset="-122"/>
                <a:cs typeface="Consolas" pitchFamily="34" charset="-120"/>
              </a:rPr>
              <a:t>ChessTests.startingPerft</a:t>
            </a:r>
            <a:endParaRPr lang="en-US" sz="1420" dirty="0"/>
          </a:p>
        </p:txBody>
      </p:sp>
      <p:sp>
        <p:nvSpPr>
          <p:cNvPr id="18" name="Shape 15"/>
          <p:cNvSpPr/>
          <p:nvPr/>
        </p:nvSpPr>
        <p:spPr>
          <a:xfrm>
            <a:off x="457200" y="3273552"/>
            <a:ext cx="2551176" cy="932688"/>
          </a:xfrm>
          <a:prstGeom prst="roundRect">
            <a:avLst>
              <a:gd name="adj" fmla="val 13725"/>
            </a:avLst>
          </a:prstGeom>
          <a:solidFill>
            <a:srgbClr val="16283B"/>
          </a:solidFill>
          <a:ln w="13970">
            <a:solidFill>
              <a:srgbClr val="2A3A51"/>
            </a:solidFill>
            <a:prstDash val="solid"/>
          </a:ln>
        </p:spPr>
      </p:sp>
      <p:sp>
        <p:nvSpPr>
          <p:cNvPr id="19" name="Text 16"/>
          <p:cNvSpPr/>
          <p:nvPr/>
        </p:nvSpPr>
        <p:spPr>
          <a:xfrm>
            <a:off x="603504" y="3419856"/>
            <a:ext cx="2258568" cy="649224"/>
          </a:xfrm>
          <a:prstGeom prst="rect">
            <a:avLst/>
          </a:prstGeom>
          <a:noFill/>
          <a:ln/>
        </p:spPr>
        <p:txBody>
          <a:bodyPr wrap="square" lIns="0" tIns="0" rIns="0" bIns="0" rtlCol="0" anchor="t"/>
          <a:lstStyle/>
          <a:p>
            <a:pPr indent="0" marL="0">
              <a:lnSpc>
                <a:spcPct val="100000"/>
              </a:lnSpc>
              <a:buNone/>
            </a:pPr>
            <a:r>
              <a:rPr lang="en-US" sz="1540" b="1" dirty="0">
                <a:solidFill>
                  <a:srgbClr val="F3F7FD"/>
                </a:solidFill>
                <a:latin typeface="Segoe UI" pitchFamily="34" charset="0"/>
                <a:ea typeface="Segoe UI" pitchFamily="34" charset="-122"/>
                <a:cs typeface="Segoe UI" pitchFamily="34" charset="-120"/>
              </a:rPr>
              <a:t>Reversible state</a:t>
            </a:r>
            <a:endParaRPr lang="en-US" sz="1540" dirty="0"/>
          </a:p>
        </p:txBody>
      </p:sp>
      <p:sp>
        <p:nvSpPr>
          <p:cNvPr id="20" name="Shape 17"/>
          <p:cNvSpPr/>
          <p:nvPr/>
        </p:nvSpPr>
        <p:spPr>
          <a:xfrm>
            <a:off x="3008376" y="3273552"/>
            <a:ext cx="3867912" cy="932688"/>
          </a:xfrm>
          <a:prstGeom prst="roundRect">
            <a:avLst>
              <a:gd name="adj" fmla="val 13725"/>
            </a:avLst>
          </a:prstGeom>
          <a:solidFill>
            <a:srgbClr val="16283B"/>
          </a:solidFill>
          <a:ln w="13970">
            <a:solidFill>
              <a:srgbClr val="2A3A51"/>
            </a:solidFill>
            <a:prstDash val="solid"/>
          </a:ln>
        </p:spPr>
      </p:sp>
      <p:sp>
        <p:nvSpPr>
          <p:cNvPr id="21" name="Text 18"/>
          <p:cNvSpPr/>
          <p:nvPr/>
        </p:nvSpPr>
        <p:spPr>
          <a:xfrm>
            <a:off x="3154680" y="3419856"/>
            <a:ext cx="3575304" cy="649224"/>
          </a:xfrm>
          <a:prstGeom prst="rect">
            <a:avLst/>
          </a:prstGeom>
          <a:noFill/>
          <a:ln/>
        </p:spPr>
        <p:txBody>
          <a:bodyPr wrap="square" lIns="0" tIns="0" rIns="0" bIns="0" rtlCol="0" anchor="t"/>
          <a:lstStyle/>
          <a:p>
            <a:pPr indent="0" marL="0">
              <a:lnSpc>
                <a:spcPct val="100000"/>
              </a:lnSpc>
              <a:buNone/>
            </a:pPr>
            <a:r>
              <a:rPr lang="en-US" sz="1540" dirty="0">
                <a:solidFill>
                  <a:srgbClr val="A7B6CC"/>
                </a:solidFill>
                <a:latin typeface="Segoe UI" pitchFamily="34" charset="0"/>
                <a:ea typeface="Segoe UI" pitchFamily="34" charset="-122"/>
                <a:cs typeface="Segoe UI" pitchFamily="34" charset="-120"/>
              </a:rPr>
              <a:t>make/unmake restores FEN and the position key.</a:t>
            </a:r>
            <a:endParaRPr lang="en-US" sz="1540" dirty="0"/>
          </a:p>
        </p:txBody>
      </p:sp>
      <p:sp>
        <p:nvSpPr>
          <p:cNvPr id="22" name="Shape 19"/>
          <p:cNvSpPr/>
          <p:nvPr/>
        </p:nvSpPr>
        <p:spPr>
          <a:xfrm>
            <a:off x="6876288" y="3273552"/>
            <a:ext cx="4855464" cy="932688"/>
          </a:xfrm>
          <a:prstGeom prst="roundRect">
            <a:avLst>
              <a:gd name="adj" fmla="val 13725"/>
            </a:avLst>
          </a:prstGeom>
          <a:solidFill>
            <a:srgbClr val="16283B"/>
          </a:solidFill>
          <a:ln w="13970">
            <a:solidFill>
              <a:srgbClr val="2A3A51"/>
            </a:solidFill>
            <a:prstDash val="solid"/>
          </a:ln>
        </p:spPr>
      </p:sp>
      <p:sp>
        <p:nvSpPr>
          <p:cNvPr id="23" name="Text 20"/>
          <p:cNvSpPr/>
          <p:nvPr/>
        </p:nvSpPr>
        <p:spPr>
          <a:xfrm>
            <a:off x="7022592" y="3419856"/>
            <a:ext cx="4562856" cy="649224"/>
          </a:xfrm>
          <a:prstGeom prst="rect">
            <a:avLst/>
          </a:prstGeom>
          <a:noFill/>
          <a:ln/>
        </p:spPr>
        <p:txBody>
          <a:bodyPr wrap="square" lIns="0" tIns="0" rIns="0" bIns="0" rtlCol="0" anchor="t"/>
          <a:lstStyle/>
          <a:p>
            <a:pPr indent="0" marL="0">
              <a:lnSpc>
                <a:spcPct val="100000"/>
              </a:lnSpc>
              <a:buNone/>
            </a:pPr>
            <a:r>
              <a:rPr lang="en-US" sz="1420" dirty="0">
                <a:solidFill>
                  <a:srgbClr val="A7B6CC"/>
                </a:solidFill>
                <a:latin typeface="Consolas" pitchFamily="34" charset="0"/>
                <a:ea typeface="Consolas" pitchFamily="34" charset="-122"/>
                <a:cs typeface="Consolas" pitchFamily="34" charset="-120"/>
              </a:rPr>
              <a:t>Position.Undo</a:t>
            </a:r>
            <a:endParaRPr lang="en-US" sz="1420" dirty="0"/>
          </a:p>
          <a:p>
            <a:pPr indent="0" marL="0">
              <a:lnSpc>
                <a:spcPct val="100000"/>
              </a:lnSpc>
              <a:buNone/>
            </a:pPr>
            <a:r>
              <a:rPr lang="en-US" sz="1420" dirty="0">
                <a:solidFill>
                  <a:srgbClr val="A7B6CC"/>
                </a:solidFill>
                <a:latin typeface="Consolas" pitchFamily="34" charset="0"/>
                <a:ea typeface="Consolas" pitchFamily="34" charset="-122"/>
                <a:cs typeface="Consolas" pitchFamily="34" charset="-120"/>
              </a:rPr>
              <a:t>ChessTests.reversibleMoves</a:t>
            </a:r>
            <a:endParaRPr lang="en-US" sz="1420" dirty="0"/>
          </a:p>
        </p:txBody>
      </p:sp>
      <p:sp>
        <p:nvSpPr>
          <p:cNvPr id="24" name="Shape 21"/>
          <p:cNvSpPr/>
          <p:nvPr/>
        </p:nvSpPr>
        <p:spPr>
          <a:xfrm>
            <a:off x="457200" y="4206240"/>
            <a:ext cx="2551176" cy="932688"/>
          </a:xfrm>
          <a:prstGeom prst="roundRect">
            <a:avLst>
              <a:gd name="adj" fmla="val 13725"/>
            </a:avLst>
          </a:prstGeom>
          <a:solidFill>
            <a:srgbClr val="111E31"/>
          </a:solidFill>
          <a:ln w="13970">
            <a:solidFill>
              <a:srgbClr val="2A3A51"/>
            </a:solidFill>
            <a:prstDash val="solid"/>
          </a:ln>
        </p:spPr>
      </p:sp>
      <p:sp>
        <p:nvSpPr>
          <p:cNvPr id="25" name="Text 22"/>
          <p:cNvSpPr/>
          <p:nvPr/>
        </p:nvSpPr>
        <p:spPr>
          <a:xfrm>
            <a:off x="603504" y="4352544"/>
            <a:ext cx="2258568" cy="649224"/>
          </a:xfrm>
          <a:prstGeom prst="rect">
            <a:avLst/>
          </a:prstGeom>
          <a:noFill/>
          <a:ln/>
        </p:spPr>
        <p:txBody>
          <a:bodyPr wrap="square" lIns="0" tIns="0" rIns="0" bIns="0" rtlCol="0" anchor="t"/>
          <a:lstStyle/>
          <a:p>
            <a:pPr indent="0" marL="0">
              <a:lnSpc>
                <a:spcPct val="100000"/>
              </a:lnSpc>
              <a:buNone/>
            </a:pPr>
            <a:r>
              <a:rPr lang="en-US" sz="1540" b="1" dirty="0">
                <a:solidFill>
                  <a:srgbClr val="F3F7FD"/>
                </a:solidFill>
                <a:latin typeface="Segoe UI" pitchFamily="34" charset="0"/>
                <a:ea typeface="Segoe UI" pitchFamily="34" charset="-122"/>
                <a:cs typeface="Segoe UI" pitchFamily="34" charset="-120"/>
              </a:rPr>
              <a:t>Search decisions</a:t>
            </a:r>
            <a:endParaRPr lang="en-US" sz="1540" dirty="0"/>
          </a:p>
        </p:txBody>
      </p:sp>
      <p:sp>
        <p:nvSpPr>
          <p:cNvPr id="26" name="Shape 23"/>
          <p:cNvSpPr/>
          <p:nvPr/>
        </p:nvSpPr>
        <p:spPr>
          <a:xfrm>
            <a:off x="3008376" y="4206240"/>
            <a:ext cx="3867912" cy="932688"/>
          </a:xfrm>
          <a:prstGeom prst="roundRect">
            <a:avLst>
              <a:gd name="adj" fmla="val 13725"/>
            </a:avLst>
          </a:prstGeom>
          <a:solidFill>
            <a:srgbClr val="111E31"/>
          </a:solidFill>
          <a:ln w="13970">
            <a:solidFill>
              <a:srgbClr val="2A3A51"/>
            </a:solidFill>
            <a:prstDash val="solid"/>
          </a:ln>
        </p:spPr>
      </p:sp>
      <p:sp>
        <p:nvSpPr>
          <p:cNvPr id="27" name="Text 24"/>
          <p:cNvSpPr/>
          <p:nvPr/>
        </p:nvSpPr>
        <p:spPr>
          <a:xfrm>
            <a:off x="3154680" y="4352544"/>
            <a:ext cx="3575304" cy="649224"/>
          </a:xfrm>
          <a:prstGeom prst="rect">
            <a:avLst/>
          </a:prstGeom>
          <a:noFill/>
          <a:ln/>
        </p:spPr>
        <p:txBody>
          <a:bodyPr wrap="square" lIns="0" tIns="0" rIns="0" bIns="0" rtlCol="0" anchor="t"/>
          <a:lstStyle/>
          <a:p>
            <a:pPr indent="0" marL="0">
              <a:lnSpc>
                <a:spcPct val="100000"/>
              </a:lnSpc>
              <a:buNone/>
            </a:pPr>
            <a:r>
              <a:rPr lang="en-US" sz="1540" dirty="0">
                <a:solidFill>
                  <a:srgbClr val="A7B6CC"/>
                </a:solidFill>
                <a:latin typeface="Segoe UI" pitchFamily="34" charset="0"/>
                <a:ea typeface="Segoe UI" pitchFamily="34" charset="-122"/>
                <a:cs typeface="Segoe UI" pitchFamily="34" charset="-120"/>
              </a:rPr>
              <a:t>Optimized search agrees with the exhaustive reference.</a:t>
            </a:r>
            <a:endParaRPr lang="en-US" sz="1540" dirty="0"/>
          </a:p>
        </p:txBody>
      </p:sp>
      <p:sp>
        <p:nvSpPr>
          <p:cNvPr id="28" name="Shape 25"/>
          <p:cNvSpPr/>
          <p:nvPr/>
        </p:nvSpPr>
        <p:spPr>
          <a:xfrm>
            <a:off x="6876288" y="4206240"/>
            <a:ext cx="4855464" cy="932688"/>
          </a:xfrm>
          <a:prstGeom prst="roundRect">
            <a:avLst>
              <a:gd name="adj" fmla="val 13725"/>
            </a:avLst>
          </a:prstGeom>
          <a:solidFill>
            <a:srgbClr val="111E31"/>
          </a:solidFill>
          <a:ln w="13970">
            <a:solidFill>
              <a:srgbClr val="2A3A51"/>
            </a:solidFill>
            <a:prstDash val="solid"/>
          </a:ln>
        </p:spPr>
      </p:sp>
      <p:sp>
        <p:nvSpPr>
          <p:cNvPr id="29" name="Text 26"/>
          <p:cNvSpPr/>
          <p:nvPr/>
        </p:nvSpPr>
        <p:spPr>
          <a:xfrm>
            <a:off x="7022592" y="4352544"/>
            <a:ext cx="4562856" cy="649224"/>
          </a:xfrm>
          <a:prstGeom prst="rect">
            <a:avLst/>
          </a:prstGeom>
          <a:noFill/>
          <a:ln/>
        </p:spPr>
        <p:txBody>
          <a:bodyPr wrap="square" lIns="0" tIns="0" rIns="0" bIns="0" rtlCol="0" anchor="t"/>
          <a:lstStyle/>
          <a:p>
            <a:pPr indent="0" marL="0">
              <a:lnSpc>
                <a:spcPct val="100000"/>
              </a:lnSpc>
              <a:buNone/>
            </a:pPr>
            <a:r>
              <a:rPr lang="en-US" sz="1420" dirty="0">
                <a:solidFill>
                  <a:srgbClr val="A7B6CC"/>
                </a:solidFill>
                <a:latin typeface="Consolas" pitchFamily="34" charset="0"/>
                <a:ea typeface="Consolas" pitchFamily="34" charset="-122"/>
                <a:cs typeface="Consolas" pitchFamily="34" charset="-120"/>
              </a:rPr>
              <a:t>Engine</a:t>
            </a:r>
            <a:endParaRPr lang="en-US" sz="1420" dirty="0"/>
          </a:p>
          <a:p>
            <a:pPr indent="0" marL="0">
              <a:lnSpc>
                <a:spcPct val="100000"/>
              </a:lnSpc>
              <a:buNone/>
            </a:pPr>
            <a:r>
              <a:rPr lang="en-US" sz="1420" dirty="0">
                <a:solidFill>
                  <a:srgbClr val="A7B6CC"/>
                </a:solidFill>
                <a:latin typeface="Consolas" pitchFamily="34" charset="0"/>
                <a:ea typeface="Consolas" pitchFamily="34" charset="-122"/>
                <a:cs typeface="Consolas" pitchFamily="34" charset="-120"/>
              </a:rPr>
              <a:t>ChessTests.referenceSearch</a:t>
            </a:r>
            <a:endParaRPr lang="en-US" sz="1420" dirty="0"/>
          </a:p>
        </p:txBody>
      </p:sp>
      <p:sp>
        <p:nvSpPr>
          <p:cNvPr id="30" name="Shape 27"/>
          <p:cNvSpPr/>
          <p:nvPr/>
        </p:nvSpPr>
        <p:spPr>
          <a:xfrm>
            <a:off x="457200" y="5138928"/>
            <a:ext cx="2551176" cy="932688"/>
          </a:xfrm>
          <a:prstGeom prst="roundRect">
            <a:avLst>
              <a:gd name="adj" fmla="val 13725"/>
            </a:avLst>
          </a:prstGeom>
          <a:solidFill>
            <a:srgbClr val="16283B"/>
          </a:solidFill>
          <a:ln w="13970">
            <a:solidFill>
              <a:srgbClr val="2A3A51"/>
            </a:solidFill>
            <a:prstDash val="solid"/>
          </a:ln>
        </p:spPr>
      </p:sp>
      <p:sp>
        <p:nvSpPr>
          <p:cNvPr id="31" name="Text 28"/>
          <p:cNvSpPr/>
          <p:nvPr/>
        </p:nvSpPr>
        <p:spPr>
          <a:xfrm>
            <a:off x="603504" y="5285232"/>
            <a:ext cx="2258568" cy="649224"/>
          </a:xfrm>
          <a:prstGeom prst="rect">
            <a:avLst/>
          </a:prstGeom>
          <a:noFill/>
          <a:ln/>
        </p:spPr>
        <p:txBody>
          <a:bodyPr wrap="square" lIns="0" tIns="0" rIns="0" bIns="0" rtlCol="0" anchor="t"/>
          <a:lstStyle/>
          <a:p>
            <a:pPr indent="0" marL="0">
              <a:lnSpc>
                <a:spcPct val="100000"/>
              </a:lnSpc>
              <a:buNone/>
            </a:pPr>
            <a:r>
              <a:rPr lang="en-US" sz="1540" b="1" dirty="0">
                <a:solidFill>
                  <a:srgbClr val="F3F7FD"/>
                </a:solidFill>
                <a:latin typeface="Segoe UI" pitchFamily="34" charset="0"/>
                <a:ea typeface="Segoe UI" pitchFamily="34" charset="-122"/>
                <a:cs typeface="Segoe UI" pitchFamily="34" charset="-120"/>
              </a:rPr>
              <a:t>UI + cancellation</a:t>
            </a:r>
            <a:endParaRPr lang="en-US" sz="1540" dirty="0"/>
          </a:p>
        </p:txBody>
      </p:sp>
      <p:sp>
        <p:nvSpPr>
          <p:cNvPr id="32" name="Shape 29"/>
          <p:cNvSpPr/>
          <p:nvPr/>
        </p:nvSpPr>
        <p:spPr>
          <a:xfrm>
            <a:off x="3008376" y="5138928"/>
            <a:ext cx="3867912" cy="932688"/>
          </a:xfrm>
          <a:prstGeom prst="roundRect">
            <a:avLst>
              <a:gd name="adj" fmla="val 13725"/>
            </a:avLst>
          </a:prstGeom>
          <a:solidFill>
            <a:srgbClr val="16283B"/>
          </a:solidFill>
          <a:ln w="13970">
            <a:solidFill>
              <a:srgbClr val="2A3A51"/>
            </a:solidFill>
            <a:prstDash val="solid"/>
          </a:ln>
        </p:spPr>
      </p:sp>
      <p:sp>
        <p:nvSpPr>
          <p:cNvPr id="33" name="Text 30"/>
          <p:cNvSpPr/>
          <p:nvPr/>
        </p:nvSpPr>
        <p:spPr>
          <a:xfrm>
            <a:off x="3154680" y="5285232"/>
            <a:ext cx="3575304" cy="649224"/>
          </a:xfrm>
          <a:prstGeom prst="rect">
            <a:avLst/>
          </a:prstGeom>
          <a:noFill/>
          <a:ln/>
        </p:spPr>
        <p:txBody>
          <a:bodyPr wrap="square" lIns="0" tIns="0" rIns="0" bIns="0" rtlCol="0" anchor="t"/>
          <a:lstStyle/>
          <a:p>
            <a:pPr indent="0" marL="0">
              <a:lnSpc>
                <a:spcPct val="100000"/>
              </a:lnSpc>
              <a:buNone/>
            </a:pPr>
            <a:r>
              <a:rPr lang="en-US" sz="1540" dirty="0">
                <a:solidFill>
                  <a:srgbClr val="A7B6CC"/>
                </a:solidFill>
                <a:latin typeface="Segoe UI" pitchFamily="34" charset="0"/>
                <a:ea typeface="Segoe UI" pitchFamily="34" charset="-122"/>
                <a:cs typeface="Segoe UI" pitchFamily="34" charset="-120"/>
              </a:rPr>
              <a:t>Responsive UI; no stale results.</a:t>
            </a:r>
            <a:endParaRPr lang="en-US" sz="1540" dirty="0"/>
          </a:p>
        </p:txBody>
      </p:sp>
      <p:sp>
        <p:nvSpPr>
          <p:cNvPr id="34" name="Shape 31"/>
          <p:cNvSpPr/>
          <p:nvPr/>
        </p:nvSpPr>
        <p:spPr>
          <a:xfrm>
            <a:off x="6876288" y="5138928"/>
            <a:ext cx="4855464" cy="932688"/>
          </a:xfrm>
          <a:prstGeom prst="roundRect">
            <a:avLst>
              <a:gd name="adj" fmla="val 13725"/>
            </a:avLst>
          </a:prstGeom>
          <a:solidFill>
            <a:srgbClr val="16283B"/>
          </a:solidFill>
          <a:ln w="13970">
            <a:solidFill>
              <a:srgbClr val="2A3A51"/>
            </a:solidFill>
            <a:prstDash val="solid"/>
          </a:ln>
        </p:spPr>
      </p:sp>
      <p:sp>
        <p:nvSpPr>
          <p:cNvPr id="35" name="Text 32"/>
          <p:cNvSpPr/>
          <p:nvPr/>
        </p:nvSpPr>
        <p:spPr>
          <a:xfrm>
            <a:off x="7022592" y="5285232"/>
            <a:ext cx="4562856" cy="649224"/>
          </a:xfrm>
          <a:prstGeom prst="rect">
            <a:avLst/>
          </a:prstGeom>
          <a:noFill/>
          <a:ln/>
        </p:spPr>
        <p:txBody>
          <a:bodyPr wrap="square" lIns="0" tIns="0" rIns="0" bIns="0" rtlCol="0" anchor="t"/>
          <a:lstStyle/>
          <a:p>
            <a:pPr indent="0" marL="0">
              <a:lnSpc>
                <a:spcPct val="100000"/>
              </a:lnSpc>
              <a:buNone/>
            </a:pPr>
            <a:r>
              <a:rPr lang="en-US" sz="1420" dirty="0">
                <a:solidFill>
                  <a:srgbClr val="A7B6CC"/>
                </a:solidFill>
                <a:latin typeface="Consolas" pitchFamily="34" charset="0"/>
                <a:ea typeface="Consolas" pitchFamily="34" charset="-122"/>
                <a:cs typeface="Consolas" pitchFamily="34" charset="-120"/>
              </a:rPr>
              <a:t>ChessFrame</a:t>
            </a:r>
            <a:endParaRPr lang="en-US" sz="1420" dirty="0"/>
          </a:p>
          <a:p>
            <a:pPr indent="0" marL="0">
              <a:lnSpc>
                <a:spcPct val="100000"/>
              </a:lnSpc>
              <a:buNone/>
            </a:pPr>
            <a:r>
              <a:rPr lang="en-US" sz="1420" dirty="0">
                <a:solidFill>
                  <a:srgbClr val="A7B6CC"/>
                </a:solidFill>
                <a:latin typeface="Consolas" pitchFamily="34" charset="0"/>
                <a:ea typeface="Consolas" pitchFamily="34" charset="-122"/>
                <a:cs typeface="Consolas" pitchFamily="34" charset="-120"/>
              </a:rPr>
              <a:t>UiSmokeTest</a:t>
            </a:r>
            <a:endParaRPr lang="en-US" sz="1420" dirty="0"/>
          </a:p>
        </p:txBody>
      </p:sp>
      <p:sp>
        <p:nvSpPr>
          <p:cNvPr id="36" name="Shape 33"/>
          <p:cNvSpPr/>
          <p:nvPr/>
        </p:nvSpPr>
        <p:spPr>
          <a:xfrm>
            <a:off x="420624" y="6455664"/>
            <a:ext cx="11356848" cy="914"/>
          </a:xfrm>
          <a:prstGeom prst="line">
            <a:avLst/>
          </a:prstGeom>
          <a:noFill/>
          <a:ln w="20320">
            <a:solidFill>
              <a:srgbClr val="2A3A51"/>
            </a:solidFill>
            <a:prstDash val="solid"/>
          </a:ln>
        </p:spPr>
      </p:sp>
      <p:sp>
        <p:nvSpPr>
          <p:cNvPr id="37" name="Text 34"/>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38" name="Text 35"/>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39" name="Text 36"/>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13 / 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420624" y="173736"/>
            <a:ext cx="10881360" cy="201168"/>
          </a:xfrm>
          <a:prstGeom prst="rect">
            <a:avLst/>
          </a:prstGeom>
          <a:noFill/>
          <a:ln/>
        </p:spPr>
        <p:txBody>
          <a:bodyPr wrap="square" lIns="0" tIns="0" rIns="0" bIns="0" rtlCol="0" anchor="t"/>
          <a:lstStyle/>
          <a:p>
            <a:pPr indent="0" marL="0">
              <a:lnSpc>
                <a:spcPct val="100000"/>
              </a:lnSpc>
              <a:buNone/>
            </a:pPr>
            <a:r>
              <a:rPr lang="en-US" sz="1020" b="1" spc="160" kern="0" dirty="0">
                <a:solidFill>
                  <a:srgbClr val="69E3B5"/>
                </a:solidFill>
                <a:latin typeface="Segoe UI" pitchFamily="34" charset="0"/>
                <a:ea typeface="Segoe UI" pitchFamily="34" charset="-122"/>
                <a:cs typeface="Segoe UI" pitchFamily="34" charset="-120"/>
              </a:rPr>
              <a:t>LUKEFISH / CLASS ARCHITECTURE</a:t>
            </a:r>
            <a:endParaRPr lang="en-US" sz="1020" dirty="0"/>
          </a:p>
        </p:txBody>
      </p:sp>
      <p:sp>
        <p:nvSpPr>
          <p:cNvPr id="3" name="Text 1"/>
          <p:cNvSpPr/>
          <p:nvPr/>
        </p:nvSpPr>
        <p:spPr>
          <a:xfrm>
            <a:off x="411480" y="521208"/>
            <a:ext cx="11338560" cy="475488"/>
          </a:xfrm>
          <a:prstGeom prst="rect">
            <a:avLst/>
          </a:prstGeom>
          <a:noFill/>
          <a:ln/>
        </p:spPr>
        <p:txBody>
          <a:bodyPr wrap="square" lIns="0" tIns="0" rIns="0" bIns="0" rtlCol="0" anchor="t"/>
          <a:lstStyle/>
          <a:p>
            <a:pPr indent="0" marL="0">
              <a:lnSpc>
                <a:spcPct val="100000"/>
              </a:lnSpc>
              <a:buNone/>
            </a:pPr>
            <a:r>
              <a:rPr lang="en-US" sz="2900" b="1" dirty="0">
                <a:solidFill>
                  <a:srgbClr val="F3F7FD"/>
                </a:solidFill>
                <a:latin typeface="Segoe UI" pitchFamily="34" charset="0"/>
                <a:ea typeface="Segoe UI" pitchFamily="34" charset="-122"/>
                <a:cs typeface="Segoe UI" pitchFamily="34" charset="-120"/>
              </a:rPr>
              <a:t>Read one boundary at a time</a:t>
            </a:r>
            <a:endParaRPr lang="en-US" sz="2900" dirty="0"/>
          </a:p>
        </p:txBody>
      </p:sp>
      <p:sp>
        <p:nvSpPr>
          <p:cNvPr id="4" name="Text 2"/>
          <p:cNvSpPr/>
          <p:nvPr/>
        </p:nvSpPr>
        <p:spPr>
          <a:xfrm>
            <a:off x="429768" y="1088136"/>
            <a:ext cx="11292840" cy="329184"/>
          </a:xfrm>
          <a:prstGeom prst="rect">
            <a:avLst/>
          </a:prstGeom>
          <a:noFill/>
          <a:ln/>
        </p:spPr>
        <p:txBody>
          <a:bodyPr wrap="square" lIns="0" tIns="0" rIns="0" bIns="0" rtlCol="0" anchor="t"/>
          <a:lstStyle/>
          <a:p>
            <a:pPr indent="0" marL="0">
              <a:lnSpc>
                <a:spcPct val="100000"/>
              </a:lnSpc>
              <a:buNone/>
            </a:pPr>
            <a:r>
              <a:rPr lang="en-US" sz="1410" dirty="0">
                <a:solidFill>
                  <a:srgbClr val="A7B6CC"/>
                </a:solidFill>
                <a:latin typeface="Segoe UI" pitchFamily="34" charset="0"/>
                <a:ea typeface="Segoe UI" pitchFamily="34" charset="-122"/>
                <a:cs typeface="Segoe UI" pitchFamily="34" charset="-120"/>
              </a:rPr>
              <a:t>Every production type has a place in the map. Follow a small behavior before following every algorithm.</a:t>
            </a:r>
            <a:endParaRPr lang="en-US" sz="1410" dirty="0"/>
          </a:p>
        </p:txBody>
      </p:sp>
      <p:sp>
        <p:nvSpPr>
          <p:cNvPr id="6" name="Shape 3"/>
          <p:cNvSpPr/>
          <p:nvPr/>
        </p:nvSpPr>
        <p:spPr>
          <a:xfrm>
            <a:off x="457200" y="1874520"/>
            <a:ext cx="3593592" cy="3456432"/>
          </a:xfrm>
          <a:prstGeom prst="roundRect">
            <a:avLst>
              <a:gd name="adj" fmla="val 3704"/>
            </a:avLst>
          </a:prstGeom>
          <a:solidFill>
            <a:srgbClr val="111E31"/>
          </a:solidFill>
          <a:ln w="13970">
            <a:solidFill>
              <a:srgbClr val="F6CD86"/>
            </a:solidFill>
            <a:prstDash val="solid"/>
          </a:ln>
        </p:spPr>
      </p:sp>
      <p:sp>
        <p:nvSpPr>
          <p:cNvPr id="7" name="Text 4"/>
          <p:cNvSpPr/>
          <p:nvPr/>
        </p:nvSpPr>
        <p:spPr>
          <a:xfrm>
            <a:off x="621792" y="2093976"/>
            <a:ext cx="3264408" cy="640080"/>
          </a:xfrm>
          <a:prstGeom prst="rect">
            <a:avLst/>
          </a:prstGeom>
          <a:noFill/>
          <a:ln/>
        </p:spPr>
        <p:txBody>
          <a:bodyPr wrap="square" lIns="0" tIns="0" rIns="0" bIns="0" rtlCol="0" anchor="t"/>
          <a:lstStyle/>
          <a:p>
            <a:pPr indent="0" marL="0">
              <a:lnSpc>
                <a:spcPct val="100000"/>
              </a:lnSpc>
              <a:buNone/>
            </a:pPr>
            <a:r>
              <a:rPr lang="en-US" sz="1900" b="1" dirty="0">
                <a:solidFill>
                  <a:srgbClr val="F6CD86"/>
                </a:solidFill>
                <a:latin typeface="Segoe UI" pitchFamily="34" charset="0"/>
                <a:ea typeface="Segoe UI" pitchFamily="34" charset="-122"/>
                <a:cs typeface="Segoe UI" pitchFamily="34" charset="-120"/>
              </a:rPr>
              <a:t>01  Start with interaction</a:t>
            </a:r>
            <a:endParaRPr lang="en-US" sz="1900" dirty="0"/>
          </a:p>
        </p:txBody>
      </p:sp>
      <p:sp>
        <p:nvSpPr>
          <p:cNvPr id="8" name="Text 5"/>
          <p:cNvSpPr/>
          <p:nvPr/>
        </p:nvSpPr>
        <p:spPr>
          <a:xfrm>
            <a:off x="621792" y="3008376"/>
            <a:ext cx="3264408" cy="1847088"/>
          </a:xfrm>
          <a:prstGeom prst="rect">
            <a:avLst/>
          </a:prstGeom>
          <a:noFill/>
          <a:ln/>
        </p:spPr>
        <p:txBody>
          <a:bodyPr wrap="square" lIns="0" tIns="0" rIns="0" bIns="0" rtlCol="0" anchor="t"/>
          <a:lstStyle/>
          <a:p>
            <a:pPr indent="0" marL="0">
              <a:lnSpc>
                <a:spcPct val="155000"/>
              </a:lnSpc>
              <a:buNone/>
            </a:pPr>
            <a:r>
              <a:rPr lang="en-US" sz="1710" dirty="0">
                <a:solidFill>
                  <a:srgbClr val="A7B6CC"/>
                </a:solidFill>
                <a:latin typeface="Consolas" pitchFamily="34" charset="0"/>
                <a:ea typeface="Consolas" pitchFamily="34" charset="-122"/>
                <a:cs typeface="Consolas" pitchFamily="34" charset="-120"/>
              </a:rPr>
              <a:t>Main</a:t>
            </a:r>
            <a:endParaRPr lang="en-US" sz="1710" dirty="0"/>
          </a:p>
          <a:p>
            <a:pPr indent="0" marL="0">
              <a:lnSpc>
                <a:spcPct val="155000"/>
              </a:lnSpc>
              <a:buNone/>
            </a:pPr>
            <a:r>
              <a:rPr lang="en-US" sz="1710" dirty="0">
                <a:solidFill>
                  <a:srgbClr val="A7B6CC"/>
                </a:solidFill>
                <a:latin typeface="Consolas" pitchFamily="34" charset="0"/>
                <a:ea typeface="Consolas" pitchFamily="34" charset="-122"/>
                <a:cs typeface="Consolas" pitchFamily="34" charset="-120"/>
              </a:rPr>
              <a:t>ChessFrame</a:t>
            </a:r>
            <a:endParaRPr lang="en-US" sz="1710" dirty="0"/>
          </a:p>
          <a:p>
            <a:pPr indent="0" marL="0">
              <a:lnSpc>
                <a:spcPct val="155000"/>
              </a:lnSpc>
              <a:buNone/>
            </a:pPr>
            <a:r>
              <a:rPr lang="en-US" sz="1710" dirty="0">
                <a:solidFill>
                  <a:srgbClr val="A7B6CC"/>
                </a:solidFill>
                <a:latin typeface="Consolas" pitchFamily="34" charset="0"/>
                <a:ea typeface="Consolas" pitchFamily="34" charset="-122"/>
                <a:cs typeface="Consolas" pitchFamily="34" charset="-120"/>
              </a:rPr>
              <a:t>BoardPanel</a:t>
            </a:r>
            <a:endParaRPr lang="en-US" sz="1710" dirty="0"/>
          </a:p>
          <a:p>
            <a:pPr indent="0" marL="0">
              <a:lnSpc>
                <a:spcPct val="155000"/>
              </a:lnSpc>
              <a:buNone/>
            </a:pPr>
            <a:r>
              <a:rPr lang="en-US" sz="1710" dirty="0">
                <a:solidFill>
                  <a:srgbClr val="A7B6CC"/>
                </a:solidFill>
                <a:latin typeface="Consolas" pitchFamily="34" charset="0"/>
                <a:ea typeface="Consolas" pitchFamily="34" charset="-122"/>
                <a:cs typeface="Consolas" pitchFamily="34" charset="-120"/>
              </a:rPr>
              <a:t>SettingsPanel</a:t>
            </a:r>
            <a:endParaRPr lang="en-US" sz="1710" dirty="0"/>
          </a:p>
        </p:txBody>
      </p:sp>
      <p:sp>
        <p:nvSpPr>
          <p:cNvPr id="9" name="Shape 6"/>
          <p:cNvSpPr/>
          <p:nvPr/>
        </p:nvSpPr>
        <p:spPr>
          <a:xfrm>
            <a:off x="4297680" y="1874520"/>
            <a:ext cx="3593592" cy="3456432"/>
          </a:xfrm>
          <a:prstGeom prst="roundRect">
            <a:avLst>
              <a:gd name="adj" fmla="val 3704"/>
            </a:avLst>
          </a:prstGeom>
          <a:solidFill>
            <a:srgbClr val="111E31"/>
          </a:solidFill>
          <a:ln w="13970">
            <a:solidFill>
              <a:srgbClr val="69E3B5"/>
            </a:solidFill>
            <a:prstDash val="solid"/>
          </a:ln>
        </p:spPr>
      </p:sp>
      <p:sp>
        <p:nvSpPr>
          <p:cNvPr id="10" name="Text 7"/>
          <p:cNvSpPr/>
          <p:nvPr/>
        </p:nvSpPr>
        <p:spPr>
          <a:xfrm>
            <a:off x="4462272" y="2093976"/>
            <a:ext cx="3264408" cy="640080"/>
          </a:xfrm>
          <a:prstGeom prst="rect">
            <a:avLst/>
          </a:prstGeom>
          <a:noFill/>
          <a:ln/>
        </p:spPr>
        <p:txBody>
          <a:bodyPr wrap="square" lIns="0" tIns="0" rIns="0" bIns="0" rtlCol="0" anchor="t"/>
          <a:lstStyle/>
          <a:p>
            <a:pPr indent="0" marL="0">
              <a:lnSpc>
                <a:spcPct val="100000"/>
              </a:lnSpc>
              <a:buNone/>
            </a:pPr>
            <a:r>
              <a:rPr lang="en-US" sz="1900" b="1" dirty="0">
                <a:solidFill>
                  <a:srgbClr val="69E3B5"/>
                </a:solidFill>
                <a:latin typeface="Segoe UI" pitchFamily="34" charset="0"/>
                <a:ea typeface="Segoe UI" pitchFamily="34" charset="-122"/>
                <a:cs typeface="Segoe UI" pitchFamily="34" charset="-120"/>
              </a:rPr>
              <a:t>02  Follow the state</a:t>
            </a:r>
            <a:endParaRPr lang="en-US" sz="1900" dirty="0"/>
          </a:p>
        </p:txBody>
      </p:sp>
      <p:sp>
        <p:nvSpPr>
          <p:cNvPr id="11" name="Text 8"/>
          <p:cNvSpPr/>
          <p:nvPr/>
        </p:nvSpPr>
        <p:spPr>
          <a:xfrm>
            <a:off x="4462272" y="3008376"/>
            <a:ext cx="3264408" cy="1847088"/>
          </a:xfrm>
          <a:prstGeom prst="rect">
            <a:avLst/>
          </a:prstGeom>
          <a:noFill/>
          <a:ln/>
        </p:spPr>
        <p:txBody>
          <a:bodyPr wrap="square" lIns="0" tIns="0" rIns="0" bIns="0" rtlCol="0" anchor="t"/>
          <a:lstStyle/>
          <a:p>
            <a:pPr indent="0" marL="0">
              <a:lnSpc>
                <a:spcPct val="155000"/>
              </a:lnSpc>
              <a:buNone/>
            </a:pPr>
            <a:r>
              <a:rPr lang="en-US" sz="1710" dirty="0">
                <a:solidFill>
                  <a:srgbClr val="A7B6CC"/>
                </a:solidFill>
                <a:latin typeface="Consolas" pitchFamily="34" charset="0"/>
                <a:ea typeface="Consolas" pitchFamily="34" charset="-122"/>
                <a:cs typeface="Consolas" pitchFamily="34" charset="-120"/>
              </a:rPr>
              <a:t>Piece / Square</a:t>
            </a:r>
            <a:endParaRPr lang="en-US" sz="1710" dirty="0"/>
          </a:p>
          <a:p>
            <a:pPr indent="0" marL="0">
              <a:lnSpc>
                <a:spcPct val="155000"/>
              </a:lnSpc>
              <a:buNone/>
            </a:pPr>
            <a:r>
              <a:rPr lang="en-US" sz="1710" dirty="0">
                <a:solidFill>
                  <a:srgbClr val="A7B6CC"/>
                </a:solidFill>
                <a:latin typeface="Consolas" pitchFamily="34" charset="0"/>
                <a:ea typeface="Consolas" pitchFamily="34" charset="-122"/>
                <a:cs typeface="Consolas" pitchFamily="34" charset="-120"/>
              </a:rPr>
              <a:t>Move</a:t>
            </a:r>
            <a:endParaRPr lang="en-US" sz="1710" dirty="0"/>
          </a:p>
          <a:p>
            <a:pPr indent="0" marL="0">
              <a:lnSpc>
                <a:spcPct val="155000"/>
              </a:lnSpc>
              <a:buNone/>
            </a:pPr>
            <a:r>
              <a:rPr lang="en-US" sz="1710" dirty="0">
                <a:solidFill>
                  <a:srgbClr val="A7B6CC"/>
                </a:solidFill>
                <a:latin typeface="Consolas" pitchFamily="34" charset="0"/>
                <a:ea typeface="Consolas" pitchFamily="34" charset="-122"/>
                <a:cs typeface="Consolas" pitchFamily="34" charset="-120"/>
              </a:rPr>
              <a:t>Position</a:t>
            </a:r>
            <a:endParaRPr lang="en-US" sz="1710" dirty="0"/>
          </a:p>
          <a:p>
            <a:pPr indent="0" marL="0">
              <a:lnSpc>
                <a:spcPct val="155000"/>
              </a:lnSpc>
              <a:buNone/>
            </a:pPr>
            <a:r>
              <a:rPr lang="en-US" sz="1710" dirty="0">
                <a:solidFill>
                  <a:srgbClr val="A7B6CC"/>
                </a:solidFill>
                <a:latin typeface="Consolas" pitchFamily="34" charset="0"/>
                <a:ea typeface="Consolas" pitchFamily="34" charset="-122"/>
                <a:cs typeface="Consolas" pitchFamily="34" charset="-120"/>
              </a:rPr>
              <a:t>Game</a:t>
            </a:r>
            <a:endParaRPr lang="en-US" sz="1710" dirty="0"/>
          </a:p>
        </p:txBody>
      </p:sp>
      <p:sp>
        <p:nvSpPr>
          <p:cNvPr id="12" name="Shape 9"/>
          <p:cNvSpPr/>
          <p:nvPr/>
        </p:nvSpPr>
        <p:spPr>
          <a:xfrm>
            <a:off x="8138160" y="1874520"/>
            <a:ext cx="3593592" cy="3456432"/>
          </a:xfrm>
          <a:prstGeom prst="roundRect">
            <a:avLst>
              <a:gd name="adj" fmla="val 3704"/>
            </a:avLst>
          </a:prstGeom>
          <a:solidFill>
            <a:srgbClr val="111E31"/>
          </a:solidFill>
          <a:ln w="13970">
            <a:solidFill>
              <a:srgbClr val="79CAFF"/>
            </a:solidFill>
            <a:prstDash val="solid"/>
          </a:ln>
        </p:spPr>
      </p:sp>
      <p:sp>
        <p:nvSpPr>
          <p:cNvPr id="13" name="Text 10"/>
          <p:cNvSpPr/>
          <p:nvPr/>
        </p:nvSpPr>
        <p:spPr>
          <a:xfrm>
            <a:off x="8302752" y="2093976"/>
            <a:ext cx="3264408" cy="640080"/>
          </a:xfrm>
          <a:prstGeom prst="rect">
            <a:avLst/>
          </a:prstGeom>
          <a:noFill/>
          <a:ln/>
        </p:spPr>
        <p:txBody>
          <a:bodyPr wrap="square" lIns="0" tIns="0" rIns="0" bIns="0" rtlCol="0" anchor="t"/>
          <a:lstStyle/>
          <a:p>
            <a:pPr indent="0" marL="0">
              <a:lnSpc>
                <a:spcPct val="100000"/>
              </a:lnSpc>
              <a:buNone/>
            </a:pPr>
            <a:r>
              <a:rPr lang="en-US" sz="1900" b="1" dirty="0">
                <a:solidFill>
                  <a:srgbClr val="79CAFF"/>
                </a:solidFill>
                <a:latin typeface="Segoe UI" pitchFamily="34" charset="0"/>
                <a:ea typeface="Segoe UI" pitchFamily="34" charset="-122"/>
                <a:cs typeface="Segoe UI" pitchFamily="34" charset="-120"/>
              </a:rPr>
              <a:t>03  Follow the decision</a:t>
            </a:r>
            <a:endParaRPr lang="en-US" sz="1900" dirty="0"/>
          </a:p>
        </p:txBody>
      </p:sp>
      <p:sp>
        <p:nvSpPr>
          <p:cNvPr id="14" name="Text 11"/>
          <p:cNvSpPr/>
          <p:nvPr/>
        </p:nvSpPr>
        <p:spPr>
          <a:xfrm>
            <a:off x="8302752" y="3008376"/>
            <a:ext cx="3264408" cy="1847088"/>
          </a:xfrm>
          <a:prstGeom prst="rect">
            <a:avLst/>
          </a:prstGeom>
          <a:noFill/>
          <a:ln/>
        </p:spPr>
        <p:txBody>
          <a:bodyPr wrap="square" lIns="0" tIns="0" rIns="0" bIns="0" rtlCol="0" anchor="t"/>
          <a:lstStyle/>
          <a:p>
            <a:pPr indent="0" marL="0">
              <a:lnSpc>
                <a:spcPct val="155000"/>
              </a:lnSpc>
              <a:buNone/>
            </a:pPr>
            <a:r>
              <a:rPr lang="en-US" sz="1710" dirty="0">
                <a:solidFill>
                  <a:srgbClr val="A7B6CC"/>
                </a:solidFill>
                <a:latin typeface="Consolas" pitchFamily="34" charset="0"/>
                <a:ea typeface="Consolas" pitchFamily="34" charset="-122"/>
                <a:cs typeface="Consolas" pitchFamily="34" charset="-120"/>
              </a:rPr>
              <a:t>EngineSettings</a:t>
            </a:r>
            <a:endParaRPr lang="en-US" sz="1710" dirty="0"/>
          </a:p>
          <a:p>
            <a:pPr indent="0" marL="0">
              <a:lnSpc>
                <a:spcPct val="155000"/>
              </a:lnSpc>
              <a:buNone/>
            </a:pPr>
            <a:r>
              <a:rPr lang="en-US" sz="1710" dirty="0">
                <a:solidFill>
                  <a:srgbClr val="A7B6CC"/>
                </a:solidFill>
                <a:latin typeface="Consolas" pitchFamily="34" charset="0"/>
                <a:ea typeface="Consolas" pitchFamily="34" charset="-122"/>
                <a:cs typeface="Consolas" pitchFamily="34" charset="-120"/>
              </a:rPr>
              <a:t>Evaluator / Engine</a:t>
            </a:r>
            <a:endParaRPr lang="en-US" sz="1710" dirty="0"/>
          </a:p>
          <a:p>
            <a:pPr indent="0" marL="0">
              <a:lnSpc>
                <a:spcPct val="155000"/>
              </a:lnSpc>
              <a:buNone/>
            </a:pPr>
            <a:r>
              <a:rPr lang="en-US" sz="1710" dirty="0">
                <a:solidFill>
                  <a:srgbClr val="A7B6CC"/>
                </a:solidFill>
                <a:latin typeface="Consolas" pitchFamily="34" charset="0"/>
                <a:ea typeface="Consolas" pitchFamily="34" charset="-122"/>
                <a:cs typeface="Consolas" pitchFamily="34" charset="-120"/>
              </a:rPr>
              <a:t>TranspositionTable</a:t>
            </a:r>
            <a:endParaRPr lang="en-US" sz="1710" dirty="0"/>
          </a:p>
          <a:p>
            <a:pPr indent="0" marL="0">
              <a:lnSpc>
                <a:spcPct val="155000"/>
              </a:lnSpc>
              <a:buNone/>
            </a:pPr>
            <a:r>
              <a:rPr lang="en-US" sz="1710" dirty="0">
                <a:solidFill>
                  <a:srgbClr val="A7B6CC"/>
                </a:solidFill>
                <a:latin typeface="Consolas" pitchFamily="34" charset="0"/>
                <a:ea typeface="Consolas" pitchFamily="34" charset="-122"/>
                <a:cs typeface="Consolas" pitchFamily="34" charset="-120"/>
              </a:rPr>
              <a:t>SearchInfo / SearchResult</a:t>
            </a:r>
            <a:endParaRPr lang="en-US" sz="1710" dirty="0"/>
          </a:p>
        </p:txBody>
      </p:sp>
      <p:sp>
        <p:nvSpPr>
          <p:cNvPr id="15" name="Shape 12"/>
          <p:cNvSpPr/>
          <p:nvPr/>
        </p:nvSpPr>
        <p:spPr>
          <a:xfrm>
            <a:off x="457200" y="5705856"/>
            <a:ext cx="11274552" cy="557784"/>
          </a:xfrm>
          <a:prstGeom prst="roundRect">
            <a:avLst>
              <a:gd name="adj" fmla="val 22951"/>
            </a:avLst>
          </a:prstGeom>
          <a:solidFill>
            <a:srgbClr val="17322F"/>
          </a:solidFill>
          <a:ln w="13970">
            <a:solidFill>
              <a:srgbClr val="315D51"/>
            </a:solidFill>
            <a:prstDash val="solid"/>
          </a:ln>
        </p:spPr>
      </p:sp>
      <p:sp>
        <p:nvSpPr>
          <p:cNvPr id="16" name="Text 13"/>
          <p:cNvSpPr/>
          <p:nvPr/>
        </p:nvSpPr>
        <p:spPr>
          <a:xfrm>
            <a:off x="621792" y="5788152"/>
            <a:ext cx="10945368" cy="420624"/>
          </a:xfrm>
          <a:prstGeom prst="rect">
            <a:avLst/>
          </a:prstGeom>
          <a:noFill/>
          <a:ln/>
        </p:spPr>
        <p:txBody>
          <a:bodyPr wrap="square" lIns="0" tIns="0" rIns="0" bIns="0" rtlCol="0" anchor="t"/>
          <a:lstStyle/>
          <a:p>
            <a:pPr indent="0" marL="0">
              <a:lnSpc>
                <a:spcPct val="100000"/>
              </a:lnSpc>
              <a:buNone/>
            </a:pPr>
            <a:r>
              <a:rPr lang="en-US" sz="1510" dirty="0">
                <a:solidFill>
                  <a:srgbClr val="69E3B5"/>
                </a:solidFill>
                <a:latin typeface="Segoe UI" pitchFamily="34" charset="0"/>
                <a:ea typeface="Segoe UI" pitchFamily="34" charset="-122"/>
                <a:cs typeface="Segoe UI" pitchFamily="34" charset="-120"/>
              </a:rPr>
              <a:t>Keep ownership clear, preserve the invariants, and add a focused check before expanding the design.</a:t>
            </a:r>
            <a:endParaRPr lang="en-US" sz="1510" dirty="0"/>
          </a:p>
        </p:txBody>
      </p:sp>
      <p:sp>
        <p:nvSpPr>
          <p:cNvPr id="17" name="Shape 14"/>
          <p:cNvSpPr/>
          <p:nvPr/>
        </p:nvSpPr>
        <p:spPr>
          <a:xfrm>
            <a:off x="420624" y="6455664"/>
            <a:ext cx="11356848" cy="914"/>
          </a:xfrm>
          <a:prstGeom prst="line">
            <a:avLst/>
          </a:prstGeom>
          <a:noFill/>
          <a:ln w="20320">
            <a:solidFill>
              <a:srgbClr val="2A3A51"/>
            </a:solidFill>
            <a:prstDash val="solid"/>
          </a:ln>
        </p:spPr>
      </p:sp>
      <p:sp>
        <p:nvSpPr>
          <p:cNvPr id="18" name="Text 15"/>
          <p:cNvSpPr/>
          <p:nvPr/>
        </p:nvSpPr>
        <p:spPr>
          <a:xfrm>
            <a:off x="429768" y="6556248"/>
            <a:ext cx="365760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LUKEFISH / JAVA CLASSROOM</a:t>
            </a:r>
            <a:endParaRPr lang="en-US" sz="850" dirty="0"/>
          </a:p>
        </p:txBody>
      </p:sp>
      <p:sp>
        <p:nvSpPr>
          <p:cNvPr id="19" name="Text 16"/>
          <p:cNvSpPr/>
          <p:nvPr/>
        </p:nvSpPr>
        <p:spPr>
          <a:xfrm>
            <a:off x="4069080" y="6556248"/>
            <a:ext cx="6675120" cy="155448"/>
          </a:xfrm>
          <a:prstGeom prst="rect">
            <a:avLst/>
          </a:prstGeom>
          <a:noFill/>
          <a:ln/>
        </p:spPr>
        <p:txBody>
          <a:bodyPr wrap="square" lIns="0" tIns="0" rIns="0" bIns="0" rtlCol="0" anchor="t"/>
          <a:lstStyle/>
          <a:p>
            <a:pPr indent="0" marL="0">
              <a:lnSpc>
                <a:spcPct val="100000"/>
              </a:lnSpc>
              <a:buNone/>
            </a:pPr>
            <a:r>
              <a:rPr lang="en-US" sz="850" dirty="0">
                <a:solidFill>
                  <a:srgbClr val="A7B6CC"/>
                </a:solidFill>
                <a:latin typeface="Segoe UI" pitchFamily="34" charset="0"/>
                <a:ea typeface="Segoe UI" pitchFamily="34" charset="-122"/>
                <a:cs typeface="Segoe UI" pitchFamily="34" charset="-120"/>
              </a:rPr>
              <a:t>Source references and reading guidance are in the speaker notes.</a:t>
            </a:r>
            <a:endParaRPr lang="en-US" sz="850" dirty="0"/>
          </a:p>
        </p:txBody>
      </p:sp>
      <p:sp>
        <p:nvSpPr>
          <p:cNvPr id="20" name="Text 17"/>
          <p:cNvSpPr/>
          <p:nvPr/>
        </p:nvSpPr>
        <p:spPr>
          <a:xfrm>
            <a:off x="11027664" y="6537960"/>
            <a:ext cx="704088" cy="201168"/>
          </a:xfrm>
          <a:prstGeom prst="rect">
            <a:avLst/>
          </a:prstGeom>
          <a:noFill/>
          <a:ln/>
        </p:spPr>
        <p:txBody>
          <a:bodyPr wrap="square" lIns="0" tIns="0" rIns="0" bIns="0" rtlCol="0" anchor="t"/>
          <a:lstStyle/>
          <a:p>
            <a:pPr algn="r" indent="0" marL="0">
              <a:lnSpc>
                <a:spcPct val="100000"/>
              </a:lnSpc>
              <a:buNone/>
            </a:pPr>
            <a:r>
              <a:rPr lang="en-US" sz="1000" dirty="0">
                <a:solidFill>
                  <a:srgbClr val="69E3B5"/>
                </a:solidFill>
                <a:latin typeface="Segoe UI" pitchFamily="34" charset="0"/>
                <a:ea typeface="Segoe UI" pitchFamily="34" charset="-122"/>
                <a:cs typeface="Segoe UI" pitchFamily="34" charset="-120"/>
              </a:rPr>
              <a:t>14 / 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1067967LWSD/LukeFish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LukeFish: Class Architecture</dc:title>
  <dc:subject>Source-grounded class architecture of the LukeFish Java chess engine</dc:subject>
  <dc:creator>LukeFish</dc:creator>
  <cp:lastModifiedBy>LukeFish</cp:lastModifiedBy>
  <cp:revision>1</cp:revision>
  <dcterms:created xsi:type="dcterms:W3CDTF">2026-09-30T05:06:15Z</dcterms:created>
  <dcterms:modified xsi:type="dcterms:W3CDTF">2026-09-30T05:06:15Z</dcterms:modified>
</cp:coreProperties>
</file>